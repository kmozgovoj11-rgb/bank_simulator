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Montserrat" pitchFamily="2" charset="0"/>
      <p:regular r:id="rId22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BEE"/>
    <a:srgbClr val="0055BB"/>
    <a:srgbClr val="CCD1E7"/>
    <a:srgbClr val="E46C2A"/>
    <a:srgbClr val="FF7300"/>
    <a:srgbClr val="0061AF"/>
    <a:srgbClr val="8F9092"/>
    <a:srgbClr val="DDDEDE"/>
    <a:srgbClr val="222A3F"/>
    <a:srgbClr val="00B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8"/>
    <p:restoredTop sz="95373"/>
  </p:normalViewPr>
  <p:slideViewPr>
    <p:cSldViewPr snapToGrid="0" showGuides="1">
      <p:cViewPr>
        <p:scale>
          <a:sx n="118" d="100"/>
          <a:sy n="118" d="100"/>
        </p:scale>
        <p:origin x="840" y="28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0:3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403 1 24575,'-64'0'0,"-1"0"0,-12 0 0,23 0 0,5 0 0,14 0 0,9 0 0,5 0 0,12 0 0,6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0:31.1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0:34.2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213 709 24575,'47'-4'0,"4"-6"0,4-9 0,-4-6 0,-10 2 0,-13 5 0,-13 5 0,-8 4 0,-4 2 0,-8-4 0,-7 1 0,-10-6 0,-8 0 0,-4-2 0,-2 0 0,1 2 0,3 2 0,2 3 0,3 0 0,0 1 0,1 1 0,2 0 0,2 0 0,0 1 0,2 0 0,1 1 0,0 0 0,2-1 0,2 1 0,2-1 0,4 1 0,2 0 0,2-2 0,3 2 0,1-3 0,1 0 0,0 2 0,3-6 0,0 5 0,3-5 0,-1 3 0,0-1 0,2-1 0,-1-1 0,1 1 0,0 2 0,-2 3 0,1 2 0,0-3 0,-3 1 0,-1-2 0,-2 0 0,0 2 0,0-3 0,0 3 0,0-2 0,0 1 0,0 1 0,0-4 0,0 5 0,0-4 0,0 2 0,0 0 0,0-2 0,0 5 0,0-5 0,-20 16 0,15-7 0,-14 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0:35.1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0:40.1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0:42.1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0:48.0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24575,'67'0'0,"16"0"0,-32 0 0,3 0 0,14 1 0,4 0 0,10 2 0,2 0 0,5 2 0,0 1 0,-3 1 0,-1 1 0,-9 0 0,-3 1 0,-9 0 0,-3-1 0,-9 1 0,-2-1 0,31 8 0,-15-4 0,-16-3 0,-9-5 0,-4-1 0,0-2 0,2-1 0,4 0 0,3 0 0,5 0 0,1 0 0,2 0 0,1 0 0,0 0 0,-1 0 0,-3 0 0,-4 0 0,-5 0 0,-6 0 0,-1 0 0,-2 0 0,-3 0 0,-1 0 0,-2 0 0,0 0 0,-2 0 0,2 0 0,2 0 0,2 1 0,3 0 0,0 1 0,2 1 0,4 0 0,4 0 0,6 1 0,3 0 0,0 1 0,-3-1 0,-4 0 0,-7-2 0,-5 0 0,-1 0 0,-2 0 0,2 1 0,3 1 0,2 0 0,-1-2 0,-2 0 0,-1 0 0,-1 0 0,4 2 0,6 1 0,6 2 0,6 1 0,4 3 0,0 1 0,-4 0 0,-7 0 0,-8-1 0,-5-3 0,-4-2 0,-1-1 0,1-3 0,0-1 0,-4 0 0,-5-1 0,-7-2 0,-7-4 0,-5-2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0:53.6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3043 112 24575,'-59'0'0,"-21"0"0,31 0 0,-2 0 0,-8 0 0,-1 0 0,-2 0 0,-1 0 0,-4 0 0,0 0 0,2 0 0,0 0 0,-6 0 0,-1 0 0,2 0 0,1 0 0,4 0 0,1 0 0,1 0 0,2 0 0,-38 0 0,8 0 0,10 0 0,7 0 0,7 0 0,9 0 0,9 0 0,7 0 0,5 0 0,6 0 0,1 0 0,2 0 0,2 0 0,0 0 0,0 0 0,0 0 0,-4 0 0,-3 0 0,-1-3 0,-2-1 0,4-1 0,1-1 0,2 2 0,-1 0 0,0 2 0,-1 2 0,1 0 0,-1 0 0,0 0 0,-2 0 0,-3 4 0,0 2 0,-5 2 0,1 1 0,1-3 0,2 0 0,4-2 0,3 0 0,0-1 0,4-2 0,1 0 0,3-1 0,4 1 0,1 1 0,1-1 0,2 2 0,-1-1 0,1-1 0,2 0 0,1-1 0,3 0 0,2-9 0,3 1 0,21-10 0,29 2 0,36 0 0,-19 6 0,5 1 0,11-1 0,3 1 0,2 1 0,-1 1 0,-4 0 0,-1 0 0,-11 3 0,-3 1 0,-7 1 0,-1 1 0,-3 0 0,-2 0 0,46 1 0,-8 0 0,-1 0 0,7 0 0,-45 0 0,1 0 0,2 1 0,0 0 0,0 1 0,0 0 0,-4 1 0,0 1 0,44 6 0,-12-1 0,-14 0 0,-15 0 0,-13-4 0,-9-1 0,-5-3 0,0-1 0,0 0 0,2 0 0,2-1 0,2-3 0,3-1 0,1-1 0,2 1 0,0 0 0,-2 3 0,-5 0 0,-3 2 0,-4 0 0,-4 0 0,-3 0 0,-4 2 0,-4 0 0,-1 1 0,1 4 0,-5 0 0,2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1:03.0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24575,'26'0'0,"-2"0"0,-12 0 0,0 0 0,-2 0 0,-1 0 0,0 0 0,1 0 0,-2 0 0,4 0 0,-4 0 0,1 0 0,0 1 0,-1 0 0,4 0 0,-5 1 0,4 0 0,-4-1 0,4 1 0,-3 1 0,1 1 0,-2 0 0,1 1 0,-1 0 0,2-1 0,-1 0 0,0-2 0,1 1 0,-1 1 0,0 0 0,0 0 0,1-2 0,1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1:20.2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1912 24575,'16'-17'0,"-3"3"0,-10 9 0,2 0 0,3-5 0,-1 1 0,3-3 0,-4 3 0,0 1 0,0 0 0,-1 0 0,1-1 0,-1 0 0,1-1 0,0 1 0,1 0 0,0 0 0,0 1 0,-1 0 0,0 2 0,1-3 0,-2 3 0,1-1 0,0 0 0,0 0 0,1-1 0,-1 2 0,-2 0 0,2-1 0,2-2 0,1 1 0,2-2 0,0 1 0,0 0 0,-1 1 0,-2 2 0,0 1 0,-1 0 0,-2-1 0,1-2 0,0-1 0,-1 2 0,0-1 0,2-3 0,-1 1 0,2-3 0,0 1 0,1 0 0,0-1 0,0-1 0,0 1 0,0 0 0,0-1 0,-1 1 0,1 0 0,-1-1 0,1 0 0,-1 1 0,-1 1 0,1 0 0,-1-1 0,1-1 0,0 0 0,0-3 0,0 1 0,0-1 0,-1 0 0,1 0 0,-1 0 0,0 1 0,0-2 0,0-1 0,0-4 0,-1-2 0,1-2 0,-1 0 0,1 3 0,0 2 0,2 1 0,1 2 0,0-1 0,1 0 0,1 0 0,0-2 0,1-1 0,0 1 0,-2 0 0,-1 1 0,-2 1 0,-1-1 0,0 1 0,0 1 0,-2 0 0,-1 1 0,-1 1 0,-2-1 0,1 0 0,0-2 0,1 1 0,0 0 0,2 0 0,0-3 0,1-1 0,1-4 0,1-2 0,-1-1 0,0 2 0,-1 0 0,-1 1 0,-2-2 0,1-2 0,0 1 0,0 4 0,0 4 0,-1 4 0,0 3 0,0-1 0,1-1 0,0 0 0,2 2 0,-1 2 0,1 1 0,0 2 0,0 0 0,1 0 0,0 1 0,1 0 0,-3 1 0,0 1 0,-1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1:24.7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2240 24575,'0'-35'0,"0"-3"0,1-2 0,1-7 0,4-3 0,4-13 0,2-1 0,-1 8 0,-2 10 0,-3 20 0,-1 7 0,-2 4 0,0 2 0,0 2 0,-1 0 0,0-1 0,1-1 0,-1-1 0,1-1 0,0 0 0,-1-1 0,0-3 0,0-3 0,1-5 0,1-6 0,1-5 0,0-4 0,2-1 0,0-4 0,1-4 0,1-4 0,1-2 0,0-1 0,1 0 0,-1 4 0,1 3 0,-1 6 0,-1 4 0,-1 5 0,0 3 0,-1 5 0,-2 4 0,0 2 0,-2 3 0,1-1 0,-1-1 0,1-1 0,-1 0 0,1-1 0,-1-1 0,1-1 0,0-3 0,1-4 0,0-7 0,2-5 0,1-6 0,0 0 0,1 2 0,0 4 0,1 4 0,0 5 0,-1 7 0,0 5 0,-2 4 0,0 3 0,-1 2 0,-1 2 0,0 1 0,-2 1 0,-2 3 0,0-4 0,5 40 0,-4-8 0,6 40 0,-4-13 0,1 4 0,0-2 0,-1-5 0,-2-14 0,1-13 0,-1-10 0,7-7 0,3-1 0,1 0 0,2-2 0,-5-1 0,2-1 0,4-1 0,3-1 0,5-1 0,6-1 0,2 0 0,1 2 0,0 1 0,-2 2 0,2 2 0,0 0 0,0 1 0,0 0 0,-1 1 0,1 3 0,0 2 0,-1 2 0,0 0 0,-4-1 0,-1-2 0,-1-2 0,1-2 0,1 1 0,2 0 0,1 0 0,1 0 0,-1-1 0,1 0 0,0-1 0,2 2 0,2-1 0,2 1 0,0-1 0,2 0 0,-1 0 0,-1-1 0,0 1 0,-1 0 0,-2 1 0,-1 1 0,-1-1 0,0 0 0,0 1 0,0 1 0,1 0 0,-1 2 0,2 1 0,-1 1 0,0 0 0,-4-1 0,-5-2 0,-6-2 0,-5-2 0,-3 0 0,-2 0 0,0 0 0,0 0 0,1 0 0,-1-1 0,2 1 0,2-1 0,5 0 0,6-2 0,3-1 0,1-1 0,0 0 0,-4 1 0,-2-1 0,-3 1 0,-2 1 0,-1-1 0,-3 2 0,-3 0 0,-2 1 0,-24 16 0,6-4 0,-20 16 0,7-5 0,-9 9 0,-15 17 0,-16 19 0,28-30 0,-1 1 0,0 2 0,0 1 0,1-1 0,1 0 0,3-2 0,0 0 0,-1 3 0,-1 1 0,0 4 0,-1 0 0,1 2 0,-1 1 0,1 1 0,2-1 0,2-2 0,1-2 0,-15 33 0,11-16 0,10-13 0,6-11 0,6-8 0,3-5 0,0-4 0,3-5 0,0-1 0,0-1 0,1-1 0,-1 1 0,0 2 0,-1 1 0,0-1 0,-3-1 0,-6 1 0,7-9 0,-3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1:33.1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24575,'1'28'0,"0"-3"0,3-12 0,0-2 0,0-2 0,0-1 0,0 0 0,1 1 0,-1-1 0,2 2 0,-1-2 0,0-1 0,2 1 0,-2-3 0,2 1 0,1 3 0,-2-2 0,1 3 0,-2-2 0,-1-1 0,1 2 0,-1-2 0,1 1 0,1 0 0,0-4 0,1 4 0,1-2 0,-3 0 0,3 2 0,-3-3 0,2 4 0,-2 0 0,-2-2 0,3 1 0,-1-2 0,0 1 0,2 1 0,-2-1 0,-1 1 0,2 0 0,-2-2 0,2 2 0,-3 1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1:36.5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1:40.2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1:43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1:45.9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1:51.9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12 24575,'49'6'0,"1"2"0,-1 4 0,6 0 0,2-3 0,0-5 0,-7-3 0,-10-1 0,-10-1 0,-10-3 0,-6-1 0,-5-2 0,-4 1 0,-2-3 0,-1 1 0,-1-4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1:55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24575,'50'48'0,"11"13"0,-23-22 0,2 3 0,4 4 0,1 1 0,0 0 0,0 1 0,-3-3 0,-1-2 0,-2-4 0,-1-1 0,30 29 0,-6-6 0,-9-11 0,-10-7 0,-9-9 0,-6-7 0,-6-5 0,-3-5 0,-5-5 0,-3-3 0,-3-5 0,-27-25 0,15 14 0,-20-17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2:21.9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3663 1342 24575,'-35'0'0,"3"-1"0,5-1 0,1-3 0,2 0 0,2-1 0,5 0 0,1 1 0,3 0 0,2 2 0,2-1 0,-1 0 0,0 1 0,0-1 0,0 1 0,-2 0 0,1 1 0,-1-1 0,0 0 0,-1 1 0,-1-1 0,-3 0 0,-1 0 0,-1-1 0,0 1 0,1-1 0,0 1 0,1-1 0,3 0 0,1 0 0,-1 0 0,1 1 0,0 0 0,0 0 0,0 0 0,0 0 0,0 0 0,1 0 0,2 1 0,-1 0 0,0 0 0,1 1 0,-1 0 0,1 1 0,0 0 0,-1 0 0,-2 0 0,1 0 0,-2 0 0,0 0 0,-1 0 0,0 0 0,1 0 0,-1 0 0,0 0 0,1 0 0,0-1 0,0 0 0,-1 0 0,2 0 0,0 0 0,0 0 0,1-1 0,0 0 0,1 0 0,1 0 0,0 0 0,1 1 0,0 0 0,-1 0 0,1 0 0,1 0 0,-5-1 0,4 2 0,-2-2 0,3 1 0,0 0 0,-2-1 0,-1 1 0,1 0 0,1 0 0,0-1 0,2 0 0,-4-1 0,3 2 0,-1-1 0,0 0 0,1-1 0,-1 0 0,0 0 0,1 1 0,-1-1 0,0 2 0,-1-1 0,1 0 0,0 1 0,-2 0 0,4 0 0,-4 0 0,3 0 0,0 1 0,-4-1 0,5 0 0,-6 0 0,5 1 0,-2 0 0,0 0 0,2-2 0,-2 2 0,0-2 0,3 2 0,-3-2 0,-1 2 0,2-1 0,-1 0 0,0 0 0,2-1 0,-3 0 0,3 0 0,-2 1 0,2 0 0,-4-1 0,3 1 0,-1 0 0,0 1 0,3 0 0,-4-1 0,4 0 0,-4 0 0,2 0 0,-2 1 0,3 0 0,-1 0 0,-3 0 0,2 0 0,-2 0 0,3 0 0,0 0 0,-1 0 0,1 0 0,-1 0 0,1 0 0,-1 0 0,-1 0 0,1 0 0,-1 0 0,1 0 0,-2 0 0,-1 0 0,-1 0 0,0 0 0,-1 0 0,0 1 0,0 0 0,-1 0 0,1 0 0,1-1 0,1 0 0,1 0 0,1 0 0,4 0 0,17-15 0,2 11 0,18-12 0,-3 16 0,4 0 0,8 0 0,1 0 0,0-2 0,-4-1 0,-10-3 0,-3 0 0,-3 0 0,-4 1 0,-3 1 0,-2 1 0,-3 1 0,-1-1 0,-1-6 0,-2 0 0,-4-5 0,-5 3 0,-5 0 0,-3 0 0,-6 1 0,-2 3 0,-3 2 0,-1 1 0,0 2 0,-1 1 0,-4 1 0,-3 1 0,-2 0 0,1 2 0,3 1 0,6-1 0,3-2 0,2 0 0,2 0 0,-3 0 0,-3 2 0,-5-1 0,-6-1 0,-4 0 0,-3-1 0,0 0 0,-2 0 0,0 0 0,0 0 0,0 0 0,-2 0 0,0 0 0,-3 0 0,-1 0 0,0 0 0,-3 0 0,1 0 0,-1 0 0,2 0 0,1 0 0,2 0 0,1 0 0,2 0 0,4 0 0,1 1 0,2 1 0,2-1 0,1 0 0,4-1 0,1 0 0,3 0 0,0 0 0,1 0 0,-1 0 0,2 0 0,5 0 0,4-1 0,5-2 0,3-1 0,3-5 0,3 0 0,1-1 0,3-1 0,1 3 0,2-1 0,0-1 0,-1 1 0,-1-1 0,-2-2 0,0-3 0,-1 0 0,0-2 0,-1 2 0,-3 1 0,-2 1 0,-2 1 0,-1 0 0,2 1 0,1 1 0,0 1 0,1 1 0,0 0 0,0 0 0,0-1 0,0 1 0,0 1 0,-1-3 0,0-1 0,0-1 0,0-3 0,0 0 0,0 0 0,1 0 0,0 0 0,0 0 0,-1-3 0,1 0 0,0 0 0,1 1 0,0 2 0,0-1 0,0 1 0,0-2 0,0 0 0,-1 1 0,2 2 0,1 3 0,-1 1 0,2 3 0,-1-3 0,0 1 0,1 0 0,-2-2 0,3 5 0,-2-5 0,1 2 0,-1 2 0,0-4 0,0 2 0,0 1 0,0-3 0,-1 5 0,9 31 0,-5-15 0,8 26 0,-6-27 0,-3-4 0,-16-15 0,10 9 0,-11-12 0,12 12 0,1 1 0,-8-5 0,6 1 0,-4-2 0,8-6 0,1 6 0,0-7 0,1 6 0,0-2 0,0-1 0,1 37 0,1-21 0,2 30 0,0-29 0,0 0 0,0 3 0,1 1 0,0 0 0,0 0 0,-1-2 0,0-1 0,0 1 0,0-1 0,-1 1 0,1-1 0,1 0 0,0-1 0,1 1 0,1 1 0,3 2 0,3 3 0,1 2 0,3 2 0,2 1 0,4 2 0,2 2 0,4 0 0,3 1 0,1-2 0,0-2 0,-2-4 0,-1-5 0,-2-4 0,0-5 0,-1-1 0,-1-1 0,0 0 0,0 0 0,1-4 0,4-3 0,4-6 0,8-5 0,4-4 0,5-1 0,4-2 0,5-1 0,1-2 0,4 0 0,0 1 0,-2 0 0,-1 3 0,-4 1 0,-2 3 0,1 3 0,0 5 0,0 1 0,1 3 0,-2 1 0,-2 3 0,-2 3 0,-5 1 0,-2 0 0,-3 0 0,-1 0 0,-1 0 0,-1 0 0,4 0 0,3 0 0,5 0 0,15 0 0,12 0 0,14 0 0,-41 0 0,1 0 0,2 0 0,0 0 0,3 0 0,1-1 0,2 0 0,0 0 0,0 0 0,-1 0 0,-1 0 0,0 0 0,-4 0 0,-2 1 0,36 0 0,-20 0 0,-22 0 0,-18 1 0,-13 1 0,-8 0 0,-4-19 0,-4-4 0,0-20 0,0 3 0,0 3 0,2 1 0,0 5 0,1 4 0,-2 4 0,-1 6 0,0 5 0,-11 4 0,-3 4 0,-11 5 0,-6 8 0,-5 7 0,-6 6 0,-4 2 0,0-3 0,1-2 0,3-3 0,2-3 0,1-3 0,0-4 0,3-3 0,4-3 0,4-1 0,3 1 0,2 0 0,2 1 0,-1-1 0,1 1 0,-1-2 0,0 1 0,0 1 0,0 1 0,-2 0 0,-2 1 0,-2 0 0,-3 0 0,0-1 0,-3 0 0,-1-1 0,-1 1 0,1-2 0,3 0 0,2-1 0,3-1 0,3 0 0,1 0 0,3 0 0,3-1 0,3 0 0,3-1 0,2 0 0,0 1 0,-2-2 0,4 2 0,-3-1 0,-2-1 0,2-1 0,-4-1 0,1-1 0,0 0 0,1 1 0,0-1 0,0 1 0,0-1 0,0 2 0,0 0 0,0 1 0,0 0 0,0 1 0,-1 0 0,-1 1 0,0 0 0,-1 0 0,-1 0 0,0 1 0,0 0 0,-1 0 0,-1 0 0,0 0 0,-1 0 0,0 0 0,1 0 0,-1 0 0,2 0 0,0 0 0,2 0 0,0 0 0,2 0 0,1 0 0,1 0 0,1 0 0,0 0 0,2 0 0,-3 0 0,3 0 0,-3 0 0,3 0 0,-1 1 0,-1 3 0,2-1 0,-2 5 0,3-3 0,0 1 0,-2 0 0,3-2 0,-3 1 0,2-1 0,-2-1 0,-1 0 0,1-1 0,1-2 0,-2 0 0,1 0 0,1 0 0,-3 0 0,3 0 0,-2 0 0,0-3 0,3 0 0,-3-2 0,3 1 0,-1-2 0,1 0 0,2 22 0,4-11 0,3 19 0,3-16 0,0 2 0,-1 0 0,0 2 0,-1-2 0,-1 1 0,-1-2 0,0-1 0,-1 4 0,0-2 0,0 4 0,0-3 0,0 0 0,0 1 0,-2 0 0,-1 1 0,-1-1 0,-2 2 0,0-1 0,-2-1 0,-2 0 0,0 1 0,-1 0 0,-1 0 0,0 1 0,-1 1 0,2 0 0,1-1 0,2-2 0,2 0 0,2 1 0,3 2 0,0 0 0,1 3 0,0 0 0,0 0 0,0 0 0,3-2 0,1-1 0,5 0 0,3 1 0,3 2 0,3 2 0,4 3 0,1 1 0,1 0 0,2-1 0,-1-1 0,0-2 0,-1-1 0,-3-3 0,-2-3 0,-1-2 0,-1-1 0,1-2 0,2 1 0,1-1 0,0 1 0,0 0 0,-1-2 0,-3 0 0,-3-2 0,-1-2 0,-3 1 0,-1-1 0,-1-1 0,1 1 0,-1-1 0,3 0 0,-1 0 0,-2 0 0,2 0 0,0 0 0,-1 1 0,0 2 0,0 2 0,-3-1 0,2 3 0,-3-2 0,0 0 0,1 2 0,-3-1 0,1 1 0,-24-13 0,13 4 0,-18-9 0,18 9 0,0 0 0,-7 0 0,4 0 0,-4 0 0,6 0 0,-1 0 0,0 0 0,-3 0 0,3 0 0,0 0 0,-1 0 0,3 0 0,-4 0 0,1 0 0,1 0 0,-2 0 0,2 0 0,0 0 0,-3 0 0,2 0 0,-3 0 0,3 0 0,1 0 0,0 0 0,-1 0 0,1 0 0,1 0 0,-4 0 0,4 0 0,-4 1 0,4 0 0,-3 0 0,3 0 0,-2-1 0,0 1 0,2 0 0,-5 1 0,6-1 0,-5 1 0,4-1 0,0 1 0,-4-1 0,3 0 0,-3 1 0,3 0 0,0-1 0,0 0 0,0-1 0,0 1 0,-1 0 0,1 1 0,-1 0 0,1-1 0,1 1 0,-1-1 0,-2 0 0,2 0 0,-2 0 0,1-1 0,-1 2 0,-1-2 0,0 1 0,0 0 0,-1 0 0,0-1 0,-1 0 0,0 0 0,0 0 0,0 0 0,0 1 0,1 1 0,-1-1 0,1-1 0,0 2 0,0 1 0,0 1 0,0 0 0,-2 1 0,0 0 0,-1 0 0,0 1 0,-1 0 0,0 1 0,1-1 0,-1 1 0,1 0 0,-1 1 0,2-1 0,0-1 0,1-1 0,1-2 0,0 0 0,3-2 0,-1 0 0,2-1 0,1 0 0,-6-1 0,3-1 0,-3-2 0,7-1 0,2-1 0,3-5 0,5 3 0,6 0 0,4 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2:24.5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425 1 24575,'-36'26'0,"3"-2"0,11-7 0,1-1 0,1 1 0,-3 1 0,1 1 0,2-3 0,4-3 0,6-3 0,3-2 0,1 0 0,1-2 0,-1 2 0,-2 0 0,1-1 0,0 1 0,1-2 0,0-1 0,-2 4 0,-1-2 0,-1 2 0,1-1 0,0-1 0,0 0 0,-1 0 0,1 1 0,0-1 0,0-1 0,2-1 0,0 0 0,-2 2 0,2-3 0,-1 3 0,2-2 0,1 3 0,1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2:28.7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208 1 24575,'-34'0'0,"4"0"0,12 0 0,2 0 0,2 0 0,2 0 0,2 0 0,3 2 0,-2 3 0,3-1 0,-3 3 0,2-1 0,2 0 0,-3 1 0,3-1 0,0 1 0,1 3 0,3-2 0,-2 2 0,2-2 0,-2 0 0,2 2 0,1-2 0,0 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2:33.9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0 797 24575,'0'-28'0,"0"2"0,1 14 0,0-3 0,1 0 0,2-1 0,1 1 0,1 0 0,0 0 0,1 1 0,0 1 0,1 3 0,1 0 0,1 2 0,1 1 0,-1 1 0,0 2 0,0-1 0,0 1 0,1-1 0,-1-1 0,0 0 0,0-2 0,1 1 0,1-1 0,-1 0 0,2-3 0,1-1 0,0-2 0,1-1 0,-2 3 0,-2 1 0,-2 4 0,-2 1 0,0 0 0,0-1 0,0 0 0,1 1 0,0 0 0,1-1 0,-1 1 0,1-1 0,0 0 0,0 0 0,1-1 0,-1 1 0,0 0 0,1-1 0,-2 2 0,-1 0 0,0 1 0,3-2 0,-2 2 0,2 0 0,-3 1 0,2 0 0,-1 1 0,1 0 0,0-1 0,-2 2 0,4-1 0,-4 1 0,3-2 0,-1 1 0,-1 0 0,1-1 0,-1 2 0,1-3 0,0 2 0,-1-1 0,0 0 0,0 0 0,0 0 0,0-1 0,0 1 0,-2-2 0,2-1 0,-4 0 0,0-2 0,-4-1 0,0 1 0,2 0 0,3 1 0,2 2 0,1 0 0,-1 1 0,-3-4 0,-1 1 0,-2-2 0,-1 1 0,0 0 0,0 1 0,1-2 0,0 1 0,2 0 0,-1 0 0,1 1 0,1-2 0,-1 3 0,2-2 0,1 2 0,2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2:47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380 12 24575,'-25'0'0,"1"0"0,12-1 0,-2 0 0,0 0 0,1 0 0,-1 0 0,0-1 0,0 1 0,2 1 0,1 0 0,3 0 0,-1-1 0,-3 0 0,3 1 0,-3-1 0,4 1 0,1 0 0,-5 0 0,2 0 0,-3 0 0,4 0 0,-1 0 0,1 0 0,-1 0 0,0 0 0,1 0 0,-1 0 0,2 0 0,-1 0 0,-2 0 0,3 0 0,-2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2:50.3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 28 24575,'-45'0'0,"-1"0"0,2 0 0,-2 0 0,1 0 0,5 0 0,8 0 0,3 0 0,7 0 0,3-1 0,6-1 0,5 0 0,0-1 0,-2 0 0,1 0 0,1 0 0,-3 0 0,5 2 0,-6 0 0,4-2 0,-2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2:55.8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33:15.9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839F6-1901-E549-80FE-F1455A4255C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8E310-AA22-2646-9CBE-D6D21A1D00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874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8E310-AA22-2646-9CBE-D6D21A1D00C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665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82" r:id="rId6"/>
    <p:sldLayoutId id="214748368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customXml" Target="../ink/ink10.xml"/><Relationship Id="rId26" Type="http://schemas.openxmlformats.org/officeDocument/2006/relationships/customXml" Target="../ink/ink15.xml"/><Relationship Id="rId39" Type="http://schemas.openxmlformats.org/officeDocument/2006/relationships/image" Target="../media/image32.png"/><Relationship Id="rId21" Type="http://schemas.openxmlformats.org/officeDocument/2006/relationships/image" Target="../media/image25.png"/><Relationship Id="rId34" Type="http://schemas.openxmlformats.org/officeDocument/2006/relationships/customXml" Target="../ink/ink20.xml"/><Relationship Id="rId42" Type="http://schemas.openxmlformats.org/officeDocument/2006/relationships/customXml" Target="../ink/ink24.xml"/><Relationship Id="rId7" Type="http://schemas.openxmlformats.org/officeDocument/2006/relationships/customXml" Target="../ink/ink3.xml"/><Relationship Id="rId2" Type="http://schemas.openxmlformats.org/officeDocument/2006/relationships/image" Target="../media/image17.png"/><Relationship Id="rId16" Type="http://schemas.openxmlformats.org/officeDocument/2006/relationships/customXml" Target="../ink/ink9.xml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customXml" Target="../ink/ink6.xml"/><Relationship Id="rId24" Type="http://schemas.openxmlformats.org/officeDocument/2006/relationships/customXml" Target="../ink/ink13.xml"/><Relationship Id="rId32" Type="http://schemas.openxmlformats.org/officeDocument/2006/relationships/customXml" Target="../ink/ink19.xml"/><Relationship Id="rId37" Type="http://schemas.openxmlformats.org/officeDocument/2006/relationships/image" Target="../media/image31.png"/><Relationship Id="rId40" Type="http://schemas.openxmlformats.org/officeDocument/2006/relationships/customXml" Target="../ink/ink23.xml"/><Relationship Id="rId45" Type="http://schemas.openxmlformats.org/officeDocument/2006/relationships/customXml" Target="../ink/ink26.xml"/><Relationship Id="rId5" Type="http://schemas.openxmlformats.org/officeDocument/2006/relationships/customXml" Target="../ink/ink2.xml"/><Relationship Id="rId15" Type="http://schemas.openxmlformats.org/officeDocument/2006/relationships/image" Target="../media/image22.png"/><Relationship Id="rId23" Type="http://schemas.openxmlformats.org/officeDocument/2006/relationships/image" Target="../media/image26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10" Type="http://schemas.openxmlformats.org/officeDocument/2006/relationships/customXml" Target="../ink/ink5.xml"/><Relationship Id="rId19" Type="http://schemas.openxmlformats.org/officeDocument/2006/relationships/image" Target="../media/image24.png"/><Relationship Id="rId31" Type="http://schemas.openxmlformats.org/officeDocument/2006/relationships/image" Target="../media/image28.png"/><Relationship Id="rId44" Type="http://schemas.openxmlformats.org/officeDocument/2006/relationships/customXml" Target="../ink/ink25.xml"/><Relationship Id="rId4" Type="http://schemas.openxmlformats.org/officeDocument/2006/relationships/image" Target="../media/image18.png"/><Relationship Id="rId9" Type="http://schemas.openxmlformats.org/officeDocument/2006/relationships/customXml" Target="../ink/ink4.xml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customXml" Target="../ink/ink16.xml"/><Relationship Id="rId30" Type="http://schemas.openxmlformats.org/officeDocument/2006/relationships/customXml" Target="../ink/ink18.xml"/><Relationship Id="rId35" Type="http://schemas.openxmlformats.org/officeDocument/2006/relationships/image" Target="../media/image30.png"/><Relationship Id="rId43" Type="http://schemas.openxmlformats.org/officeDocument/2006/relationships/image" Target="../media/image34.png"/><Relationship Id="rId8" Type="http://schemas.openxmlformats.org/officeDocument/2006/relationships/image" Target="../media/image20.png"/><Relationship Id="rId3" Type="http://schemas.openxmlformats.org/officeDocument/2006/relationships/customXml" Target="../ink/ink1.xml"/><Relationship Id="rId12" Type="http://schemas.openxmlformats.org/officeDocument/2006/relationships/customXml" Target="../ink/ink7.xml"/><Relationship Id="rId17" Type="http://schemas.openxmlformats.org/officeDocument/2006/relationships/image" Target="../media/image23.png"/><Relationship Id="rId25" Type="http://schemas.openxmlformats.org/officeDocument/2006/relationships/customXml" Target="../ink/ink14.xml"/><Relationship Id="rId33" Type="http://schemas.openxmlformats.org/officeDocument/2006/relationships/image" Target="../media/image29.png"/><Relationship Id="rId38" Type="http://schemas.openxmlformats.org/officeDocument/2006/relationships/customXml" Target="../ink/ink22.xml"/><Relationship Id="rId20" Type="http://schemas.openxmlformats.org/officeDocument/2006/relationships/customXml" Target="../ink/ink11.xml"/><Relationship Id="rId41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283847D-3217-4EB0-48B1-2B922C8A597B}"/>
              </a:ext>
            </a:extLst>
          </p:cNvPr>
          <p:cNvSpPr/>
          <p:nvPr/>
        </p:nvSpPr>
        <p:spPr>
          <a:xfrm>
            <a:off x="220717" y="1650124"/>
            <a:ext cx="5444359" cy="316361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069E8E-0F72-77FC-C73F-115FEF0FDA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0717" y="5036441"/>
            <a:ext cx="6120624" cy="1477328"/>
          </a:xfrm>
        </p:spPr>
        <p:txBody>
          <a:bodyPr/>
          <a:lstStyle/>
          <a:p>
            <a:r>
              <a:rPr lang="ru-RU" dirty="0"/>
              <a:t>Стек: </a:t>
            </a:r>
            <a:r>
              <a:rPr lang="en" dirty="0"/>
              <a:t>Java 17 · TypeScript · React · SQLite · Docker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ED59197-DB1E-C094-FBF7-1AB2B2451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0717" y="3350155"/>
            <a:ext cx="5875283" cy="1636986"/>
          </a:xfrm>
        </p:spPr>
        <p:txBody>
          <a:bodyPr/>
          <a:lstStyle/>
          <a:p>
            <a:r>
              <a:rPr lang="ru-RU" dirty="0"/>
              <a:t>Симулятор банка — учебный проект по ООП, слоистой архитектуре и паттернам проектирования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E543C06-260C-F4C5-75B3-40D3E6D85E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717" y="2782669"/>
            <a:ext cx="5875282" cy="646331"/>
          </a:xfrm>
        </p:spPr>
        <p:txBody>
          <a:bodyPr/>
          <a:lstStyle/>
          <a:p>
            <a:r>
              <a:rPr lang="en-US" dirty="0"/>
              <a:t>Bank Simulator</a:t>
            </a:r>
            <a:endParaRPr lang="ru-RU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AACDA577-F5DC-1231-EE8F-B49E805ABF94}"/>
              </a:ext>
            </a:extLst>
          </p:cNvPr>
          <p:cNvSpPr txBox="1">
            <a:spLocks/>
          </p:cNvSpPr>
          <p:nvPr/>
        </p:nvSpPr>
        <p:spPr>
          <a:xfrm>
            <a:off x="8910971" y="3434238"/>
            <a:ext cx="6120624" cy="320087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Команда: </a:t>
            </a:r>
            <a:r>
              <a:rPr lang="en-US" dirty="0" err="1"/>
              <a:t>MacanyeWest</a:t>
            </a:r>
            <a:endParaRPr lang="en-US" dirty="0"/>
          </a:p>
          <a:p>
            <a:r>
              <a:rPr lang="ru-RU" dirty="0"/>
              <a:t>Участники: </a:t>
            </a:r>
          </a:p>
          <a:p>
            <a:r>
              <a:rPr lang="ru-RU" dirty="0"/>
              <a:t>Аршба Константин</a:t>
            </a:r>
          </a:p>
          <a:p>
            <a:r>
              <a:rPr lang="ru-RU" dirty="0"/>
              <a:t>Захаров Матвей </a:t>
            </a:r>
          </a:p>
          <a:p>
            <a:r>
              <a:rPr lang="ru-RU" dirty="0"/>
              <a:t>Мозговой Константин</a:t>
            </a:r>
          </a:p>
          <a:p>
            <a:r>
              <a:rPr lang="ru-RU" dirty="0"/>
              <a:t>Сидоров Владислав</a:t>
            </a:r>
          </a:p>
          <a:p>
            <a:r>
              <a:rPr lang="ru-RU" dirty="0" err="1"/>
              <a:t>Тынкован</a:t>
            </a:r>
            <a:r>
              <a:rPr lang="ru-RU" dirty="0"/>
              <a:t> Станислав</a:t>
            </a:r>
          </a:p>
          <a:p>
            <a:endParaRPr lang="ru-RU" dirty="0"/>
          </a:p>
          <a:p>
            <a:r>
              <a:rPr lang="ru-RU" dirty="0"/>
              <a:t>	      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A35134D-2A56-12AD-1300-22C59D9A7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878"/>
            <a:ext cx="3994791" cy="249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41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8AAC0E9-E585-7D84-3A01-CFF9AC10E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Цели и задачи проекта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398990D-444B-8BED-1F54-79AA7422D6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2" y="2108467"/>
            <a:ext cx="4748151" cy="424972"/>
          </a:xfrm>
          <a:ln>
            <a:solidFill>
              <a:srgbClr val="01BBEE"/>
            </a:solidFill>
          </a:ln>
        </p:spPr>
        <p:txBody>
          <a:bodyPr/>
          <a:lstStyle/>
          <a:p>
            <a:pPr algn="ctr"/>
            <a:r>
              <a:rPr lang="ru-RU" sz="2000" dirty="0"/>
              <a:t>Цель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8F28516-A4A8-5CFA-F78B-7D2300C004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2533439"/>
            <a:ext cx="4748152" cy="1323439"/>
          </a:xfrm>
          <a:ln w="12700">
            <a:solidFill>
              <a:srgbClr val="01BBEE"/>
            </a:solidFill>
          </a:ln>
        </p:spPr>
        <p:txBody>
          <a:bodyPr/>
          <a:lstStyle/>
          <a:p>
            <a:pPr algn="just"/>
            <a:r>
              <a:rPr lang="ru-RU" sz="1600" dirty="0"/>
              <a:t>Разработать симулятор банковской системы, демонстрирующий принципы ООП, паттерны проектирования и слоистую архитектуру в полностью работающем приложении.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E8809569-DDC6-4325-8E79-C682DA51A9D5}"/>
              </a:ext>
            </a:extLst>
          </p:cNvPr>
          <p:cNvSpPr txBox="1">
            <a:spLocks/>
          </p:cNvSpPr>
          <p:nvPr/>
        </p:nvSpPr>
        <p:spPr>
          <a:xfrm>
            <a:off x="6884276" y="2508577"/>
            <a:ext cx="4748152" cy="2939266"/>
          </a:xfrm>
          <a:prstGeom prst="rect">
            <a:avLst/>
          </a:prstGeom>
          <a:ln w="12700">
            <a:solidFill>
              <a:srgbClr val="01BBEE"/>
            </a:solidFill>
          </a:ln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- Реализовать три типа банковских счетов с разной логикой;</a:t>
            </a:r>
          </a:p>
          <a:p>
            <a:r>
              <a:rPr lang="ru-RU" sz="1600" dirty="0"/>
              <a:t>- Реализовать систему транзакций с поддержкой отката;</a:t>
            </a:r>
          </a:p>
          <a:p>
            <a:r>
              <a:rPr lang="ru-RU" sz="1600" dirty="0"/>
              <a:t>- Обеспечить аутентификацию по телефону и паролю;</a:t>
            </a:r>
          </a:p>
          <a:p>
            <a:r>
              <a:rPr lang="ru-RU" sz="1600" dirty="0"/>
              <a:t>- Сохранять данные в базе данных между сессиями;</a:t>
            </a:r>
          </a:p>
          <a:p>
            <a:r>
              <a:rPr lang="ru-RU" sz="1600" dirty="0"/>
              <a:t>- Разработать </a:t>
            </a:r>
            <a:r>
              <a:rPr lang="en" sz="1600" dirty="0"/>
              <a:t>REST API </a:t>
            </a:r>
            <a:r>
              <a:rPr lang="ru-RU" sz="1600" dirty="0"/>
              <a:t>и веб-интерфейс;</a:t>
            </a:r>
          </a:p>
          <a:p>
            <a:r>
              <a:rPr lang="ru-RU" sz="1600" dirty="0"/>
              <a:t>- Упаковать проект в </a:t>
            </a:r>
            <a:r>
              <a:rPr lang="en" sz="1600" dirty="0"/>
              <a:t>Docker-</a:t>
            </a:r>
            <a:r>
              <a:rPr lang="ru-RU" sz="1600" dirty="0"/>
              <a:t>контейнеры.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72D53E6-4517-7017-9BC2-861A6F490391}"/>
              </a:ext>
            </a:extLst>
          </p:cNvPr>
          <p:cNvSpPr txBox="1">
            <a:spLocks/>
          </p:cNvSpPr>
          <p:nvPr/>
        </p:nvSpPr>
        <p:spPr>
          <a:xfrm>
            <a:off x="6884275" y="2108467"/>
            <a:ext cx="4748151" cy="400110"/>
          </a:xfrm>
          <a:prstGeom prst="rect">
            <a:avLst/>
          </a:prstGeom>
          <a:ln>
            <a:solidFill>
              <a:srgbClr val="01BBEE"/>
            </a:solidFill>
          </a:ln>
        </p:spPr>
        <p:txBody>
          <a:bodyPr wrap="square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rgbClr val="00BBEE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/>
              <a:t>Задачи</a:t>
            </a:r>
          </a:p>
        </p:txBody>
      </p:sp>
    </p:spTree>
    <p:extLst>
      <p:ext uri="{BB962C8B-B14F-4D97-AF65-F5344CB8AC3E}">
        <p14:creationId xmlns:p14="http://schemas.microsoft.com/office/powerpoint/2010/main" val="80108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183BC3-A781-4473-2C17-89990CEF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Функциональность системы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DF37D7-434E-2EFA-B4AB-EDFF46EDFC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12979" y="1458182"/>
            <a:ext cx="4317229" cy="400110"/>
          </a:xfrm>
        </p:spPr>
        <p:txBody>
          <a:bodyPr/>
          <a:lstStyle/>
          <a:p>
            <a:pPr algn="ctr"/>
            <a:r>
              <a:rPr lang="ru-RU" sz="2000" dirty="0"/>
              <a:t>Что умеет </a:t>
            </a:r>
            <a:r>
              <a:rPr lang="en" sz="2000" dirty="0"/>
              <a:t>Bank Simulator</a:t>
            </a:r>
            <a:endParaRPr lang="ru-RU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99FC3F-846E-201E-6727-41263B9E0B6C}"/>
              </a:ext>
            </a:extLst>
          </p:cNvPr>
          <p:cNvSpPr txBox="1"/>
          <p:nvPr/>
        </p:nvSpPr>
        <p:spPr>
          <a:xfrm>
            <a:off x="861848" y="2091559"/>
            <a:ext cx="4214649" cy="369332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       Счета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8C385D6-B01C-F006-F503-AE65C85B1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379" y="2076528"/>
            <a:ext cx="399393" cy="39939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CB25C0D-ED63-6DCC-81E2-2CCA278086F3}"/>
              </a:ext>
            </a:extLst>
          </p:cNvPr>
          <p:cNvSpPr txBox="1"/>
          <p:nvPr/>
        </p:nvSpPr>
        <p:spPr>
          <a:xfrm>
            <a:off x="861848" y="2460891"/>
            <a:ext cx="4214649" cy="707886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Montserrat" panose="00000500000000000000" pitchFamily="2" charset="-52"/>
              </a:rPr>
              <a:t>3 типа: дебетовый, сберегательный, кредитный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CAFB39-6C27-9D8E-0593-DB7AEC6ED966}"/>
              </a:ext>
            </a:extLst>
          </p:cNvPr>
          <p:cNvSpPr txBox="1"/>
          <p:nvPr/>
        </p:nvSpPr>
        <p:spPr>
          <a:xfrm>
            <a:off x="6096000" y="2091559"/>
            <a:ext cx="4214649" cy="369332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       Переводы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B337D3-574A-6E9A-DED0-9BDA47E2D8BD}"/>
              </a:ext>
            </a:extLst>
          </p:cNvPr>
          <p:cNvSpPr txBox="1"/>
          <p:nvPr/>
        </p:nvSpPr>
        <p:spPr>
          <a:xfrm>
            <a:off x="6096000" y="2460891"/>
            <a:ext cx="4214649" cy="707886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Montserrat" panose="00000500000000000000" pitchFamily="2" charset="-52"/>
              </a:rPr>
              <a:t>между счетами по номеру, история операций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624273-A02A-F3CA-B4DB-06CC11F38AC5}"/>
              </a:ext>
            </a:extLst>
          </p:cNvPr>
          <p:cNvSpPr txBox="1"/>
          <p:nvPr/>
        </p:nvSpPr>
        <p:spPr>
          <a:xfrm>
            <a:off x="861848" y="3538109"/>
            <a:ext cx="4214649" cy="369332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       Аутентификация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355D94-7B45-95CB-17EF-FAA4E43A8EB0}"/>
              </a:ext>
            </a:extLst>
          </p:cNvPr>
          <p:cNvSpPr txBox="1"/>
          <p:nvPr/>
        </p:nvSpPr>
        <p:spPr>
          <a:xfrm>
            <a:off x="861848" y="3907441"/>
            <a:ext cx="4214649" cy="707886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Montserrat" panose="00000500000000000000" pitchFamily="2" charset="-52"/>
              </a:rPr>
              <a:t>вход и регистрация по номеру телефона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BB914A-36F1-E575-98ED-DDDB4729F13B}"/>
              </a:ext>
            </a:extLst>
          </p:cNvPr>
          <p:cNvSpPr txBox="1"/>
          <p:nvPr/>
        </p:nvSpPr>
        <p:spPr>
          <a:xfrm>
            <a:off x="6096000" y="3538109"/>
            <a:ext cx="4214649" cy="369332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       </a:t>
            </a:r>
            <a:r>
              <a:rPr lang="ru-RU" dirty="0" err="1">
                <a:latin typeface="Montserrat" panose="00000500000000000000" pitchFamily="2" charset="-52"/>
              </a:rPr>
              <a:t>Персистентность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9961BD-1BC9-15D5-E8E4-242C3F0194CA}"/>
              </a:ext>
            </a:extLst>
          </p:cNvPr>
          <p:cNvSpPr txBox="1"/>
          <p:nvPr/>
        </p:nvSpPr>
        <p:spPr>
          <a:xfrm>
            <a:off x="6096000" y="3907441"/>
            <a:ext cx="4214649" cy="707886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sz="2000" dirty="0">
                <a:latin typeface="Montserrat" panose="00000500000000000000" pitchFamily="2" charset="-52"/>
              </a:rPr>
              <a:t>SQLite </a:t>
            </a:r>
            <a:r>
              <a:rPr lang="ru-RU" sz="2000" dirty="0">
                <a:latin typeface="Montserrat" panose="00000500000000000000" pitchFamily="2" charset="-52"/>
              </a:rPr>
              <a:t>сохраняет данные между запусками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356106-6867-FCE7-A84A-FB5D227A997E}"/>
              </a:ext>
            </a:extLst>
          </p:cNvPr>
          <p:cNvSpPr txBox="1"/>
          <p:nvPr/>
        </p:nvSpPr>
        <p:spPr>
          <a:xfrm>
            <a:off x="861848" y="4984659"/>
            <a:ext cx="4214649" cy="369332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       </a:t>
            </a:r>
            <a:r>
              <a:rPr lang="en" dirty="0">
                <a:latin typeface="Montserrat" panose="00000500000000000000" pitchFamily="2" charset="-52"/>
              </a:rPr>
              <a:t>REST API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0547AB-41F9-9516-9345-A23D666F7942}"/>
              </a:ext>
            </a:extLst>
          </p:cNvPr>
          <p:cNvSpPr txBox="1"/>
          <p:nvPr/>
        </p:nvSpPr>
        <p:spPr>
          <a:xfrm>
            <a:off x="861848" y="5353991"/>
            <a:ext cx="4214649" cy="707886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Montserrat" panose="00000500000000000000" pitchFamily="2" charset="-52"/>
              </a:rPr>
              <a:t>8 </a:t>
            </a:r>
            <a:r>
              <a:rPr lang="ru-RU" sz="2000" dirty="0" err="1">
                <a:latin typeface="Montserrat" panose="00000500000000000000" pitchFamily="2" charset="-52"/>
              </a:rPr>
              <a:t>эндпоинтов</a:t>
            </a:r>
            <a:r>
              <a:rPr lang="ru-RU" sz="2000" dirty="0">
                <a:latin typeface="Montserrat" panose="00000500000000000000" pitchFamily="2" charset="-52"/>
              </a:rPr>
              <a:t> для работы с фронтендом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F4E75C-C7EF-7580-2F09-3C4CDD9F8BBA}"/>
              </a:ext>
            </a:extLst>
          </p:cNvPr>
          <p:cNvSpPr txBox="1"/>
          <p:nvPr/>
        </p:nvSpPr>
        <p:spPr>
          <a:xfrm>
            <a:off x="6096000" y="4984659"/>
            <a:ext cx="4214649" cy="369332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       Веб-интерфейс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3F0C5B-EA75-C66F-3F39-BF6DCDB35332}"/>
              </a:ext>
            </a:extLst>
          </p:cNvPr>
          <p:cNvSpPr txBox="1"/>
          <p:nvPr/>
        </p:nvSpPr>
        <p:spPr>
          <a:xfrm>
            <a:off x="6096000" y="5353991"/>
            <a:ext cx="4214649" cy="707886"/>
          </a:xfrm>
          <a:prstGeom prst="rect">
            <a:avLst/>
          </a:prstGeom>
          <a:noFill/>
          <a:ln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Montserrat" panose="00000500000000000000" pitchFamily="2" charset="-52"/>
              </a:rPr>
              <a:t>дашборд, переводы, цели, панель администратора</a:t>
            </a:r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AA48C47A-796D-42AF-E23B-4AC867E40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3222" y="2135648"/>
            <a:ext cx="281151" cy="281151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801D5BCE-D80C-D96A-84C1-1E5B4BB95E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9068" y="3588768"/>
            <a:ext cx="268014" cy="268014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5F4723A2-7DC3-8846-17DD-84B9A6730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5555" y="3604534"/>
            <a:ext cx="236483" cy="236483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ADE4EAA2-935A-A5BF-742D-D6DFFDEF53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671" y="4984659"/>
            <a:ext cx="359101" cy="359101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C6EDB0BC-BA1E-6230-CB53-9074915A59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4245" y="4994890"/>
            <a:ext cx="359101" cy="35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73FC82-52CF-F4AB-22B6-649D30614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Технологический стек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1D52135-5759-9AA4-4DB4-96FBE2D94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353710"/>
              </p:ext>
            </p:extLst>
          </p:nvPr>
        </p:nvGraphicFramePr>
        <p:xfrm>
          <a:off x="1359613" y="1574800"/>
          <a:ext cx="81280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893469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97283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Компонент</a:t>
                      </a:r>
                    </a:p>
                  </a:txBody>
                  <a:tcPr>
                    <a:solidFill>
                      <a:srgbClr val="01B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Технология</a:t>
                      </a:r>
                    </a:p>
                  </a:txBody>
                  <a:tcPr>
                    <a:solidFill>
                      <a:srgbClr val="01B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184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Бэкенд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Java 17, </a:t>
                      </a:r>
                      <a:r>
                        <a:rPr lang="ru-RU" dirty="0"/>
                        <a:t>стандартный `</a:t>
                      </a:r>
                      <a:r>
                        <a:rPr lang="en" dirty="0" err="1"/>
                        <a:t>com.sun.net.httpserver</a:t>
                      </a:r>
                      <a:r>
                        <a:rPr lang="en" dirty="0"/>
                        <a:t>`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507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Сборка бэкенда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Maven 3, </a:t>
                      </a:r>
                      <a:r>
                        <a:rPr lang="ru-RU" dirty="0"/>
                        <a:t>плагин </a:t>
                      </a:r>
                      <a:r>
                        <a:rPr lang="en" dirty="0"/>
                        <a:t>maven-shade (fat JAR)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489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SQLite + `</a:t>
                      </a:r>
                      <a:r>
                        <a:rPr lang="en" dirty="0" err="1"/>
                        <a:t>sqlite-jdbc</a:t>
                      </a:r>
                      <a:r>
                        <a:rPr lang="en" dirty="0"/>
                        <a:t> 3.47`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34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Фронтенд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TypeScript, React 18, React Router 7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408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Стили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Tailwind CSS 4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27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Сборка фронтенда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Vite 6, </a:t>
                      </a:r>
                      <a:r>
                        <a:rPr lang="en" dirty="0" err="1"/>
                        <a:t>npm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62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Контейнеризация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Docker, Docker Compose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995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Веб-сервер фронтенда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nginx 1.27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090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Диаграммы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PlantUML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168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714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ECA87-2D3A-F6AF-6C39-4325D7AF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Архитектура: слои системы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5316F8E1-AC61-5B06-E913-1FA4C0AC9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631108"/>
              </p:ext>
            </p:extLst>
          </p:nvPr>
        </p:nvGraphicFramePr>
        <p:xfrm>
          <a:off x="1484611" y="1332577"/>
          <a:ext cx="7349811" cy="5166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9811">
                  <a:extLst>
                    <a:ext uri="{9D8B030D-6E8A-4147-A177-3AD203B41FA5}">
                      <a16:colId xmlns:a16="http://schemas.microsoft.com/office/drawing/2014/main" val="3061944314"/>
                    </a:ext>
                  </a:extLst>
                </a:gridCol>
              </a:tblGrid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dirty="0"/>
                        <a:t> PRESENTATION </a:t>
                      </a:r>
                      <a:endParaRPr lang="ru-RU" dirty="0"/>
                    </a:p>
                  </a:txBody>
                  <a:tcPr>
                    <a:solidFill>
                      <a:srgbClr val="01B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689460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dirty="0" err="1"/>
                        <a:t>ApiServer</a:t>
                      </a:r>
                      <a:r>
                        <a:rPr lang="en" dirty="0"/>
                        <a:t> · HTTP-</a:t>
                      </a:r>
                      <a:r>
                        <a:rPr lang="ru-RU" dirty="0" err="1"/>
                        <a:t>роуты</a:t>
                      </a:r>
                      <a:r>
                        <a:rPr lang="ru-RU" dirty="0"/>
                        <a:t> · </a:t>
                      </a:r>
                      <a:r>
                        <a:rPr lang="en" dirty="0" err="1"/>
                        <a:t>JsonUtil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319126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chemeClr val="bg1"/>
                          </a:solidFill>
                        </a:rPr>
                        <a:t>APPLICATION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1B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629485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dirty="0" err="1"/>
                        <a:t>BankService</a:t>
                      </a:r>
                      <a:r>
                        <a:rPr lang="en" dirty="0"/>
                        <a:t> · </a:t>
                      </a:r>
                      <a:r>
                        <a:rPr lang="en" dirty="0" err="1"/>
                        <a:t>AuthService</a:t>
                      </a:r>
                      <a:r>
                        <a:rPr lang="en" dirty="0"/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723476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dirty="0" err="1"/>
                        <a:t>CustomerPortalService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658479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dirty="0" err="1"/>
                        <a:t>AuthCredentialsValidator</a:t>
                      </a:r>
                      <a:r>
                        <a:rPr lang="en" dirty="0"/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094895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chemeClr val="bg1"/>
                          </a:solidFill>
                        </a:rPr>
                        <a:t>DOMAIN</a:t>
                      </a:r>
                      <a:r>
                        <a:rPr lang="en" dirty="0"/>
                        <a:t> </a:t>
                      </a:r>
                      <a:endParaRPr lang="ru-RU" dirty="0"/>
                    </a:p>
                  </a:txBody>
                  <a:tcPr>
                    <a:solidFill>
                      <a:srgbClr val="01B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185592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dirty="0"/>
                        <a:t>Customer · User · Account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316913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dirty="0"/>
                        <a:t>Transaction · </a:t>
                      </a:r>
                      <a:r>
                        <a:rPr lang="en" dirty="0" err="1"/>
                        <a:t>AccountStatus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332996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Репозиторные</a:t>
                      </a:r>
                      <a:r>
                        <a:rPr lang="ru-RU" dirty="0"/>
                        <a:t> интерфейсы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202140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chemeClr val="bg1"/>
                          </a:solidFill>
                        </a:rPr>
                        <a:t>INFRASTRUCTURE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1B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458648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dirty="0"/>
                        <a:t>Database · </a:t>
                      </a:r>
                      <a:r>
                        <a:rPr lang="en" dirty="0" err="1"/>
                        <a:t>SqlAccountRepository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731838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dirty="0" err="1"/>
                        <a:t>SqlTransactionRepository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660146"/>
                  </a:ext>
                </a:extLst>
              </a:tr>
              <a:tr h="369023">
                <a:tc>
                  <a:txBody>
                    <a:bodyPr/>
                    <a:lstStyle/>
                    <a:p>
                      <a:pPr algn="ctr"/>
                      <a:r>
                        <a:rPr lang="en" dirty="0" err="1"/>
                        <a:t>SqliteTransactionBroker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51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827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F3EEA-01D8-FA36-B445-98420412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Доменная модель: сущности банка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E02B52-4DCB-79EE-18D1-580A33802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65" r="41025" b="1"/>
          <a:stretch>
            <a:fillRect/>
          </a:stretch>
        </p:blipFill>
        <p:spPr>
          <a:xfrm>
            <a:off x="2188675" y="937385"/>
            <a:ext cx="6587463" cy="5561514"/>
          </a:xfrm>
          <a:prstGeom prst="rect">
            <a:avLst/>
          </a:prstGeom>
          <a:ln>
            <a:solidFill>
              <a:srgbClr val="01BBEE"/>
            </a:solidFill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6436907-457C-6DBA-6C9C-13659B7E98C4}"/>
              </a:ext>
            </a:extLst>
          </p:cNvPr>
          <p:cNvSpPr/>
          <p:nvPr/>
        </p:nvSpPr>
        <p:spPr>
          <a:xfrm>
            <a:off x="5433849" y="1429407"/>
            <a:ext cx="3337200" cy="1891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9FF62BAB-8735-481C-5048-F81B2C432556}"/>
              </a:ext>
            </a:extLst>
          </p:cNvPr>
          <p:cNvGrpSpPr/>
          <p:nvPr/>
        </p:nvGrpSpPr>
        <p:grpSpPr>
          <a:xfrm>
            <a:off x="5330153" y="1416540"/>
            <a:ext cx="184320" cy="269940"/>
            <a:chOff x="5330153" y="1416540"/>
            <a:chExt cx="184320" cy="2699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55C9DAA8-50B4-D7A3-C086-6A4077911023}"/>
                    </a:ext>
                  </a:extLst>
                </p14:cNvPr>
                <p14:cNvContentPartPr/>
                <p14:nvPr/>
              </p14:nvContentPartPr>
              <p14:xfrm>
                <a:off x="5343473" y="1652640"/>
                <a:ext cx="145440" cy="360"/>
              </p14:xfrm>
            </p:contentPart>
          </mc:Choice>
          <mc:Fallback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55C9DAA8-50B4-D7A3-C086-6A407791102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280473" y="1590000"/>
                  <a:ext cx="271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4" name="Рукописный ввод 13">
                  <a:extLst>
                    <a:ext uri="{FF2B5EF4-FFF2-40B4-BE49-F238E27FC236}">
                      <a16:creationId xmlns:a16="http://schemas.microsoft.com/office/drawing/2014/main" id="{F36968F2-C15C-96BC-70A3-5DA40C05DD43}"/>
                    </a:ext>
                  </a:extLst>
                </p14:cNvPr>
                <p14:cNvContentPartPr/>
                <p14:nvPr/>
              </p14:nvContentPartPr>
              <p14:xfrm>
                <a:off x="5412953" y="1686120"/>
                <a:ext cx="360" cy="360"/>
              </p14:xfrm>
            </p:contentPart>
          </mc:Choice>
          <mc:Fallback>
            <p:pic>
              <p:nvPicPr>
                <p:cNvPr id="14" name="Рукописный ввод 13">
                  <a:extLst>
                    <a:ext uri="{FF2B5EF4-FFF2-40B4-BE49-F238E27FC236}">
                      <a16:creationId xmlns:a16="http://schemas.microsoft.com/office/drawing/2014/main" id="{F36968F2-C15C-96BC-70A3-5DA40C05DD4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50313" y="16231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6C8EB2CC-358B-0DA4-3F3F-3105315CADBF}"/>
                    </a:ext>
                  </a:extLst>
                </p14:cNvPr>
                <p14:cNvContentPartPr/>
                <p14:nvPr/>
              </p14:nvContentPartPr>
              <p14:xfrm>
                <a:off x="5330153" y="1428360"/>
                <a:ext cx="184320" cy="255600"/>
              </p14:xfrm>
            </p:contentPart>
          </mc:Choice>
          <mc:Fallback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6C8EB2CC-358B-0DA4-3F3F-3105315CADB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67153" y="1365360"/>
                  <a:ext cx="3099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8" name="Рукописный ввод 17">
                  <a:extLst>
                    <a:ext uri="{FF2B5EF4-FFF2-40B4-BE49-F238E27FC236}">
                      <a16:creationId xmlns:a16="http://schemas.microsoft.com/office/drawing/2014/main" id="{7CE44F39-B1B2-5661-01FE-83AC54DFBD89}"/>
                    </a:ext>
                  </a:extLst>
                </p14:cNvPr>
                <p14:cNvContentPartPr/>
                <p14:nvPr/>
              </p14:nvContentPartPr>
              <p14:xfrm>
                <a:off x="5474873" y="1474440"/>
                <a:ext cx="360" cy="360"/>
              </p14:xfrm>
            </p:contentPart>
          </mc:Choice>
          <mc:Fallback>
            <p:pic>
              <p:nvPicPr>
                <p:cNvPr id="18" name="Рукописный ввод 17">
                  <a:extLst>
                    <a:ext uri="{FF2B5EF4-FFF2-40B4-BE49-F238E27FC236}">
                      <a16:creationId xmlns:a16="http://schemas.microsoft.com/office/drawing/2014/main" id="{7CE44F39-B1B2-5661-01FE-83AC54DFBD8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12233" y="1411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Рукописный ввод 20">
                  <a:extLst>
                    <a:ext uri="{FF2B5EF4-FFF2-40B4-BE49-F238E27FC236}">
                      <a16:creationId xmlns:a16="http://schemas.microsoft.com/office/drawing/2014/main" id="{1F79E9EB-E4F9-BDB0-4160-7F30329E696A}"/>
                    </a:ext>
                  </a:extLst>
                </p14:cNvPr>
                <p14:cNvContentPartPr/>
                <p14:nvPr/>
              </p14:nvContentPartPr>
              <p14:xfrm>
                <a:off x="5376696" y="1416540"/>
                <a:ext cx="360" cy="360"/>
              </p14:xfrm>
            </p:contentPart>
          </mc:Choice>
          <mc:Fallback>
            <p:pic>
              <p:nvPicPr>
                <p:cNvPr id="21" name="Рукописный ввод 20">
                  <a:extLst>
                    <a:ext uri="{FF2B5EF4-FFF2-40B4-BE49-F238E27FC236}">
                      <a16:creationId xmlns:a16="http://schemas.microsoft.com/office/drawing/2014/main" id="{1F79E9EB-E4F9-BDB0-4160-7F30329E696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14056" y="13539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4" name="Рукописный ввод 23">
                  <a:extLst>
                    <a:ext uri="{FF2B5EF4-FFF2-40B4-BE49-F238E27FC236}">
                      <a16:creationId xmlns:a16="http://schemas.microsoft.com/office/drawing/2014/main" id="{84360A2C-96AC-EEC5-7F87-F7B1764B2594}"/>
                    </a:ext>
                  </a:extLst>
                </p14:cNvPr>
                <p14:cNvContentPartPr/>
                <p14:nvPr/>
              </p14:nvContentPartPr>
              <p14:xfrm>
                <a:off x="5359776" y="1427340"/>
                <a:ext cx="360" cy="360"/>
              </p14:xfrm>
            </p:contentPart>
          </mc:Choice>
          <mc:Fallback>
            <p:pic>
              <p:nvPicPr>
                <p:cNvPr id="24" name="Рукописный ввод 23">
                  <a:extLst>
                    <a:ext uri="{FF2B5EF4-FFF2-40B4-BE49-F238E27FC236}">
                      <a16:creationId xmlns:a16="http://schemas.microsoft.com/office/drawing/2014/main" id="{84360A2C-96AC-EEC5-7F87-F7B1764B259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97136" y="13647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7" name="Рукописный ввод 26">
                <a:extLst>
                  <a:ext uri="{FF2B5EF4-FFF2-40B4-BE49-F238E27FC236}">
                    <a16:creationId xmlns:a16="http://schemas.microsoft.com/office/drawing/2014/main" id="{DA440233-FDD5-E970-B06A-E3EAC06145ED}"/>
                  </a:ext>
                </a:extLst>
              </p14:cNvPr>
              <p14:cNvContentPartPr/>
              <p14:nvPr/>
            </p14:nvContentPartPr>
            <p14:xfrm>
              <a:off x="5897616" y="1196580"/>
              <a:ext cx="1446480" cy="106920"/>
            </p14:xfrm>
          </p:contentPart>
        </mc:Choice>
        <mc:Fallback>
          <p:pic>
            <p:nvPicPr>
              <p:cNvPr id="27" name="Рукописный ввод 26">
                <a:extLst>
                  <a:ext uri="{FF2B5EF4-FFF2-40B4-BE49-F238E27FC236}">
                    <a16:creationId xmlns:a16="http://schemas.microsoft.com/office/drawing/2014/main" id="{DA440233-FDD5-E970-B06A-E3EAC06145E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34616" y="1133580"/>
                <a:ext cx="15721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5BD82F4E-16F4-A5FF-A19E-BBD6752F3C4D}"/>
                  </a:ext>
                </a:extLst>
              </p14:cNvPr>
              <p14:cNvContentPartPr/>
              <p14:nvPr/>
            </p14:nvContentPartPr>
            <p14:xfrm>
              <a:off x="7341193" y="1281345"/>
              <a:ext cx="1095840" cy="52920"/>
            </p14:xfrm>
          </p:contentPart>
        </mc:Choice>
        <mc:Fallback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5BD82F4E-16F4-A5FF-A19E-BBD6752F3C4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78193" y="1218705"/>
                <a:ext cx="12214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3FD717DC-D1E5-8A56-07A9-F8B086B12BF9}"/>
                  </a:ext>
                </a:extLst>
              </p14:cNvPr>
              <p14:cNvContentPartPr/>
              <p14:nvPr/>
            </p14:nvContentPartPr>
            <p14:xfrm>
              <a:off x="8540542" y="1338408"/>
              <a:ext cx="119160" cy="21960"/>
            </p14:xfrm>
          </p:contentPart>
        </mc:Choice>
        <mc:Fallback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3FD717DC-D1E5-8A56-07A9-F8B086B12BF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77902" y="1275408"/>
                <a:ext cx="2448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F4C9DB69-AB13-C55A-A4AF-FB2B14AD935E}"/>
                  </a:ext>
                </a:extLst>
              </p14:cNvPr>
              <p14:cNvContentPartPr/>
              <p14:nvPr/>
            </p14:nvContentPartPr>
            <p14:xfrm>
              <a:off x="6923295" y="4199185"/>
              <a:ext cx="322200" cy="688320"/>
            </p14:xfrm>
          </p:contentPart>
        </mc:Choice>
        <mc:Fallback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F4C9DB69-AB13-C55A-A4AF-FB2B14AD935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60295" y="4136545"/>
                <a:ext cx="447840" cy="81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1" name="Рукописный ввод 30">
                <a:extLst>
                  <a:ext uri="{FF2B5EF4-FFF2-40B4-BE49-F238E27FC236}">
                    <a16:creationId xmlns:a16="http://schemas.microsoft.com/office/drawing/2014/main" id="{9B99F289-3532-A87D-B5A2-0CD4364753DA}"/>
                  </a:ext>
                </a:extLst>
              </p14:cNvPr>
              <p14:cNvContentPartPr/>
              <p14:nvPr/>
            </p14:nvContentPartPr>
            <p14:xfrm>
              <a:off x="7245855" y="3391345"/>
              <a:ext cx="893160" cy="806760"/>
            </p14:xfrm>
          </p:contentPart>
        </mc:Choice>
        <mc:Fallback>
          <p:pic>
            <p:nvPicPr>
              <p:cNvPr id="31" name="Рукописный ввод 30">
                <a:extLst>
                  <a:ext uri="{FF2B5EF4-FFF2-40B4-BE49-F238E27FC236}">
                    <a16:creationId xmlns:a16="http://schemas.microsoft.com/office/drawing/2014/main" id="{9B99F289-3532-A87D-B5A2-0CD4364753D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82855" y="3328345"/>
                <a:ext cx="1018800" cy="9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2" name="Рукописный ввод 31">
                <a:extLst>
                  <a:ext uri="{FF2B5EF4-FFF2-40B4-BE49-F238E27FC236}">
                    <a16:creationId xmlns:a16="http://schemas.microsoft.com/office/drawing/2014/main" id="{BC8F4AAC-562E-944F-B7A9-6F48726559A8}"/>
                  </a:ext>
                </a:extLst>
              </p14:cNvPr>
              <p14:cNvContentPartPr/>
              <p14:nvPr/>
            </p14:nvContentPartPr>
            <p14:xfrm>
              <a:off x="6832935" y="4748905"/>
              <a:ext cx="81000" cy="137880"/>
            </p14:xfrm>
          </p:contentPart>
        </mc:Choice>
        <mc:Fallback>
          <p:pic>
            <p:nvPicPr>
              <p:cNvPr id="32" name="Рукописный ввод 31">
                <a:extLst>
                  <a:ext uri="{FF2B5EF4-FFF2-40B4-BE49-F238E27FC236}">
                    <a16:creationId xmlns:a16="http://schemas.microsoft.com/office/drawing/2014/main" id="{BC8F4AAC-562E-944F-B7A9-6F48726559A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69935" y="4685905"/>
                <a:ext cx="2066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3" name="Рукописный ввод 32">
                <a:extLst>
                  <a:ext uri="{FF2B5EF4-FFF2-40B4-BE49-F238E27FC236}">
                    <a16:creationId xmlns:a16="http://schemas.microsoft.com/office/drawing/2014/main" id="{56198727-40A8-B476-AF1F-1A60560E62C9}"/>
                  </a:ext>
                </a:extLst>
              </p14:cNvPr>
              <p14:cNvContentPartPr/>
              <p14:nvPr/>
            </p14:nvContentPartPr>
            <p14:xfrm>
              <a:off x="6924735" y="4890025"/>
              <a:ext cx="360" cy="360"/>
            </p14:xfrm>
          </p:contentPart>
        </mc:Choice>
        <mc:Fallback>
          <p:pic>
            <p:nvPicPr>
              <p:cNvPr id="33" name="Рукописный ввод 32">
                <a:extLst>
                  <a:ext uri="{FF2B5EF4-FFF2-40B4-BE49-F238E27FC236}">
                    <a16:creationId xmlns:a16="http://schemas.microsoft.com/office/drawing/2014/main" id="{56198727-40A8-B476-AF1F-1A60560E62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61735" y="4827025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72CBC305-23FD-C07D-106F-E1EE239338AD}"/>
              </a:ext>
            </a:extLst>
          </p:cNvPr>
          <p:cNvGrpSpPr/>
          <p:nvPr/>
        </p:nvGrpSpPr>
        <p:grpSpPr>
          <a:xfrm>
            <a:off x="6915375" y="4890745"/>
            <a:ext cx="13680" cy="3600"/>
            <a:chOff x="6915375" y="4890745"/>
            <a:chExt cx="13680" cy="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4" name="Рукописный ввод 33">
                  <a:extLst>
                    <a:ext uri="{FF2B5EF4-FFF2-40B4-BE49-F238E27FC236}">
                      <a16:creationId xmlns:a16="http://schemas.microsoft.com/office/drawing/2014/main" id="{4DFB3D62-CE4C-F949-C9EC-C70500C625E5}"/>
                    </a:ext>
                  </a:extLst>
                </p14:cNvPr>
                <p14:cNvContentPartPr/>
                <p14:nvPr/>
              </p14:nvContentPartPr>
              <p14:xfrm>
                <a:off x="6915375" y="4890745"/>
                <a:ext cx="360" cy="360"/>
              </p14:xfrm>
            </p:contentPart>
          </mc:Choice>
          <mc:Fallback>
            <p:pic>
              <p:nvPicPr>
                <p:cNvPr id="34" name="Рукописный ввод 33">
                  <a:extLst>
                    <a:ext uri="{FF2B5EF4-FFF2-40B4-BE49-F238E27FC236}">
                      <a16:creationId xmlns:a16="http://schemas.microsoft.com/office/drawing/2014/main" id="{4DFB3D62-CE4C-F949-C9EC-C70500C625E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52735" y="482810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Рукописный ввод 34">
                  <a:extLst>
                    <a:ext uri="{FF2B5EF4-FFF2-40B4-BE49-F238E27FC236}">
                      <a16:creationId xmlns:a16="http://schemas.microsoft.com/office/drawing/2014/main" id="{00B8A861-61C5-B28D-B924-0145445F148D}"/>
                    </a:ext>
                  </a:extLst>
                </p14:cNvPr>
                <p14:cNvContentPartPr/>
                <p14:nvPr/>
              </p14:nvContentPartPr>
              <p14:xfrm>
                <a:off x="6928335" y="4892545"/>
                <a:ext cx="360" cy="360"/>
              </p14:xfrm>
            </p:contentPart>
          </mc:Choice>
          <mc:Fallback>
            <p:pic>
              <p:nvPicPr>
                <p:cNvPr id="35" name="Рукописный ввод 34">
                  <a:extLst>
                    <a:ext uri="{FF2B5EF4-FFF2-40B4-BE49-F238E27FC236}">
                      <a16:creationId xmlns:a16="http://schemas.microsoft.com/office/drawing/2014/main" id="{00B8A861-61C5-B28D-B924-0145445F148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65695" y="482954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8" name="Рукописный ввод 37">
                  <a:extLst>
                    <a:ext uri="{FF2B5EF4-FFF2-40B4-BE49-F238E27FC236}">
                      <a16:creationId xmlns:a16="http://schemas.microsoft.com/office/drawing/2014/main" id="{B40DB94B-5ADA-1429-071A-C0316889EBBF}"/>
                    </a:ext>
                  </a:extLst>
                </p14:cNvPr>
                <p14:cNvContentPartPr/>
                <p14:nvPr/>
              </p14:nvContentPartPr>
              <p14:xfrm>
                <a:off x="6928695" y="4893985"/>
                <a:ext cx="360" cy="360"/>
              </p14:xfrm>
            </p:contentPart>
          </mc:Choice>
          <mc:Fallback>
            <p:pic>
              <p:nvPicPr>
                <p:cNvPr id="38" name="Рукописный ввод 37">
                  <a:extLst>
                    <a:ext uri="{FF2B5EF4-FFF2-40B4-BE49-F238E27FC236}">
                      <a16:creationId xmlns:a16="http://schemas.microsoft.com/office/drawing/2014/main" id="{B40DB94B-5ADA-1429-071A-C0316889EBB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65695" y="483098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1" name="Рукописный ввод 40">
                <a:extLst>
                  <a:ext uri="{FF2B5EF4-FFF2-40B4-BE49-F238E27FC236}">
                    <a16:creationId xmlns:a16="http://schemas.microsoft.com/office/drawing/2014/main" id="{29063232-B315-08ED-C582-2420014D334B}"/>
                  </a:ext>
                </a:extLst>
              </p14:cNvPr>
              <p14:cNvContentPartPr/>
              <p14:nvPr/>
            </p14:nvContentPartPr>
            <p14:xfrm>
              <a:off x="5299151" y="2425453"/>
              <a:ext cx="177480" cy="23400"/>
            </p14:xfrm>
          </p:contentPart>
        </mc:Choice>
        <mc:Fallback>
          <p:pic>
            <p:nvPicPr>
              <p:cNvPr id="41" name="Рукописный ввод 40">
                <a:extLst>
                  <a:ext uri="{FF2B5EF4-FFF2-40B4-BE49-F238E27FC236}">
                    <a16:creationId xmlns:a16="http://schemas.microsoft.com/office/drawing/2014/main" id="{29063232-B315-08ED-C582-2420014D334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36151" y="2362453"/>
                <a:ext cx="3031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2" name="Рукописный ввод 41">
                <a:extLst>
                  <a:ext uri="{FF2B5EF4-FFF2-40B4-BE49-F238E27FC236}">
                    <a16:creationId xmlns:a16="http://schemas.microsoft.com/office/drawing/2014/main" id="{2C0FCED2-249A-F08C-9E78-F6AAF429B231}"/>
                  </a:ext>
                </a:extLst>
              </p14:cNvPr>
              <p14:cNvContentPartPr/>
              <p14:nvPr/>
            </p14:nvContentPartPr>
            <p14:xfrm>
              <a:off x="5710320" y="2882445"/>
              <a:ext cx="320760" cy="320400"/>
            </p14:xfrm>
          </p:contentPart>
        </mc:Choice>
        <mc:Fallback>
          <p:pic>
            <p:nvPicPr>
              <p:cNvPr id="42" name="Рукописный ввод 41">
                <a:extLst>
                  <a:ext uri="{FF2B5EF4-FFF2-40B4-BE49-F238E27FC236}">
                    <a16:creationId xmlns:a16="http://schemas.microsoft.com/office/drawing/2014/main" id="{2C0FCED2-249A-F08C-9E78-F6AAF429B23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647320" y="2819445"/>
                <a:ext cx="446400" cy="44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89ABA878-EBCA-6CC7-2844-B371E8DEEA26}"/>
              </a:ext>
            </a:extLst>
          </p:cNvPr>
          <p:cNvGrpSpPr/>
          <p:nvPr/>
        </p:nvGrpSpPr>
        <p:grpSpPr>
          <a:xfrm>
            <a:off x="3983845" y="2165002"/>
            <a:ext cx="1515600" cy="483480"/>
            <a:chOff x="3983845" y="2165002"/>
            <a:chExt cx="1515600" cy="4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3" name="Рукописный ввод 42">
                  <a:extLst>
                    <a:ext uri="{FF2B5EF4-FFF2-40B4-BE49-F238E27FC236}">
                      <a16:creationId xmlns:a16="http://schemas.microsoft.com/office/drawing/2014/main" id="{D66D5EF2-8CA3-A7A5-1FA8-21FD16E881E6}"/>
                    </a:ext>
                  </a:extLst>
                </p14:cNvPr>
                <p14:cNvContentPartPr/>
                <p14:nvPr/>
              </p14:nvContentPartPr>
              <p14:xfrm>
                <a:off x="4180765" y="2165002"/>
                <a:ext cx="1318680" cy="483480"/>
              </p14:xfrm>
            </p:contentPart>
          </mc:Choice>
          <mc:Fallback>
            <p:pic>
              <p:nvPicPr>
                <p:cNvPr id="43" name="Рукописный ввод 42">
                  <a:extLst>
                    <a:ext uri="{FF2B5EF4-FFF2-40B4-BE49-F238E27FC236}">
                      <a16:creationId xmlns:a16="http://schemas.microsoft.com/office/drawing/2014/main" id="{D66D5EF2-8CA3-A7A5-1FA8-21FD16E881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17765" y="2102002"/>
                  <a:ext cx="144432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4" name="Рукописный ввод 43">
                  <a:extLst>
                    <a:ext uri="{FF2B5EF4-FFF2-40B4-BE49-F238E27FC236}">
                      <a16:creationId xmlns:a16="http://schemas.microsoft.com/office/drawing/2014/main" id="{049037C9-E214-F439-F85C-593662F019B0}"/>
                    </a:ext>
                  </a:extLst>
                </p14:cNvPr>
                <p14:cNvContentPartPr/>
                <p14:nvPr/>
              </p14:nvContentPartPr>
              <p14:xfrm>
                <a:off x="3983845" y="2429602"/>
                <a:ext cx="153360" cy="131760"/>
              </p14:xfrm>
            </p:contentPart>
          </mc:Choice>
          <mc:Fallback>
            <p:pic>
              <p:nvPicPr>
                <p:cNvPr id="44" name="Рукописный ввод 43">
                  <a:extLst>
                    <a:ext uri="{FF2B5EF4-FFF2-40B4-BE49-F238E27FC236}">
                      <a16:creationId xmlns:a16="http://schemas.microsoft.com/office/drawing/2014/main" id="{049037C9-E214-F439-F85C-593662F019B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20845" y="2366962"/>
                  <a:ext cx="27900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7" name="Рукописный ввод 46">
                <a:extLst>
                  <a:ext uri="{FF2B5EF4-FFF2-40B4-BE49-F238E27FC236}">
                    <a16:creationId xmlns:a16="http://schemas.microsoft.com/office/drawing/2014/main" id="{BF5A92F2-5262-1634-9169-8805C78C3800}"/>
                  </a:ext>
                </a:extLst>
              </p14:cNvPr>
              <p14:cNvContentPartPr/>
              <p14:nvPr/>
            </p14:nvContentPartPr>
            <p14:xfrm>
              <a:off x="3438445" y="2704642"/>
              <a:ext cx="74880" cy="44280"/>
            </p14:xfrm>
          </p:contentPart>
        </mc:Choice>
        <mc:Fallback>
          <p:pic>
            <p:nvPicPr>
              <p:cNvPr id="47" name="Рукописный ввод 46">
                <a:extLst>
                  <a:ext uri="{FF2B5EF4-FFF2-40B4-BE49-F238E27FC236}">
                    <a16:creationId xmlns:a16="http://schemas.microsoft.com/office/drawing/2014/main" id="{BF5A92F2-5262-1634-9169-8805C78C380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75445" y="2642002"/>
                <a:ext cx="20052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8" name="Рукописный ввод 47">
                <a:extLst>
                  <a:ext uri="{FF2B5EF4-FFF2-40B4-BE49-F238E27FC236}">
                    <a16:creationId xmlns:a16="http://schemas.microsoft.com/office/drawing/2014/main" id="{AFD0015C-D1D8-58ED-433B-258999B1B4E7}"/>
                  </a:ext>
                </a:extLst>
              </p14:cNvPr>
              <p14:cNvContentPartPr/>
              <p14:nvPr/>
            </p14:nvContentPartPr>
            <p14:xfrm>
              <a:off x="3502165" y="2492962"/>
              <a:ext cx="262440" cy="287280"/>
            </p14:xfrm>
          </p:contentPart>
        </mc:Choice>
        <mc:Fallback>
          <p:pic>
            <p:nvPicPr>
              <p:cNvPr id="48" name="Рукописный ввод 47">
                <a:extLst>
                  <a:ext uri="{FF2B5EF4-FFF2-40B4-BE49-F238E27FC236}">
                    <a16:creationId xmlns:a16="http://schemas.microsoft.com/office/drawing/2014/main" id="{AFD0015C-D1D8-58ED-433B-258999B1B4E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39165" y="2429962"/>
                <a:ext cx="388080" cy="41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C388AA24-0433-05DC-9330-3E212F1EFF40}"/>
              </a:ext>
            </a:extLst>
          </p:cNvPr>
          <p:cNvGrpSpPr/>
          <p:nvPr/>
        </p:nvGrpSpPr>
        <p:grpSpPr>
          <a:xfrm>
            <a:off x="4595185" y="2584085"/>
            <a:ext cx="199440" cy="22320"/>
            <a:chOff x="4595185" y="2584085"/>
            <a:chExt cx="199440" cy="2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9" name="Рукописный ввод 48">
                  <a:extLst>
                    <a:ext uri="{FF2B5EF4-FFF2-40B4-BE49-F238E27FC236}">
                      <a16:creationId xmlns:a16="http://schemas.microsoft.com/office/drawing/2014/main" id="{922CCD28-98BB-0A7F-C2E1-D8E3EAFC167D}"/>
                    </a:ext>
                  </a:extLst>
                </p14:cNvPr>
                <p14:cNvContentPartPr/>
                <p14:nvPr/>
              </p14:nvContentPartPr>
              <p14:xfrm>
                <a:off x="4657465" y="2584085"/>
                <a:ext cx="137160" cy="4680"/>
              </p14:xfrm>
            </p:contentPart>
          </mc:Choice>
          <mc:Fallback>
            <p:pic>
              <p:nvPicPr>
                <p:cNvPr id="49" name="Рукописный ввод 48">
                  <a:extLst>
                    <a:ext uri="{FF2B5EF4-FFF2-40B4-BE49-F238E27FC236}">
                      <a16:creationId xmlns:a16="http://schemas.microsoft.com/office/drawing/2014/main" id="{922CCD28-98BB-0A7F-C2E1-D8E3EAFC16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94465" y="2521445"/>
                  <a:ext cx="262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0" name="Рукописный ввод 49">
                  <a:extLst>
                    <a:ext uri="{FF2B5EF4-FFF2-40B4-BE49-F238E27FC236}">
                      <a16:creationId xmlns:a16="http://schemas.microsoft.com/office/drawing/2014/main" id="{548CABF6-AF97-0625-668F-F1581818658C}"/>
                    </a:ext>
                  </a:extLst>
                </p14:cNvPr>
                <p14:cNvContentPartPr/>
                <p14:nvPr/>
              </p14:nvContentPartPr>
              <p14:xfrm>
                <a:off x="4595185" y="2596325"/>
                <a:ext cx="169560" cy="10080"/>
              </p14:xfrm>
            </p:contentPart>
          </mc:Choice>
          <mc:Fallback>
            <p:pic>
              <p:nvPicPr>
                <p:cNvPr id="50" name="Рукописный ввод 49">
                  <a:extLst>
                    <a:ext uri="{FF2B5EF4-FFF2-40B4-BE49-F238E27FC236}">
                      <a16:creationId xmlns:a16="http://schemas.microsoft.com/office/drawing/2014/main" id="{548CABF6-AF97-0625-668F-F1581818658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32185" y="2533685"/>
                  <a:ext cx="29520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3" name="Рукописный ввод 52">
                <a:extLst>
                  <a:ext uri="{FF2B5EF4-FFF2-40B4-BE49-F238E27FC236}">
                    <a16:creationId xmlns:a16="http://schemas.microsoft.com/office/drawing/2014/main" id="{F602A4A1-C777-9854-97A0-DFEB08A47CF0}"/>
                  </a:ext>
                </a:extLst>
              </p14:cNvPr>
              <p14:cNvContentPartPr/>
              <p14:nvPr/>
            </p14:nvContentPartPr>
            <p14:xfrm>
              <a:off x="3755260" y="2531725"/>
              <a:ext cx="360" cy="360"/>
            </p14:xfrm>
          </p:contentPart>
        </mc:Choice>
        <mc:Fallback>
          <p:pic>
            <p:nvPicPr>
              <p:cNvPr id="53" name="Рукописный ввод 52">
                <a:extLst>
                  <a:ext uri="{FF2B5EF4-FFF2-40B4-BE49-F238E27FC236}">
                    <a16:creationId xmlns:a16="http://schemas.microsoft.com/office/drawing/2014/main" id="{F602A4A1-C777-9854-97A0-DFEB08A47C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92620" y="246872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54" name="Рукописный ввод 53">
                <a:extLst>
                  <a:ext uri="{FF2B5EF4-FFF2-40B4-BE49-F238E27FC236}">
                    <a16:creationId xmlns:a16="http://schemas.microsoft.com/office/drawing/2014/main" id="{AA8C0B83-9E6D-615D-454E-53476FD6AEF6}"/>
                  </a:ext>
                </a:extLst>
              </p14:cNvPr>
              <p14:cNvContentPartPr/>
              <p14:nvPr/>
            </p14:nvContentPartPr>
            <p14:xfrm>
              <a:off x="9342478" y="2201810"/>
              <a:ext cx="360" cy="360"/>
            </p14:xfrm>
          </p:contentPart>
        </mc:Choice>
        <mc:Fallback>
          <p:pic>
            <p:nvPicPr>
              <p:cNvPr id="54" name="Рукописный ввод 53">
                <a:extLst>
                  <a:ext uri="{FF2B5EF4-FFF2-40B4-BE49-F238E27FC236}">
                    <a16:creationId xmlns:a16="http://schemas.microsoft.com/office/drawing/2014/main" id="{AA8C0B83-9E6D-615D-454E-53476FD6AE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79838" y="213881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8064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A7B1A-23B7-AD99-1497-38B93655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Бэкенд: </a:t>
            </a:r>
            <a:r>
              <a:rPr lang="en" dirty="0"/>
              <a:t>REST API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3EB61F7-5C28-E213-1144-F95FE8F7A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793490"/>
              </p:ext>
            </p:extLst>
          </p:nvPr>
        </p:nvGraphicFramePr>
        <p:xfrm>
          <a:off x="326796" y="1574800"/>
          <a:ext cx="115384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136">
                  <a:extLst>
                    <a:ext uri="{9D8B030D-6E8A-4147-A177-3AD203B41FA5}">
                      <a16:colId xmlns:a16="http://schemas.microsoft.com/office/drawing/2014/main" val="1020798182"/>
                    </a:ext>
                  </a:extLst>
                </a:gridCol>
                <a:gridCol w="3846136">
                  <a:extLst>
                    <a:ext uri="{9D8B030D-6E8A-4147-A177-3AD203B41FA5}">
                      <a16:colId xmlns:a16="http://schemas.microsoft.com/office/drawing/2014/main" val="2545129335"/>
                    </a:ext>
                  </a:extLst>
                </a:gridCol>
                <a:gridCol w="3846136">
                  <a:extLst>
                    <a:ext uri="{9D8B030D-6E8A-4147-A177-3AD203B41FA5}">
                      <a16:colId xmlns:a16="http://schemas.microsoft.com/office/drawing/2014/main" val="118950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Метод</a:t>
                      </a:r>
                    </a:p>
                  </a:txBody>
                  <a:tcPr>
                    <a:solidFill>
                      <a:srgbClr val="01B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Путь</a:t>
                      </a:r>
                    </a:p>
                  </a:txBody>
                  <a:tcPr>
                    <a:solidFill>
                      <a:srgbClr val="01B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>
                    <a:solidFill>
                      <a:srgbClr val="01B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333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GET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`/</a:t>
                      </a:r>
                      <a:r>
                        <a:rPr lang="en" dirty="0" err="1"/>
                        <a:t>api</a:t>
                      </a:r>
                      <a:r>
                        <a:rPr lang="en" dirty="0"/>
                        <a:t>/health`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Проверка доступности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1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POST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`/</a:t>
                      </a:r>
                      <a:r>
                        <a:rPr lang="en" dirty="0" err="1"/>
                        <a:t>api</a:t>
                      </a:r>
                      <a:r>
                        <a:rPr lang="en" dirty="0"/>
                        <a:t>/auth/register`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Регистрация клиента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64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POST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`/</a:t>
                      </a:r>
                      <a:r>
                        <a:rPr lang="en" dirty="0" err="1"/>
                        <a:t>api</a:t>
                      </a:r>
                      <a:r>
                        <a:rPr lang="en" dirty="0"/>
                        <a:t>/auth/login`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Вход по телефону и паролю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872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GET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`/</a:t>
                      </a:r>
                      <a:r>
                        <a:rPr lang="en" dirty="0" err="1"/>
                        <a:t>api</a:t>
                      </a:r>
                      <a:r>
                        <a:rPr lang="en" dirty="0"/>
                        <a:t>/customers/{id}/dashboard`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Счета и транзакции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81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POST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`/</a:t>
                      </a:r>
                      <a:r>
                        <a:rPr lang="en" dirty="0" err="1"/>
                        <a:t>api</a:t>
                      </a:r>
                      <a:r>
                        <a:rPr lang="en" dirty="0"/>
                        <a:t>/customers/{id}/accounts`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Открытие счета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97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POST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`/</a:t>
                      </a:r>
                      <a:r>
                        <a:rPr lang="en" dirty="0" err="1"/>
                        <a:t>api</a:t>
                      </a:r>
                      <a:r>
                        <a:rPr lang="en" dirty="0"/>
                        <a:t>/customers/{id}/accounts/delete`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Закрытие счета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649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POST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`/</a:t>
                      </a:r>
                      <a:r>
                        <a:rPr lang="en" dirty="0" err="1"/>
                        <a:t>api</a:t>
                      </a:r>
                      <a:r>
                        <a:rPr lang="en" dirty="0"/>
                        <a:t>/customers/{id}/deposits`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Пополнение дебетового счета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05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GET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`/</a:t>
                      </a:r>
                      <a:r>
                        <a:rPr lang="en" dirty="0" err="1"/>
                        <a:t>api</a:t>
                      </a:r>
                      <a:r>
                        <a:rPr lang="en" dirty="0"/>
                        <a:t>/accounts/{number}/history`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История счета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048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POST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`/</a:t>
                      </a:r>
                      <a:r>
                        <a:rPr lang="en" dirty="0" err="1"/>
                        <a:t>api</a:t>
                      </a:r>
                      <a:r>
                        <a:rPr lang="en" dirty="0"/>
                        <a:t>/transfers`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Перевод между счетами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856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54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7AC48-1A91-DC7C-EDEF-D741C06D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Бэкенд: жизненный цикл перевода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29BA4-E100-97BA-2B62-3359FD1DA6FF}"/>
              </a:ext>
            </a:extLst>
          </p:cNvPr>
          <p:cNvSpPr txBox="1"/>
          <p:nvPr/>
        </p:nvSpPr>
        <p:spPr>
          <a:xfrm>
            <a:off x="751114" y="882321"/>
            <a:ext cx="1981200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Frontend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9E9BD-9486-9CA6-0512-EC68ABD6AADA}"/>
              </a:ext>
            </a:extLst>
          </p:cNvPr>
          <p:cNvSpPr txBox="1"/>
          <p:nvPr/>
        </p:nvSpPr>
        <p:spPr>
          <a:xfrm>
            <a:off x="1872031" y="1291113"/>
            <a:ext cx="2384283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>
                <a:latin typeface="Montserrat" panose="00000500000000000000" pitchFamily="2" charset="-52"/>
              </a:rPr>
              <a:t>POST /</a:t>
            </a:r>
            <a:r>
              <a:rPr lang="en" dirty="0" err="1">
                <a:latin typeface="Montserrat" panose="00000500000000000000" pitchFamily="2" charset="-52"/>
              </a:rPr>
              <a:t>api</a:t>
            </a:r>
            <a:r>
              <a:rPr lang="en" dirty="0">
                <a:latin typeface="Montserrat" panose="00000500000000000000" pitchFamily="2" charset="-52"/>
              </a:rPr>
              <a:t>/transfers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F8737A-AFF9-D431-4A31-A0264F4609FE}"/>
              </a:ext>
            </a:extLst>
          </p:cNvPr>
          <p:cNvSpPr txBox="1"/>
          <p:nvPr/>
        </p:nvSpPr>
        <p:spPr>
          <a:xfrm>
            <a:off x="751113" y="1898701"/>
            <a:ext cx="3951516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</a:rPr>
              <a:t>ApiServer.handleTransfers</a:t>
            </a: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()</a:t>
            </a:r>
            <a:endParaRPr lang="ru-RU" sz="20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69FD6-59C5-F653-9E6F-FD1A2811DE8E}"/>
              </a:ext>
            </a:extLst>
          </p:cNvPr>
          <p:cNvSpPr txBox="1"/>
          <p:nvPr/>
        </p:nvSpPr>
        <p:spPr>
          <a:xfrm>
            <a:off x="2808514" y="2282504"/>
            <a:ext cx="3102429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вызывает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A56141-C01D-6613-8BD7-651C12E51D6B}"/>
              </a:ext>
            </a:extLst>
          </p:cNvPr>
          <p:cNvSpPr txBox="1"/>
          <p:nvPr/>
        </p:nvSpPr>
        <p:spPr>
          <a:xfrm>
            <a:off x="751113" y="2915081"/>
            <a:ext cx="5519059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" sz="2000" b="1" dirty="0" err="1">
                <a:solidFill>
                  <a:schemeClr val="bg1"/>
                </a:solidFill>
                <a:latin typeface="Montserrat" panose="00000500000000000000" pitchFamily="2" charset="-52"/>
              </a:rPr>
              <a:t>CustomerPortalService.createTransfer</a:t>
            </a:r>
            <a:r>
              <a:rPr lang="en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()</a:t>
            </a:r>
            <a:endParaRPr lang="ru-RU" sz="20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45502-C90A-9C7A-8884-7EBA7F61712A}"/>
              </a:ext>
            </a:extLst>
          </p:cNvPr>
          <p:cNvSpPr txBox="1"/>
          <p:nvPr/>
        </p:nvSpPr>
        <p:spPr>
          <a:xfrm>
            <a:off x="4359728" y="3309661"/>
            <a:ext cx="3102429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вызывает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79BF93-B520-1825-F107-C4394E354894}"/>
              </a:ext>
            </a:extLst>
          </p:cNvPr>
          <p:cNvSpPr txBox="1"/>
          <p:nvPr/>
        </p:nvSpPr>
        <p:spPr>
          <a:xfrm>
            <a:off x="751113" y="3931461"/>
            <a:ext cx="4060373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" sz="2000" b="1" dirty="0" err="1">
                <a:solidFill>
                  <a:schemeClr val="bg1"/>
                </a:solidFill>
                <a:latin typeface="Montserrat" panose="00000500000000000000" pitchFamily="2" charset="-52"/>
              </a:rPr>
              <a:t>BankService.transferMoney</a:t>
            </a:r>
            <a:r>
              <a:rPr lang="en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()</a:t>
            </a:r>
            <a:endParaRPr lang="ru-RU" sz="20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A8DEE4-72B4-8DEE-C21E-47B27732E93C}"/>
              </a:ext>
            </a:extLst>
          </p:cNvPr>
          <p:cNvSpPr txBox="1"/>
          <p:nvPr/>
        </p:nvSpPr>
        <p:spPr>
          <a:xfrm>
            <a:off x="3336891" y="4326399"/>
            <a:ext cx="7733882" cy="1754326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 err="1">
                <a:latin typeface="Montserrat" panose="00000500000000000000" pitchFamily="2" charset="-52"/>
              </a:rPr>
              <a:t>TransactionBroker.inTransaction</a:t>
            </a:r>
            <a:r>
              <a:rPr lang="en" dirty="0">
                <a:latin typeface="Montserrat" panose="00000500000000000000" pitchFamily="2" charset="-52"/>
              </a:rPr>
              <a:t>() — </a:t>
            </a:r>
            <a:r>
              <a:rPr lang="ru-RU" dirty="0">
                <a:latin typeface="Montserrat" panose="00000500000000000000" pitchFamily="2" charset="-52"/>
              </a:rPr>
              <a:t>открывает БД-транзакцию, находит счета из </a:t>
            </a:r>
            <a:r>
              <a:rPr lang="en" dirty="0" err="1">
                <a:latin typeface="Montserrat" panose="00000500000000000000" pitchFamily="2" charset="-52"/>
              </a:rPr>
              <a:t>AccountRepository</a:t>
            </a:r>
            <a:r>
              <a:rPr lang="ru-RU" dirty="0">
                <a:latin typeface="Montserrat" panose="00000500000000000000" pitchFamily="2" charset="-52"/>
              </a:rPr>
              <a:t>, создает </a:t>
            </a:r>
            <a:r>
              <a:rPr lang="en" dirty="0" err="1">
                <a:latin typeface="Montserrat" panose="00000500000000000000" pitchFamily="2" charset="-52"/>
              </a:rPr>
              <a:t>TransferTransaction</a:t>
            </a:r>
            <a:r>
              <a:rPr lang="ru-RU" dirty="0">
                <a:latin typeface="Montserrat" panose="00000500000000000000" pitchFamily="2" charset="-52"/>
              </a:rPr>
              <a:t>, </a:t>
            </a:r>
            <a:r>
              <a:rPr lang="en" dirty="0" err="1">
                <a:latin typeface="Montserrat" panose="00000500000000000000" pitchFamily="2" charset="-52"/>
              </a:rPr>
              <a:t>transaction.execute</a:t>
            </a:r>
            <a:r>
              <a:rPr lang="en" dirty="0">
                <a:latin typeface="Montserrat" panose="00000500000000000000" pitchFamily="2" charset="-52"/>
              </a:rPr>
              <a:t>() </a:t>
            </a:r>
            <a:r>
              <a:rPr lang="ru-RU" dirty="0">
                <a:latin typeface="Montserrat" panose="00000500000000000000" pitchFamily="2" charset="-52"/>
              </a:rPr>
              <a:t>-</a:t>
            </a:r>
            <a:r>
              <a:rPr lang="en" dirty="0">
                <a:latin typeface="Montserrat" panose="00000500000000000000" pitchFamily="2" charset="-52"/>
              </a:rPr>
              <a:t> </a:t>
            </a:r>
            <a:r>
              <a:rPr lang="ru-RU" dirty="0">
                <a:latin typeface="Montserrat" panose="00000500000000000000" pitchFamily="2" charset="-52"/>
              </a:rPr>
              <a:t>списывает и зачисляет, сохраняет транзакцию в </a:t>
            </a:r>
            <a:r>
              <a:rPr lang="en" dirty="0" err="1">
                <a:latin typeface="Montserrat" panose="00000500000000000000" pitchFamily="2" charset="-52"/>
              </a:rPr>
              <a:t>TransactionRepository</a:t>
            </a:r>
            <a:r>
              <a:rPr lang="ru-RU" dirty="0">
                <a:latin typeface="Montserrat" panose="00000500000000000000" pitchFamily="2" charset="-52"/>
              </a:rPr>
              <a:t>, обновляет оба счета в </a:t>
            </a:r>
            <a:r>
              <a:rPr lang="en" dirty="0" err="1">
                <a:latin typeface="Montserrat" panose="00000500000000000000" pitchFamily="2" charset="-52"/>
              </a:rPr>
              <a:t>AccountRepository</a:t>
            </a:r>
            <a:r>
              <a:rPr lang="ru-RU" dirty="0">
                <a:latin typeface="Montserrat" panose="00000500000000000000" pitchFamily="2" charset="-52"/>
              </a:rPr>
              <a:t> </a:t>
            </a:r>
            <a:r>
              <a:rPr lang="en" dirty="0">
                <a:latin typeface="Montserrat" panose="00000500000000000000" pitchFamily="2" charset="-52"/>
              </a:rPr>
              <a:t>—</a:t>
            </a:r>
            <a:r>
              <a:rPr lang="ru-RU" dirty="0">
                <a:latin typeface="Montserrat" panose="00000500000000000000" pitchFamily="2" charset="-52"/>
              </a:rPr>
              <a:t> </a:t>
            </a:r>
            <a:r>
              <a:rPr lang="en" dirty="0">
                <a:latin typeface="Montserrat" panose="00000500000000000000" pitchFamily="2" charset="-52"/>
              </a:rPr>
              <a:t>commit() </a:t>
            </a:r>
            <a:r>
              <a:rPr lang="ru-RU" dirty="0">
                <a:latin typeface="Montserrat" panose="00000500000000000000" pitchFamily="2" charset="-52"/>
              </a:rPr>
              <a:t>или </a:t>
            </a:r>
            <a:r>
              <a:rPr lang="en" dirty="0">
                <a:latin typeface="Montserrat" panose="00000500000000000000" pitchFamily="2" charset="-52"/>
              </a:rPr>
              <a:t>rollback()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4FBDFF-51B0-0B48-4AE5-BEF791D28CE3}"/>
              </a:ext>
            </a:extLst>
          </p:cNvPr>
          <p:cNvSpPr txBox="1"/>
          <p:nvPr/>
        </p:nvSpPr>
        <p:spPr>
          <a:xfrm>
            <a:off x="751112" y="6275608"/>
            <a:ext cx="4191002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Возврат </a:t>
            </a:r>
            <a:r>
              <a:rPr lang="en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JSON </a:t>
            </a:r>
            <a:r>
              <a:rPr lang="ru-RU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с результатом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A3BB876-92E7-D5A1-FA8D-CC6FC1139AB2}"/>
              </a:ext>
            </a:extLst>
          </p:cNvPr>
          <p:cNvCxnSpPr/>
          <p:nvPr/>
        </p:nvCxnSpPr>
        <p:spPr>
          <a:xfrm>
            <a:off x="1055914" y="1282431"/>
            <a:ext cx="0" cy="612000"/>
          </a:xfrm>
          <a:prstGeom prst="straightConnector1">
            <a:avLst/>
          </a:prstGeom>
          <a:ln w="76200">
            <a:solidFill>
              <a:srgbClr val="01BBE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E85BD9D0-12E5-1E87-58D3-4379CC7E90C8}"/>
              </a:ext>
            </a:extLst>
          </p:cNvPr>
          <p:cNvCxnSpPr/>
          <p:nvPr/>
        </p:nvCxnSpPr>
        <p:spPr>
          <a:xfrm>
            <a:off x="1066799" y="2298811"/>
            <a:ext cx="0" cy="612000"/>
          </a:xfrm>
          <a:prstGeom prst="straightConnector1">
            <a:avLst/>
          </a:prstGeom>
          <a:ln w="76200">
            <a:solidFill>
              <a:srgbClr val="01BBE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727DF59F-03A9-A3D7-0B57-63CEA37A4A8C}"/>
              </a:ext>
            </a:extLst>
          </p:cNvPr>
          <p:cNvCxnSpPr/>
          <p:nvPr/>
        </p:nvCxnSpPr>
        <p:spPr>
          <a:xfrm>
            <a:off x="1066799" y="3319461"/>
            <a:ext cx="0" cy="6120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ADCFC280-83B0-045A-7674-C0F1AE58E8F0}"/>
              </a:ext>
            </a:extLst>
          </p:cNvPr>
          <p:cNvCxnSpPr>
            <a:cxnSpLocks/>
          </p:cNvCxnSpPr>
          <p:nvPr/>
        </p:nvCxnSpPr>
        <p:spPr>
          <a:xfrm>
            <a:off x="1066799" y="4326399"/>
            <a:ext cx="0" cy="194920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01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60317A-4999-50A8-95F6-92F84B05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Фронтенд: технологии и структура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8AFCB24-9BC2-7269-1DD9-3DF4E3E63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376083"/>
              </p:ext>
            </p:extLst>
          </p:nvPr>
        </p:nvGraphicFramePr>
        <p:xfrm>
          <a:off x="559572" y="1971522"/>
          <a:ext cx="5536428" cy="3351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214">
                  <a:extLst>
                    <a:ext uri="{9D8B030D-6E8A-4147-A177-3AD203B41FA5}">
                      <a16:colId xmlns:a16="http://schemas.microsoft.com/office/drawing/2014/main" val="1434767725"/>
                    </a:ext>
                  </a:extLst>
                </a:gridCol>
                <a:gridCol w="2768214">
                  <a:extLst>
                    <a:ext uri="{9D8B030D-6E8A-4147-A177-3AD203B41FA5}">
                      <a16:colId xmlns:a16="http://schemas.microsoft.com/office/drawing/2014/main" val="2769143201"/>
                    </a:ext>
                  </a:extLst>
                </a:gridCol>
              </a:tblGrid>
              <a:tr h="478799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Технологии</a:t>
                      </a:r>
                    </a:p>
                  </a:txBody>
                  <a:tcPr>
                    <a:solidFill>
                      <a:srgbClr val="01BB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776303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/>
                        <a:t>React 18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компонентный подход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827949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/>
                        <a:t>TypeScript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строгая типизация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094011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/>
                        <a:t>React Router 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SPA-</a:t>
                      </a:r>
                      <a:r>
                        <a:rPr lang="ru-RU" dirty="0"/>
                        <a:t>маршрутизация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968292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/>
                        <a:t>Tailwind CSS 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утилитарные стили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836921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/>
                        <a:t>Vite 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сборщик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326061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 err="1"/>
                        <a:t>lucide</a:t>
                      </a:r>
                      <a:r>
                        <a:rPr lang="en" dirty="0"/>
                        <a:t>-react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иконки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02599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D45543DC-FD90-21A5-8BDE-21BF35912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757342"/>
              </p:ext>
            </p:extLst>
          </p:nvPr>
        </p:nvGraphicFramePr>
        <p:xfrm>
          <a:off x="6220143" y="1971522"/>
          <a:ext cx="5536428" cy="3351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214">
                  <a:extLst>
                    <a:ext uri="{9D8B030D-6E8A-4147-A177-3AD203B41FA5}">
                      <a16:colId xmlns:a16="http://schemas.microsoft.com/office/drawing/2014/main" val="1434767725"/>
                    </a:ext>
                  </a:extLst>
                </a:gridCol>
                <a:gridCol w="2768214">
                  <a:extLst>
                    <a:ext uri="{9D8B030D-6E8A-4147-A177-3AD203B41FA5}">
                      <a16:colId xmlns:a16="http://schemas.microsoft.com/office/drawing/2014/main" val="2769143201"/>
                    </a:ext>
                  </a:extLst>
                </a:gridCol>
              </a:tblGrid>
              <a:tr h="478799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Страницы</a:t>
                      </a:r>
                    </a:p>
                  </a:txBody>
                  <a:tcPr>
                    <a:solidFill>
                      <a:srgbClr val="01BB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776303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/>
                        <a:t>`/login`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вход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827949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/>
                        <a:t>`/registration`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регистрация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094011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/>
                        <a:t>`/dashboard`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личный кабинет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968292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/>
                        <a:t>`/transfer`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перевод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836921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/>
                        <a:t>`/goals`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финансовые цели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326061"/>
                  </a:ext>
                </a:extLst>
              </a:tr>
              <a:tr h="478799">
                <a:tc>
                  <a:txBody>
                    <a:bodyPr/>
                    <a:lstStyle/>
                    <a:p>
                      <a:r>
                        <a:rPr lang="en" dirty="0"/>
                        <a:t>`/admin`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панель администратора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02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938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7CC96-2205-8E05-F0B1-BCCF5A91C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Контейнеризация: </a:t>
            </a:r>
            <a:r>
              <a:rPr lang="en" dirty="0"/>
              <a:t>Docker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B2F63-4C87-546F-53F8-DFCFF5403373}"/>
              </a:ext>
            </a:extLst>
          </p:cNvPr>
          <p:cNvSpPr txBox="1"/>
          <p:nvPr/>
        </p:nvSpPr>
        <p:spPr>
          <a:xfrm>
            <a:off x="559572" y="1154111"/>
            <a:ext cx="4343401" cy="52322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" sz="2800" b="1" dirty="0">
                <a:solidFill>
                  <a:schemeClr val="bg1"/>
                </a:solidFill>
                <a:latin typeface="Montserrat" panose="00000500000000000000" pitchFamily="2" charset="-52"/>
              </a:rPr>
              <a:t>docker compose up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D1948A-0399-2779-BB8C-7D8DD664A3E9}"/>
              </a:ext>
            </a:extLst>
          </p:cNvPr>
          <p:cNvSpPr txBox="1"/>
          <p:nvPr/>
        </p:nvSpPr>
        <p:spPr>
          <a:xfrm>
            <a:off x="2987816" y="1949121"/>
            <a:ext cx="4947870" cy="52322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" sz="2800" b="1" dirty="0">
                <a:solidFill>
                  <a:schemeClr val="bg1"/>
                </a:solidFill>
                <a:latin typeface="Montserrat" panose="00000500000000000000" pitchFamily="2" charset="-52"/>
              </a:rPr>
              <a:t>bank-simulator-backend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A4407C-6CBA-1A14-C496-D577773B35C5}"/>
              </a:ext>
            </a:extLst>
          </p:cNvPr>
          <p:cNvSpPr txBox="1"/>
          <p:nvPr/>
        </p:nvSpPr>
        <p:spPr>
          <a:xfrm>
            <a:off x="2987816" y="3862440"/>
            <a:ext cx="4947870" cy="52322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" sz="2800" b="1" dirty="0">
                <a:solidFill>
                  <a:schemeClr val="bg1"/>
                </a:solidFill>
                <a:latin typeface="Montserrat" panose="00000500000000000000" pitchFamily="2" charset="-52"/>
              </a:rPr>
              <a:t>bank-simulator-frontend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63396-1CCB-6F77-7881-D6822514A37C}"/>
              </a:ext>
            </a:extLst>
          </p:cNvPr>
          <p:cNvSpPr txBox="1"/>
          <p:nvPr/>
        </p:nvSpPr>
        <p:spPr>
          <a:xfrm>
            <a:off x="4060059" y="2472340"/>
            <a:ext cx="5606455" cy="1200329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 err="1">
                <a:latin typeface="Montserrat" panose="00000500000000000000" pitchFamily="2" charset="-52"/>
              </a:rPr>
              <a:t>Dockerfile.backend</a:t>
            </a:r>
            <a:endParaRPr lang="en" dirty="0">
              <a:latin typeface="Montserrat" panose="00000500000000000000" pitchFamily="2" charset="-52"/>
            </a:endParaRPr>
          </a:p>
          <a:p>
            <a:r>
              <a:rPr lang="en" dirty="0">
                <a:latin typeface="Montserrat" panose="00000500000000000000" pitchFamily="2" charset="-52"/>
              </a:rPr>
              <a:t>java -jar bank-</a:t>
            </a:r>
            <a:r>
              <a:rPr lang="en" dirty="0" err="1">
                <a:latin typeface="Montserrat" panose="00000500000000000000" pitchFamily="2" charset="-52"/>
              </a:rPr>
              <a:t>simulator.jar</a:t>
            </a:r>
            <a:endParaRPr lang="en" dirty="0">
              <a:latin typeface="Montserrat" panose="00000500000000000000" pitchFamily="2" charset="-52"/>
            </a:endParaRPr>
          </a:p>
          <a:p>
            <a:r>
              <a:rPr lang="en" dirty="0">
                <a:latin typeface="Montserrat" panose="00000500000000000000" pitchFamily="2" charset="-52"/>
              </a:rPr>
              <a:t>PORT 8080</a:t>
            </a:r>
          </a:p>
          <a:p>
            <a:r>
              <a:rPr lang="en" dirty="0">
                <a:latin typeface="Montserrat" panose="00000500000000000000" pitchFamily="2" charset="-52"/>
              </a:rPr>
              <a:t>volume: bank-data:/app/data  ← SQLite-</a:t>
            </a:r>
            <a:r>
              <a:rPr lang="ru-RU" dirty="0">
                <a:latin typeface="Montserrat" panose="00000500000000000000" pitchFamily="2" charset="-52"/>
              </a:rPr>
              <a:t>файл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5BCBBA-3507-2E23-7F2F-B6BB2963AD58}"/>
              </a:ext>
            </a:extLst>
          </p:cNvPr>
          <p:cNvSpPr txBox="1"/>
          <p:nvPr/>
        </p:nvSpPr>
        <p:spPr>
          <a:xfrm>
            <a:off x="4060059" y="4385660"/>
            <a:ext cx="6205170" cy="1477328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 err="1">
                <a:latin typeface="Montserrat" panose="00000500000000000000" pitchFamily="2" charset="-52"/>
              </a:rPr>
              <a:t>Dockerfile</a:t>
            </a:r>
            <a:r>
              <a:rPr lang="en" dirty="0">
                <a:latin typeface="Montserrat" panose="00000500000000000000" pitchFamily="2" charset="-52"/>
              </a:rPr>
              <a:t> (multi-stage build)</a:t>
            </a:r>
          </a:p>
          <a:p>
            <a:r>
              <a:rPr lang="en" dirty="0">
                <a:latin typeface="Montserrat" panose="00000500000000000000" pitchFamily="2" charset="-52"/>
              </a:rPr>
              <a:t>Stage 1: node:20-alpine → </a:t>
            </a:r>
            <a:r>
              <a:rPr lang="en" dirty="0" err="1">
                <a:latin typeface="Montserrat" panose="00000500000000000000" pitchFamily="2" charset="-52"/>
              </a:rPr>
              <a:t>npm</a:t>
            </a:r>
            <a:r>
              <a:rPr lang="en" dirty="0">
                <a:latin typeface="Montserrat" panose="00000500000000000000" pitchFamily="2" charset="-52"/>
              </a:rPr>
              <a:t> run build → /app/</a:t>
            </a:r>
            <a:r>
              <a:rPr lang="en" dirty="0" err="1">
                <a:latin typeface="Montserrat" panose="00000500000000000000" pitchFamily="2" charset="-52"/>
              </a:rPr>
              <a:t>dist</a:t>
            </a:r>
            <a:endParaRPr lang="en" dirty="0">
              <a:latin typeface="Montserrat" panose="00000500000000000000" pitchFamily="2" charset="-52"/>
            </a:endParaRPr>
          </a:p>
          <a:p>
            <a:r>
              <a:rPr lang="en" dirty="0">
                <a:latin typeface="Montserrat" panose="00000500000000000000" pitchFamily="2" charset="-52"/>
              </a:rPr>
              <a:t>Stage 2: nginx:1.27-alpine → </a:t>
            </a:r>
            <a:r>
              <a:rPr lang="ru-RU" dirty="0">
                <a:latin typeface="Montserrat" panose="00000500000000000000" pitchFamily="2" charset="-52"/>
              </a:rPr>
              <a:t>раздает </a:t>
            </a:r>
            <a:r>
              <a:rPr lang="en" dirty="0" err="1">
                <a:latin typeface="Montserrat" panose="00000500000000000000" pitchFamily="2" charset="-52"/>
              </a:rPr>
              <a:t>dist</a:t>
            </a:r>
            <a:r>
              <a:rPr lang="en" dirty="0">
                <a:latin typeface="Montserrat" panose="00000500000000000000" pitchFamily="2" charset="-52"/>
              </a:rPr>
              <a:t>/</a:t>
            </a:r>
          </a:p>
          <a:p>
            <a:r>
              <a:rPr lang="en" dirty="0">
                <a:latin typeface="Montserrat" panose="00000500000000000000" pitchFamily="2" charset="-52"/>
              </a:rPr>
              <a:t>PORT 5173:80</a:t>
            </a:r>
          </a:p>
          <a:p>
            <a:r>
              <a:rPr lang="en" dirty="0">
                <a:latin typeface="Montserrat" panose="00000500000000000000" pitchFamily="2" charset="-52"/>
              </a:rPr>
              <a:t>/</a:t>
            </a:r>
            <a:r>
              <a:rPr lang="en" dirty="0" err="1">
                <a:latin typeface="Montserrat" panose="00000500000000000000" pitchFamily="2" charset="-52"/>
              </a:rPr>
              <a:t>api</a:t>
            </a:r>
            <a:r>
              <a:rPr lang="en" dirty="0">
                <a:latin typeface="Montserrat" panose="00000500000000000000" pitchFamily="2" charset="-52"/>
              </a:rPr>
              <a:t>/* → </a:t>
            </a:r>
            <a:r>
              <a:rPr lang="en" dirty="0" err="1">
                <a:latin typeface="Montserrat" panose="00000500000000000000" pitchFamily="2" charset="-52"/>
              </a:rPr>
              <a:t>proxy_pass</a:t>
            </a:r>
            <a:r>
              <a:rPr lang="en" dirty="0">
                <a:latin typeface="Montserrat" panose="00000500000000000000" pitchFamily="2" charset="-52"/>
              </a:rPr>
              <a:t> → backend:8080</a:t>
            </a:r>
            <a:endParaRPr lang="ru-RU" dirty="0">
              <a:latin typeface="Montserrat" panose="00000500000000000000" pitchFamily="2" charset="-52"/>
            </a:endParaRPr>
          </a:p>
        </p:txBody>
      </p: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6687563E-EBE8-F668-BCD6-3AB42AF26183}"/>
              </a:ext>
            </a:extLst>
          </p:cNvPr>
          <p:cNvCxnSpPr>
            <a:endCxn id="7" idx="1"/>
          </p:cNvCxnSpPr>
          <p:nvPr/>
        </p:nvCxnSpPr>
        <p:spPr>
          <a:xfrm>
            <a:off x="1001486" y="1677331"/>
            <a:ext cx="1986330" cy="533400"/>
          </a:xfrm>
          <a:prstGeom prst="bentConnector3">
            <a:avLst>
              <a:gd name="adj1" fmla="val -419"/>
            </a:avLst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>
            <a:extLst>
              <a:ext uri="{FF2B5EF4-FFF2-40B4-BE49-F238E27FC236}">
                <a16:creationId xmlns:a16="http://schemas.microsoft.com/office/drawing/2014/main" id="{68984C1F-0A60-C058-3E74-32DFF1851372}"/>
              </a:ext>
            </a:extLst>
          </p:cNvPr>
          <p:cNvCxnSpPr>
            <a:endCxn id="8" idx="1"/>
          </p:cNvCxnSpPr>
          <p:nvPr/>
        </p:nvCxnSpPr>
        <p:spPr>
          <a:xfrm>
            <a:off x="1001486" y="2210731"/>
            <a:ext cx="1986330" cy="1913319"/>
          </a:xfrm>
          <a:prstGeom prst="bentConnector3">
            <a:avLst>
              <a:gd name="adj1" fmla="val -419"/>
            </a:avLst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045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E1F310-DBB3-5A96-370A-D9632D64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dirty="0"/>
              <a:t>SOLID: S — Single Responsibility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385269-580C-6C5C-1832-5E6E503580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2" y="1353290"/>
            <a:ext cx="4872399" cy="584775"/>
          </a:xfrm>
        </p:spPr>
        <p:txBody>
          <a:bodyPr/>
          <a:lstStyle/>
          <a:p>
            <a:r>
              <a:rPr lang="en" dirty="0"/>
              <a:t>S — </a:t>
            </a:r>
            <a:r>
              <a:rPr lang="ru-RU" dirty="0"/>
              <a:t>Единственная ответственность. Каждый класс отвечает только за одно.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CAF01BF-441C-E7FB-C121-22D965EE9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189488"/>
              </p:ext>
            </p:extLst>
          </p:nvPr>
        </p:nvGraphicFramePr>
        <p:xfrm>
          <a:off x="559572" y="2131060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3071757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83364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Класс</a:t>
                      </a:r>
                    </a:p>
                  </a:txBody>
                  <a:tcPr>
                    <a:solidFill>
                      <a:srgbClr val="01BB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Ответственность</a:t>
                      </a:r>
                    </a:p>
                  </a:txBody>
                  <a:tcPr>
                    <a:solidFill>
                      <a:srgbClr val="01B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33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`</a:t>
                      </a:r>
                      <a:r>
                        <a:rPr lang="en" dirty="0" err="1"/>
                        <a:t>AuthService</a:t>
                      </a:r>
                      <a:r>
                        <a:rPr lang="en" dirty="0"/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Регистрация и аутентификация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79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`</a:t>
                      </a:r>
                      <a:r>
                        <a:rPr lang="en" dirty="0" err="1"/>
                        <a:t>BankService</a:t>
                      </a:r>
                      <a:r>
                        <a:rPr lang="en" dirty="0"/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Банковские сценарии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52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`</a:t>
                      </a:r>
                      <a:r>
                        <a:rPr lang="en" dirty="0" err="1"/>
                        <a:t>CustomerPortalService</a:t>
                      </a:r>
                      <a:r>
                        <a:rPr lang="en" dirty="0"/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Связь </a:t>
                      </a:r>
                      <a:r>
                        <a:rPr lang="en" dirty="0"/>
                        <a:t>HTTP </a:t>
                      </a:r>
                      <a:r>
                        <a:rPr lang="ru-RU" dirty="0"/>
                        <a:t>с сервисами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19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`</a:t>
                      </a:r>
                      <a:r>
                        <a:rPr lang="en" dirty="0" err="1"/>
                        <a:t>AuthCredentialsValidator</a:t>
                      </a:r>
                      <a:r>
                        <a:rPr lang="en" dirty="0"/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Проверка формата логина и пароля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75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`Database`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Подключение к </a:t>
                      </a:r>
                      <a:r>
                        <a:rPr lang="en" dirty="0"/>
                        <a:t>SQLite </a:t>
                      </a:r>
                      <a:r>
                        <a:rPr lang="ru-RU" dirty="0"/>
                        <a:t>и схема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32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`</a:t>
                      </a:r>
                      <a:r>
                        <a:rPr lang="en" dirty="0" err="1"/>
                        <a:t>SqliteTransactionBroker</a:t>
                      </a:r>
                      <a:r>
                        <a:rPr lang="en" dirty="0"/>
                        <a:t>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Атомарность через </a:t>
                      </a:r>
                      <a:r>
                        <a:rPr lang="en" dirty="0"/>
                        <a:t>JDBC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307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464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28DAE-CF9E-BA20-772F-E597A24B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dirty="0"/>
              <a:t>SOLID: O — Open/Closed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30C946-652B-CAE9-F0E6-180D9FF7A6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2" y="1307123"/>
            <a:ext cx="6243999" cy="338554"/>
          </a:xfrm>
        </p:spPr>
        <p:txBody>
          <a:bodyPr/>
          <a:lstStyle/>
          <a:p>
            <a:r>
              <a:rPr lang="en" dirty="0"/>
              <a:t>O — </a:t>
            </a:r>
            <a:r>
              <a:rPr lang="ru-RU" dirty="0"/>
              <a:t>Открыт для расширения, закрыт для изменения.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05145684-2A27-141D-09AD-190791C9A99D}"/>
              </a:ext>
            </a:extLst>
          </p:cNvPr>
          <p:cNvSpPr/>
          <p:nvPr/>
        </p:nvSpPr>
        <p:spPr>
          <a:xfrm>
            <a:off x="642257" y="1839686"/>
            <a:ext cx="6161314" cy="3298371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F414A7-9B3B-52B7-CF90-8ED03D735595}"/>
              </a:ext>
            </a:extLst>
          </p:cNvPr>
          <p:cNvSpPr txBox="1"/>
          <p:nvPr/>
        </p:nvSpPr>
        <p:spPr>
          <a:xfrm>
            <a:off x="881743" y="1934599"/>
            <a:ext cx="453521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400" b="1" dirty="0">
                <a:latin typeface="Montserrat" panose="00000500000000000000" pitchFamily="2" charset="-52"/>
              </a:rPr>
              <a:t>// </a:t>
            </a:r>
            <a:r>
              <a:rPr lang="ru-RU" sz="1400" b="1" dirty="0">
                <a:latin typeface="Montserrat" panose="00000500000000000000" pitchFamily="2" charset="-52"/>
              </a:rPr>
              <a:t>Базовый класс закрыт для изменений</a:t>
            </a:r>
          </a:p>
          <a:p>
            <a:endParaRPr lang="ru-RU" sz="1400" b="1" dirty="0">
              <a:latin typeface="Montserrat" panose="00000500000000000000" pitchFamily="2" charset="-52"/>
            </a:endParaRPr>
          </a:p>
          <a:p>
            <a:r>
              <a:rPr lang="en" sz="1400" dirty="0">
                <a:latin typeface="Montserrat" panose="00000500000000000000" pitchFamily="2" charset="-52"/>
              </a:rPr>
              <a:t>abstract class Account {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    void deposit(</a:t>
            </a:r>
            <a:r>
              <a:rPr lang="en" sz="1400" dirty="0" err="1">
                <a:latin typeface="Montserrat" panose="00000500000000000000" pitchFamily="2" charset="-52"/>
              </a:rPr>
              <a:t>BigDecimal</a:t>
            </a:r>
            <a:r>
              <a:rPr lang="en" sz="1400" dirty="0">
                <a:latin typeface="Montserrat" panose="00000500000000000000" pitchFamily="2" charset="-52"/>
              </a:rPr>
              <a:t> amount) { ... }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    void withdraw(</a:t>
            </a:r>
            <a:r>
              <a:rPr lang="en" sz="1400" dirty="0" err="1">
                <a:latin typeface="Montserrat" panose="00000500000000000000" pitchFamily="2" charset="-52"/>
              </a:rPr>
              <a:t>BigDecimal</a:t>
            </a:r>
            <a:r>
              <a:rPr lang="en" sz="1400" dirty="0">
                <a:latin typeface="Montserrat" panose="00000500000000000000" pitchFamily="2" charset="-52"/>
              </a:rPr>
              <a:t> amount) { ... }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}</a:t>
            </a:r>
          </a:p>
          <a:p>
            <a:r>
              <a:rPr lang="en" sz="1400" b="1" dirty="0">
                <a:latin typeface="Montserrat" panose="00000500000000000000" pitchFamily="2" charset="-52"/>
              </a:rPr>
              <a:t>// </a:t>
            </a:r>
            <a:r>
              <a:rPr lang="ru-RU" sz="1400" b="1" dirty="0">
                <a:latin typeface="Montserrat" panose="00000500000000000000" pitchFamily="2" charset="-52"/>
              </a:rPr>
              <a:t>Новый тип — просто наследник</a:t>
            </a:r>
          </a:p>
          <a:p>
            <a:endParaRPr lang="ru-RU" sz="1400" b="1" dirty="0">
              <a:latin typeface="Montserrat" panose="00000500000000000000" pitchFamily="2" charset="-52"/>
            </a:endParaRPr>
          </a:p>
          <a:p>
            <a:r>
              <a:rPr lang="en" sz="1400" dirty="0">
                <a:latin typeface="Montserrat" panose="00000500000000000000" pitchFamily="2" charset="-52"/>
              </a:rPr>
              <a:t>class </a:t>
            </a:r>
            <a:r>
              <a:rPr lang="en" sz="1400" dirty="0" err="1">
                <a:latin typeface="Montserrat" panose="00000500000000000000" pitchFamily="2" charset="-52"/>
              </a:rPr>
              <a:t>CreditAccount</a:t>
            </a:r>
            <a:r>
              <a:rPr lang="en" sz="1400" dirty="0">
                <a:latin typeface="Montserrat" panose="00000500000000000000" pitchFamily="2" charset="-52"/>
              </a:rPr>
              <a:t> extends Account {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    @Override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    void withdraw(</a:t>
            </a:r>
            <a:r>
              <a:rPr lang="en" sz="1400" dirty="0" err="1">
                <a:latin typeface="Montserrat" panose="00000500000000000000" pitchFamily="2" charset="-52"/>
              </a:rPr>
              <a:t>BigDecimal</a:t>
            </a:r>
            <a:r>
              <a:rPr lang="en" sz="1400" dirty="0">
                <a:latin typeface="Montserrat" panose="00000500000000000000" pitchFamily="2" charset="-52"/>
              </a:rPr>
              <a:t> amount) {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        // </a:t>
            </a:r>
            <a:r>
              <a:rPr lang="ru-RU" sz="1400" dirty="0">
                <a:latin typeface="Montserrat" panose="00000500000000000000" pitchFamily="2" charset="-52"/>
              </a:rPr>
              <a:t>своя логика: сначала баланс, потом долг</a:t>
            </a:r>
          </a:p>
          <a:p>
            <a:r>
              <a:rPr lang="ru-RU" sz="1400" dirty="0">
                <a:latin typeface="Montserrat" panose="00000500000000000000" pitchFamily="2" charset="-52"/>
              </a:rPr>
              <a:t>    }</a:t>
            </a:r>
          </a:p>
          <a:p>
            <a:r>
              <a:rPr lang="ru-RU" sz="1400" dirty="0">
                <a:latin typeface="Montserrat" panose="00000500000000000000" pitchFamily="2" charset="-52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8BDE0D-AC1B-7879-AB9F-2C9F8504497F}"/>
              </a:ext>
            </a:extLst>
          </p:cNvPr>
          <p:cNvSpPr txBox="1"/>
          <p:nvPr/>
        </p:nvSpPr>
        <p:spPr>
          <a:xfrm>
            <a:off x="7620000" y="2459504"/>
            <a:ext cx="3788229" cy="193899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Montserrat" panose="00000500000000000000" pitchFamily="2" charset="-52"/>
              </a:rPr>
              <a:t>Чтобы добавить </a:t>
            </a:r>
            <a:r>
              <a:rPr lang="en" sz="2000" dirty="0" err="1">
                <a:latin typeface="Montserrat" panose="00000500000000000000" pitchFamily="2" charset="-52"/>
              </a:rPr>
              <a:t>BusinessAccount</a:t>
            </a:r>
            <a:r>
              <a:rPr lang="en" sz="2000" dirty="0">
                <a:latin typeface="Montserrat" panose="00000500000000000000" pitchFamily="2" charset="-52"/>
              </a:rPr>
              <a:t> — </a:t>
            </a:r>
            <a:r>
              <a:rPr lang="ru-RU" sz="2000" dirty="0">
                <a:latin typeface="Montserrat" panose="00000500000000000000" pitchFamily="2" charset="-52"/>
              </a:rPr>
              <a:t>нужен только новый класс-наследник. Существующий код </a:t>
            </a:r>
            <a:r>
              <a:rPr lang="en" sz="2000" dirty="0">
                <a:latin typeface="Montserrat" panose="00000500000000000000" pitchFamily="2" charset="-52"/>
              </a:rPr>
              <a:t>Account </a:t>
            </a:r>
            <a:r>
              <a:rPr lang="ru-RU" sz="2000" dirty="0">
                <a:latin typeface="Montserrat" panose="00000500000000000000" pitchFamily="2" charset="-52"/>
              </a:rPr>
              <a:t>не меняется.</a:t>
            </a:r>
          </a:p>
        </p:txBody>
      </p:sp>
    </p:spTree>
    <p:extLst>
      <p:ext uri="{BB962C8B-B14F-4D97-AF65-F5344CB8AC3E}">
        <p14:creationId xmlns:p14="http://schemas.microsoft.com/office/powerpoint/2010/main" val="4018627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3BC67-126C-81FF-8952-F533FA02D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dirty="0"/>
              <a:t>SOLID: L — </a:t>
            </a:r>
            <a:r>
              <a:rPr lang="ru-RU" dirty="0"/>
              <a:t>Подстановка Лисков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7DFAF4D-F8D4-D686-7CF8-2FD70934A707}"/>
              </a:ext>
            </a:extLst>
          </p:cNvPr>
          <p:cNvSpPr/>
          <p:nvPr/>
        </p:nvSpPr>
        <p:spPr>
          <a:xfrm>
            <a:off x="642257" y="1839686"/>
            <a:ext cx="6161314" cy="3298371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C2037F-0B7F-8C9B-E64D-57B87C29DA2A}"/>
              </a:ext>
            </a:extLst>
          </p:cNvPr>
          <p:cNvSpPr txBox="1"/>
          <p:nvPr/>
        </p:nvSpPr>
        <p:spPr>
          <a:xfrm>
            <a:off x="881743" y="1934599"/>
            <a:ext cx="58456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400" b="1" dirty="0">
                <a:latin typeface="Montserrat" panose="00000500000000000000" pitchFamily="2" charset="-52"/>
              </a:rPr>
              <a:t>// </a:t>
            </a:r>
            <a:r>
              <a:rPr lang="en" sz="1400" b="1" dirty="0" err="1">
                <a:latin typeface="Montserrat" panose="00000500000000000000" pitchFamily="2" charset="-52"/>
              </a:rPr>
              <a:t>TransferTransaction</a:t>
            </a:r>
            <a:r>
              <a:rPr lang="en" sz="1400" b="1" dirty="0">
                <a:latin typeface="Montserrat" panose="00000500000000000000" pitchFamily="2" charset="-52"/>
              </a:rPr>
              <a:t> </a:t>
            </a:r>
            <a:r>
              <a:rPr lang="ru-RU" sz="1400" b="1" dirty="0">
                <a:latin typeface="Montserrat" panose="00000500000000000000" pitchFamily="2" charset="-52"/>
              </a:rPr>
              <a:t>работает с </a:t>
            </a:r>
            <a:r>
              <a:rPr lang="en" sz="1400" b="1" dirty="0">
                <a:latin typeface="Montserrat" panose="00000500000000000000" pitchFamily="2" charset="-52"/>
              </a:rPr>
              <a:t>Account,</a:t>
            </a:r>
          </a:p>
          <a:p>
            <a:r>
              <a:rPr lang="en" sz="1400" b="1" dirty="0">
                <a:latin typeface="Montserrat" panose="00000500000000000000" pitchFamily="2" charset="-52"/>
              </a:rPr>
              <a:t>// </a:t>
            </a:r>
            <a:r>
              <a:rPr lang="ru-RU" sz="1400" b="1" dirty="0">
                <a:latin typeface="Montserrat" panose="00000500000000000000" pitchFamily="2" charset="-52"/>
              </a:rPr>
              <a:t>не зная о конкретном типе</a:t>
            </a:r>
          </a:p>
          <a:p>
            <a:endParaRPr lang="ru-RU" sz="1400" b="1" dirty="0">
              <a:latin typeface="Montserrat" panose="00000500000000000000" pitchFamily="2" charset="-52"/>
            </a:endParaRPr>
          </a:p>
          <a:p>
            <a:r>
              <a:rPr lang="en" sz="1400" dirty="0">
                <a:latin typeface="Montserrat" panose="00000500000000000000" pitchFamily="2" charset="-52"/>
              </a:rPr>
              <a:t>public class </a:t>
            </a:r>
            <a:r>
              <a:rPr lang="en" sz="1400" dirty="0" err="1">
                <a:latin typeface="Montserrat" panose="00000500000000000000" pitchFamily="2" charset="-52"/>
              </a:rPr>
              <a:t>TransferTransaction</a:t>
            </a:r>
            <a:r>
              <a:rPr lang="en" sz="1400" dirty="0">
                <a:latin typeface="Montserrat" panose="00000500000000000000" pitchFamily="2" charset="-52"/>
              </a:rPr>
              <a:t> extends Transaction {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    private final Account </a:t>
            </a:r>
            <a:r>
              <a:rPr lang="en" sz="1400" dirty="0" err="1">
                <a:latin typeface="Montserrat" panose="00000500000000000000" pitchFamily="2" charset="-52"/>
              </a:rPr>
              <a:t>fromAccount</a:t>
            </a:r>
            <a:r>
              <a:rPr lang="en" sz="1400" dirty="0">
                <a:latin typeface="Montserrat" panose="00000500000000000000" pitchFamily="2" charset="-52"/>
              </a:rPr>
              <a:t>; </a:t>
            </a:r>
            <a:r>
              <a:rPr lang="en" sz="1400" b="1" dirty="0">
                <a:latin typeface="Montserrat" panose="00000500000000000000" pitchFamily="2" charset="-52"/>
              </a:rPr>
              <a:t>// </a:t>
            </a:r>
            <a:r>
              <a:rPr lang="ru-RU" sz="1400" b="1" dirty="0">
                <a:latin typeface="Montserrat" panose="00000500000000000000" pitchFamily="2" charset="-52"/>
              </a:rPr>
              <a:t>может быть ЛЮБЫМ типом счета</a:t>
            </a:r>
          </a:p>
          <a:p>
            <a:r>
              <a:rPr lang="ru-RU" sz="1400" dirty="0">
                <a:latin typeface="Montserrat" panose="00000500000000000000" pitchFamily="2" charset="-52"/>
              </a:rPr>
              <a:t>    </a:t>
            </a:r>
            <a:r>
              <a:rPr lang="en" sz="1400" dirty="0">
                <a:latin typeface="Montserrat" panose="00000500000000000000" pitchFamily="2" charset="-52"/>
              </a:rPr>
              <a:t>private final Account </a:t>
            </a:r>
            <a:r>
              <a:rPr lang="en" sz="1400" dirty="0" err="1">
                <a:latin typeface="Montserrat" panose="00000500000000000000" pitchFamily="2" charset="-52"/>
              </a:rPr>
              <a:t>toAccount</a:t>
            </a:r>
            <a:r>
              <a:rPr lang="en" sz="1400" dirty="0">
                <a:latin typeface="Montserrat" panose="00000500000000000000" pitchFamily="2" charset="-52"/>
              </a:rPr>
              <a:t>;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    </a:t>
            </a:r>
            <a:endParaRPr lang="ru-RU" sz="1400" dirty="0">
              <a:latin typeface="Montserrat" panose="00000500000000000000" pitchFamily="2" charset="-52"/>
            </a:endParaRPr>
          </a:p>
          <a:p>
            <a:r>
              <a:rPr lang="en" sz="1400" dirty="0">
                <a:latin typeface="Montserrat" panose="00000500000000000000" pitchFamily="2" charset="-52"/>
              </a:rPr>
              <a:t>void execute() {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        </a:t>
            </a:r>
            <a:r>
              <a:rPr lang="en" sz="1400" dirty="0" err="1">
                <a:latin typeface="Montserrat" panose="00000500000000000000" pitchFamily="2" charset="-52"/>
              </a:rPr>
              <a:t>fromAccount.withdraw</a:t>
            </a:r>
            <a:r>
              <a:rPr lang="en" sz="1400" dirty="0">
                <a:latin typeface="Montserrat" panose="00000500000000000000" pitchFamily="2" charset="-52"/>
              </a:rPr>
              <a:t>(</a:t>
            </a:r>
            <a:r>
              <a:rPr lang="en" sz="1400" dirty="0" err="1">
                <a:latin typeface="Montserrat" panose="00000500000000000000" pitchFamily="2" charset="-52"/>
              </a:rPr>
              <a:t>getAmount</a:t>
            </a:r>
            <a:r>
              <a:rPr lang="en" sz="1400" dirty="0">
                <a:latin typeface="Montserrat" panose="00000500000000000000" pitchFamily="2" charset="-52"/>
              </a:rPr>
              <a:t>()); </a:t>
            </a:r>
            <a:r>
              <a:rPr lang="en" sz="1400" b="1" dirty="0">
                <a:latin typeface="Montserrat" panose="00000500000000000000" pitchFamily="2" charset="-52"/>
              </a:rPr>
              <a:t>// </a:t>
            </a:r>
            <a:r>
              <a:rPr lang="ru-RU" sz="1400" b="1" dirty="0">
                <a:latin typeface="Montserrat" panose="00000500000000000000" pitchFamily="2" charset="-52"/>
              </a:rPr>
              <a:t>работает для </a:t>
            </a:r>
            <a:r>
              <a:rPr lang="en" sz="1400" b="1" dirty="0">
                <a:latin typeface="Montserrat" panose="00000500000000000000" pitchFamily="2" charset="-52"/>
              </a:rPr>
              <a:t>Debit, Savings, Credit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        </a:t>
            </a:r>
            <a:r>
              <a:rPr lang="en" sz="1400" dirty="0" err="1">
                <a:latin typeface="Montserrat" panose="00000500000000000000" pitchFamily="2" charset="-52"/>
              </a:rPr>
              <a:t>toAccount.deposit</a:t>
            </a:r>
            <a:r>
              <a:rPr lang="en" sz="1400" dirty="0">
                <a:latin typeface="Montserrat" panose="00000500000000000000" pitchFamily="2" charset="-52"/>
              </a:rPr>
              <a:t>(</a:t>
            </a:r>
            <a:r>
              <a:rPr lang="en" sz="1400" dirty="0" err="1">
                <a:latin typeface="Montserrat" panose="00000500000000000000" pitchFamily="2" charset="-52"/>
              </a:rPr>
              <a:t>getAmount</a:t>
            </a:r>
            <a:r>
              <a:rPr lang="en" sz="1400" dirty="0">
                <a:latin typeface="Montserrat" panose="00000500000000000000" pitchFamily="2" charset="-52"/>
              </a:rPr>
              <a:t>());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    }</a:t>
            </a:r>
          </a:p>
          <a:p>
            <a:r>
              <a:rPr lang="en" sz="1400" dirty="0">
                <a:latin typeface="Montserrat" panose="00000500000000000000" pitchFamily="2" charset="-52"/>
              </a:rPr>
              <a:t>}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09725-5391-20B6-A05D-5679A0C9BF44}"/>
              </a:ext>
            </a:extLst>
          </p:cNvPr>
          <p:cNvSpPr txBox="1"/>
          <p:nvPr/>
        </p:nvSpPr>
        <p:spPr>
          <a:xfrm>
            <a:off x="7620000" y="2305615"/>
            <a:ext cx="3788229" cy="2246769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sz="2000" dirty="0" err="1">
                <a:latin typeface="Montserrat" panose="00000500000000000000" pitchFamily="2" charset="-52"/>
              </a:rPr>
              <a:t>DebitAccount</a:t>
            </a:r>
            <a:r>
              <a:rPr lang="en" sz="2000" dirty="0">
                <a:latin typeface="Montserrat" panose="00000500000000000000" pitchFamily="2" charset="-52"/>
              </a:rPr>
              <a:t>, </a:t>
            </a:r>
            <a:r>
              <a:rPr lang="en" sz="2000" dirty="0" err="1">
                <a:latin typeface="Montserrat" panose="00000500000000000000" pitchFamily="2" charset="-52"/>
              </a:rPr>
              <a:t>SavingsAccount</a:t>
            </a:r>
            <a:r>
              <a:rPr lang="en" sz="2000" dirty="0">
                <a:latin typeface="Montserrat" panose="00000500000000000000" pitchFamily="2" charset="-52"/>
              </a:rPr>
              <a:t> </a:t>
            </a:r>
            <a:r>
              <a:rPr lang="ru-RU" sz="2000" dirty="0">
                <a:latin typeface="Montserrat" panose="00000500000000000000" pitchFamily="2" charset="-52"/>
              </a:rPr>
              <a:t>и </a:t>
            </a:r>
            <a:r>
              <a:rPr lang="en" sz="2000" dirty="0" err="1">
                <a:latin typeface="Montserrat" panose="00000500000000000000" pitchFamily="2" charset="-52"/>
              </a:rPr>
              <a:t>CreditAccount</a:t>
            </a:r>
            <a:r>
              <a:rPr lang="en" sz="2000" dirty="0">
                <a:latin typeface="Montserrat" panose="00000500000000000000" pitchFamily="2" charset="-52"/>
              </a:rPr>
              <a:t> </a:t>
            </a:r>
            <a:r>
              <a:rPr lang="ru-RU" sz="2000" dirty="0">
                <a:latin typeface="Montserrat" panose="00000500000000000000" pitchFamily="2" charset="-52"/>
              </a:rPr>
              <a:t>используются там, где ожидается </a:t>
            </a:r>
            <a:r>
              <a:rPr lang="en" sz="2000" dirty="0">
                <a:latin typeface="Montserrat" panose="00000500000000000000" pitchFamily="2" charset="-52"/>
              </a:rPr>
              <a:t>Account, </a:t>
            </a:r>
            <a:r>
              <a:rPr lang="ru-RU" sz="2000" dirty="0">
                <a:latin typeface="Montserrat" panose="00000500000000000000" pitchFamily="2" charset="-52"/>
              </a:rPr>
              <a:t>не нарушая инварианты базового класса.</a:t>
            </a:r>
          </a:p>
        </p:txBody>
      </p:sp>
    </p:spTree>
    <p:extLst>
      <p:ext uri="{BB962C8B-B14F-4D97-AF65-F5344CB8AC3E}">
        <p14:creationId xmlns:p14="http://schemas.microsoft.com/office/powerpoint/2010/main" val="4149157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B19C6-F381-41BC-ADE2-14267F9AC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dirty="0"/>
              <a:t>SOLID: I — </a:t>
            </a:r>
            <a:r>
              <a:rPr lang="ru-RU" dirty="0"/>
              <a:t>Разделение интерфейсов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5EA477-25FC-1310-353E-C00EBD50E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10302" y="1249192"/>
            <a:ext cx="4208371" cy="338554"/>
          </a:xfrm>
          <a:ln w="19050">
            <a:solidFill>
              <a:srgbClr val="01BBEE"/>
            </a:solidFill>
          </a:ln>
        </p:spPr>
        <p:txBody>
          <a:bodyPr/>
          <a:lstStyle/>
          <a:p>
            <a:r>
              <a:rPr lang="ru-RU" dirty="0"/>
              <a:t>Вместо одного репозитория всего: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DD241AA-FC32-127F-83F9-72ADF80E33AA}"/>
              </a:ext>
            </a:extLst>
          </p:cNvPr>
          <p:cNvSpPr/>
          <p:nvPr/>
        </p:nvSpPr>
        <p:spPr>
          <a:xfrm>
            <a:off x="1393371" y="1804479"/>
            <a:ext cx="2413074" cy="1489041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909C15-2EA6-BB4E-20AC-51CF8B471120}"/>
              </a:ext>
            </a:extLst>
          </p:cNvPr>
          <p:cNvSpPr txBox="1"/>
          <p:nvPr/>
        </p:nvSpPr>
        <p:spPr>
          <a:xfrm>
            <a:off x="1534004" y="1908525"/>
            <a:ext cx="205857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sz="1400" b="1" dirty="0" err="1">
                <a:latin typeface="Montserrat" panose="00000500000000000000" pitchFamily="2" charset="-52"/>
              </a:rPr>
              <a:t>AccountRepository</a:t>
            </a:r>
            <a:endParaRPr lang="en" sz="1400" b="1" dirty="0">
              <a:latin typeface="Montserrat" panose="00000500000000000000" pitchFamily="2" charset="-52"/>
            </a:endParaRPr>
          </a:p>
          <a:p>
            <a:pPr algn="ctr"/>
            <a:endParaRPr lang="en" sz="1400" b="1" dirty="0">
              <a:latin typeface="Montserrat" panose="00000500000000000000" pitchFamily="2" charset="-52"/>
            </a:endParaRPr>
          </a:p>
          <a:p>
            <a:pPr algn="ctr"/>
            <a:r>
              <a:rPr lang="en" sz="1400" dirty="0" err="1">
                <a:latin typeface="Montserrat" panose="00000500000000000000" pitchFamily="2" charset="-52"/>
              </a:rPr>
              <a:t>findByNumber</a:t>
            </a:r>
            <a:r>
              <a:rPr lang="en" sz="1400" dirty="0">
                <a:latin typeface="Montserrat" panose="00000500000000000000" pitchFamily="2" charset="-52"/>
              </a:rPr>
              <a:t>()</a:t>
            </a:r>
          </a:p>
          <a:p>
            <a:pPr algn="ctr"/>
            <a:r>
              <a:rPr lang="en" sz="1400" dirty="0">
                <a:latin typeface="Montserrat" panose="00000500000000000000" pitchFamily="2" charset="-52"/>
              </a:rPr>
              <a:t>save()</a:t>
            </a:r>
          </a:p>
          <a:p>
            <a:pPr algn="ctr"/>
            <a:r>
              <a:rPr lang="en" sz="1400" dirty="0" err="1">
                <a:latin typeface="Montserrat" panose="00000500000000000000" pitchFamily="2" charset="-52"/>
              </a:rPr>
              <a:t>findByCustomer</a:t>
            </a:r>
            <a:r>
              <a:rPr lang="en" sz="1400" dirty="0">
                <a:latin typeface="Montserrat" panose="00000500000000000000" pitchFamily="2" charset="-52"/>
              </a:rPr>
              <a:t>()</a:t>
            </a:r>
          </a:p>
          <a:p>
            <a:pPr algn="ctr"/>
            <a:r>
              <a:rPr lang="en" sz="1400" dirty="0">
                <a:latin typeface="Montserrat" panose="00000500000000000000" pitchFamily="2" charset="-52"/>
              </a:rPr>
              <a:t>delete()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5A07282-93AF-DEAA-7D6C-76EF5C62DCF3}"/>
              </a:ext>
            </a:extLst>
          </p:cNvPr>
          <p:cNvSpPr/>
          <p:nvPr/>
        </p:nvSpPr>
        <p:spPr>
          <a:xfrm>
            <a:off x="4441371" y="1804479"/>
            <a:ext cx="2413074" cy="1489041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88EC4-2262-C77A-E810-57D7F51FC123}"/>
              </a:ext>
            </a:extLst>
          </p:cNvPr>
          <p:cNvSpPr txBox="1"/>
          <p:nvPr/>
        </p:nvSpPr>
        <p:spPr>
          <a:xfrm>
            <a:off x="4835025" y="1925128"/>
            <a:ext cx="16257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1400" b="1" dirty="0" err="1">
                <a:latin typeface="Montserrat" panose="00000500000000000000" pitchFamily="2" charset="-52"/>
              </a:rPr>
              <a:t>UserRepository</a:t>
            </a:r>
            <a:endParaRPr lang="ru-RU" sz="1400" b="1" dirty="0">
              <a:latin typeface="Montserrat" panose="00000500000000000000" pitchFamily="2" charset="-52"/>
            </a:endParaRPr>
          </a:p>
          <a:p>
            <a:pPr algn="ctr"/>
            <a:endParaRPr lang="en" sz="1400" b="1" dirty="0">
              <a:latin typeface="Montserrat" panose="00000500000000000000" pitchFamily="2" charset="-52"/>
            </a:endParaRPr>
          </a:p>
          <a:p>
            <a:pPr algn="ctr"/>
            <a:r>
              <a:rPr lang="en" sz="1400" dirty="0" err="1">
                <a:latin typeface="Montserrat" panose="00000500000000000000" pitchFamily="2" charset="-52"/>
              </a:rPr>
              <a:t>findByLogin</a:t>
            </a:r>
            <a:r>
              <a:rPr lang="en" sz="1400" dirty="0">
                <a:latin typeface="Montserrat" panose="00000500000000000000" pitchFamily="2" charset="-52"/>
              </a:rPr>
              <a:t>()</a:t>
            </a:r>
          </a:p>
          <a:p>
            <a:pPr algn="ctr"/>
            <a:r>
              <a:rPr lang="en" sz="1400" dirty="0">
                <a:latin typeface="Montserrat" panose="00000500000000000000" pitchFamily="2" charset="-52"/>
              </a:rPr>
              <a:t>save()</a:t>
            </a:r>
            <a:endParaRPr lang="ru-RU" sz="1400" dirty="0">
              <a:latin typeface="Montserrat" panose="00000500000000000000" pitchFamily="2" charset="-52"/>
            </a:endParaRPr>
          </a:p>
          <a:p>
            <a:pPr algn="ctr"/>
            <a:r>
              <a:rPr lang="en" sz="1400" dirty="0">
                <a:latin typeface="Montserrat" panose="00000500000000000000" pitchFamily="2" charset="-52"/>
              </a:rPr>
              <a:t>delete()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67CF8E0A-8EF4-C4F3-A113-9F181FD3D8B9}"/>
              </a:ext>
            </a:extLst>
          </p:cNvPr>
          <p:cNvSpPr/>
          <p:nvPr/>
        </p:nvSpPr>
        <p:spPr>
          <a:xfrm>
            <a:off x="1393371" y="3510253"/>
            <a:ext cx="2413074" cy="1384995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850E1-6C12-81A6-51C3-E686639F250D}"/>
              </a:ext>
            </a:extLst>
          </p:cNvPr>
          <p:cNvSpPr txBox="1"/>
          <p:nvPr/>
        </p:nvSpPr>
        <p:spPr>
          <a:xfrm>
            <a:off x="1501944" y="3614299"/>
            <a:ext cx="212269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sz="1400" b="1" dirty="0" err="1">
                <a:latin typeface="Montserrat" panose="00000500000000000000" pitchFamily="2" charset="-52"/>
              </a:rPr>
              <a:t>CustomerRepository</a:t>
            </a:r>
            <a:endParaRPr lang="en" sz="1400" b="1" dirty="0">
              <a:latin typeface="Montserrat" panose="00000500000000000000" pitchFamily="2" charset="-52"/>
            </a:endParaRPr>
          </a:p>
          <a:p>
            <a:pPr algn="ctr"/>
            <a:endParaRPr lang="en" sz="1400" b="1" dirty="0">
              <a:latin typeface="Montserrat" panose="00000500000000000000" pitchFamily="2" charset="-52"/>
            </a:endParaRPr>
          </a:p>
          <a:p>
            <a:pPr algn="ctr"/>
            <a:r>
              <a:rPr lang="en" sz="1400" dirty="0" err="1">
                <a:latin typeface="Montserrat" panose="00000500000000000000" pitchFamily="2" charset="-52"/>
              </a:rPr>
              <a:t>findByCustomerId</a:t>
            </a:r>
            <a:r>
              <a:rPr lang="en" sz="1400" dirty="0">
                <a:latin typeface="Montserrat" panose="00000500000000000000" pitchFamily="2" charset="-52"/>
              </a:rPr>
              <a:t>()</a:t>
            </a:r>
          </a:p>
          <a:p>
            <a:pPr algn="ctr"/>
            <a:r>
              <a:rPr lang="en" sz="1400" dirty="0">
                <a:latin typeface="Montserrat" panose="00000500000000000000" pitchFamily="2" charset="-52"/>
              </a:rPr>
              <a:t>save()</a:t>
            </a:r>
          </a:p>
          <a:p>
            <a:pPr algn="ctr"/>
            <a:r>
              <a:rPr lang="en" sz="1400" dirty="0">
                <a:latin typeface="Montserrat" panose="00000500000000000000" pitchFamily="2" charset="-52"/>
              </a:rPr>
              <a:t>delete()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99CF60B4-F1E7-542B-9A23-31E60DB7307A}"/>
              </a:ext>
            </a:extLst>
          </p:cNvPr>
          <p:cNvSpPr/>
          <p:nvPr/>
        </p:nvSpPr>
        <p:spPr>
          <a:xfrm>
            <a:off x="4441371" y="3510253"/>
            <a:ext cx="2413074" cy="1384995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C06F79-C2D5-D662-2EC9-C496B8F99DA2}"/>
              </a:ext>
            </a:extLst>
          </p:cNvPr>
          <p:cNvSpPr txBox="1"/>
          <p:nvPr/>
        </p:nvSpPr>
        <p:spPr>
          <a:xfrm>
            <a:off x="4441370" y="3630902"/>
            <a:ext cx="241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1400" b="1" dirty="0" err="1">
                <a:latin typeface="Montserrat" panose="00000500000000000000" pitchFamily="2" charset="-52"/>
              </a:rPr>
              <a:t>TransactionRepository</a:t>
            </a:r>
            <a:endParaRPr lang="ru-RU" sz="1400" b="1" dirty="0">
              <a:latin typeface="Montserrat" panose="00000500000000000000" pitchFamily="2" charset="-52"/>
            </a:endParaRPr>
          </a:p>
          <a:p>
            <a:pPr algn="ctr"/>
            <a:endParaRPr lang="en" sz="1400" b="1" dirty="0">
              <a:latin typeface="Montserrat" panose="00000500000000000000" pitchFamily="2" charset="-52"/>
            </a:endParaRPr>
          </a:p>
          <a:p>
            <a:pPr algn="ctr"/>
            <a:r>
              <a:rPr lang="en" sz="1400" dirty="0">
                <a:latin typeface="Montserrat" panose="00000500000000000000" pitchFamily="2" charset="-52"/>
              </a:rPr>
              <a:t>save()</a:t>
            </a:r>
            <a:endParaRPr lang="ru-RU" sz="1400" dirty="0">
              <a:latin typeface="Montserrat" panose="00000500000000000000" pitchFamily="2" charset="-52"/>
            </a:endParaRPr>
          </a:p>
          <a:p>
            <a:pPr algn="ctr"/>
            <a:r>
              <a:rPr lang="en" sz="1400" dirty="0" err="1">
                <a:latin typeface="Montserrat" panose="00000500000000000000" pitchFamily="2" charset="-52"/>
              </a:rPr>
              <a:t>findByAccountNumber</a:t>
            </a:r>
            <a:r>
              <a:rPr lang="en" sz="1400" dirty="0">
                <a:latin typeface="Montserrat" panose="00000500000000000000" pitchFamily="2" charset="-52"/>
              </a:rPr>
              <a:t>()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EF09D702-C4D5-B5E9-2A48-AB414ED931C0}"/>
              </a:ext>
            </a:extLst>
          </p:cNvPr>
          <p:cNvSpPr/>
          <p:nvPr/>
        </p:nvSpPr>
        <p:spPr>
          <a:xfrm>
            <a:off x="2906485" y="5111981"/>
            <a:ext cx="2413074" cy="1384995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FC7A70-43B5-4D99-0C9D-484133567F0F}"/>
              </a:ext>
            </a:extLst>
          </p:cNvPr>
          <p:cNvSpPr txBox="1"/>
          <p:nvPr/>
        </p:nvSpPr>
        <p:spPr>
          <a:xfrm>
            <a:off x="3110436" y="5216027"/>
            <a:ext cx="193193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sz="1400" b="1" dirty="0" err="1">
                <a:latin typeface="Montserrat" panose="00000500000000000000" pitchFamily="2" charset="-52"/>
              </a:rPr>
              <a:t>TransactionBroker</a:t>
            </a:r>
            <a:endParaRPr lang="en" sz="1400" b="1" dirty="0">
              <a:latin typeface="Montserrat" panose="00000500000000000000" pitchFamily="2" charset="-52"/>
            </a:endParaRPr>
          </a:p>
          <a:p>
            <a:pPr algn="ctr"/>
            <a:endParaRPr lang="en" sz="1400" b="1" dirty="0">
              <a:latin typeface="Montserrat" panose="00000500000000000000" pitchFamily="2" charset="-52"/>
            </a:endParaRPr>
          </a:p>
          <a:p>
            <a:pPr algn="ctr"/>
            <a:r>
              <a:rPr lang="en" sz="1400" dirty="0" err="1">
                <a:latin typeface="Montserrat" panose="00000500000000000000" pitchFamily="2" charset="-52"/>
              </a:rPr>
              <a:t>inTransaction</a:t>
            </a:r>
            <a:r>
              <a:rPr lang="en" sz="1400" dirty="0">
                <a:latin typeface="Montserrat" panose="00000500000000000000" pitchFamily="2" charset="-52"/>
              </a:rPr>
              <a:t>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C9658-0C4A-8BA8-E7EA-16BFEE78ABA5}"/>
              </a:ext>
            </a:extLst>
          </p:cNvPr>
          <p:cNvSpPr txBox="1"/>
          <p:nvPr/>
        </p:nvSpPr>
        <p:spPr>
          <a:xfrm>
            <a:off x="7620000" y="2305615"/>
            <a:ext cx="3788229" cy="2246769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sz="2000" dirty="0">
                <a:latin typeface="Montserrat" panose="00000500000000000000" pitchFamily="2" charset="-52"/>
              </a:rPr>
              <a:t>`</a:t>
            </a:r>
            <a:r>
              <a:rPr lang="en" sz="2000" dirty="0" err="1">
                <a:latin typeface="Montserrat" panose="00000500000000000000" pitchFamily="2" charset="-52"/>
              </a:rPr>
              <a:t>BankService</a:t>
            </a:r>
            <a:r>
              <a:rPr lang="en" sz="2000" dirty="0">
                <a:latin typeface="Montserrat" panose="00000500000000000000" pitchFamily="2" charset="-52"/>
              </a:rPr>
              <a:t>` </a:t>
            </a:r>
            <a:r>
              <a:rPr lang="ru-RU" sz="2000" dirty="0">
                <a:latin typeface="Montserrat" panose="00000500000000000000" pitchFamily="2" charset="-52"/>
              </a:rPr>
              <a:t>зависит только от `</a:t>
            </a:r>
            <a:r>
              <a:rPr lang="en" sz="2000" dirty="0" err="1">
                <a:latin typeface="Montserrat" panose="00000500000000000000" pitchFamily="2" charset="-52"/>
              </a:rPr>
              <a:t>AccountRepository</a:t>
            </a:r>
            <a:r>
              <a:rPr lang="en" sz="2000" dirty="0">
                <a:latin typeface="Montserrat" panose="00000500000000000000" pitchFamily="2" charset="-52"/>
              </a:rPr>
              <a:t>`, `</a:t>
            </a:r>
            <a:r>
              <a:rPr lang="en" sz="2000" dirty="0" err="1">
                <a:latin typeface="Montserrat" panose="00000500000000000000" pitchFamily="2" charset="-52"/>
              </a:rPr>
              <a:t>CustomerRepository</a:t>
            </a:r>
            <a:r>
              <a:rPr lang="en" sz="2000" dirty="0">
                <a:latin typeface="Montserrat" panose="00000500000000000000" pitchFamily="2" charset="-52"/>
              </a:rPr>
              <a:t>`, `</a:t>
            </a:r>
            <a:r>
              <a:rPr lang="en" sz="2000" dirty="0" err="1">
                <a:latin typeface="Montserrat" panose="00000500000000000000" pitchFamily="2" charset="-52"/>
              </a:rPr>
              <a:t>TransactionRepository</a:t>
            </a:r>
            <a:r>
              <a:rPr lang="en" sz="2000" dirty="0">
                <a:latin typeface="Montserrat" panose="00000500000000000000" pitchFamily="2" charset="-52"/>
              </a:rPr>
              <a:t>`, `</a:t>
            </a:r>
            <a:r>
              <a:rPr lang="en" sz="2000" dirty="0" err="1">
                <a:latin typeface="Montserrat" panose="00000500000000000000" pitchFamily="2" charset="-52"/>
              </a:rPr>
              <a:t>TransactionBroker</a:t>
            </a:r>
            <a:r>
              <a:rPr lang="en" sz="2000" dirty="0">
                <a:latin typeface="Montserrat" panose="00000500000000000000" pitchFamily="2" charset="-52"/>
              </a:rPr>
              <a:t>` — </a:t>
            </a:r>
            <a:r>
              <a:rPr lang="ru-RU" sz="2000" dirty="0">
                <a:latin typeface="Montserrat" panose="00000500000000000000" pitchFamily="2" charset="-52"/>
              </a:rPr>
              <a:t>и не видит ничего лишнего.</a:t>
            </a:r>
          </a:p>
        </p:txBody>
      </p:sp>
    </p:spTree>
    <p:extLst>
      <p:ext uri="{BB962C8B-B14F-4D97-AF65-F5344CB8AC3E}">
        <p14:creationId xmlns:p14="http://schemas.microsoft.com/office/powerpoint/2010/main" val="2165344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A5A3F-CB15-34DC-7CE0-D5ACDD9F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dirty="0"/>
              <a:t>SOLID: D — </a:t>
            </a:r>
            <a:r>
              <a:rPr lang="ru-RU" dirty="0"/>
              <a:t>Инверсия зависимостей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DB2BD-DE55-DE7B-C976-07EADB8EC3D1}"/>
              </a:ext>
            </a:extLst>
          </p:cNvPr>
          <p:cNvSpPr txBox="1"/>
          <p:nvPr/>
        </p:nvSpPr>
        <p:spPr>
          <a:xfrm>
            <a:off x="559572" y="2727397"/>
            <a:ext cx="1981200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</a:rPr>
              <a:t>BankService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3B916-BED5-28B8-D6FD-423452287BD3}"/>
              </a:ext>
            </a:extLst>
          </p:cNvPr>
          <p:cNvSpPr txBox="1"/>
          <p:nvPr/>
        </p:nvSpPr>
        <p:spPr>
          <a:xfrm>
            <a:off x="6025973" y="2461097"/>
            <a:ext cx="3836484" cy="923330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 err="1">
                <a:latin typeface="Montserrat" panose="00000500000000000000" pitchFamily="2" charset="-52"/>
              </a:rPr>
              <a:t>AccountRepository</a:t>
            </a:r>
            <a:r>
              <a:rPr lang="en" dirty="0">
                <a:latin typeface="Montserrat" panose="00000500000000000000" pitchFamily="2" charset="-52"/>
              </a:rPr>
              <a:t> (interface)</a:t>
            </a:r>
          </a:p>
          <a:p>
            <a:r>
              <a:rPr lang="en" dirty="0" err="1">
                <a:latin typeface="Montserrat" panose="00000500000000000000" pitchFamily="2" charset="-52"/>
              </a:rPr>
              <a:t>CustomerRepository</a:t>
            </a:r>
            <a:r>
              <a:rPr lang="en" dirty="0">
                <a:latin typeface="Montserrat" panose="00000500000000000000" pitchFamily="2" charset="-52"/>
              </a:rPr>
              <a:t> (interface)</a:t>
            </a:r>
          </a:p>
          <a:p>
            <a:r>
              <a:rPr lang="en" dirty="0" err="1">
                <a:latin typeface="Montserrat" panose="00000500000000000000" pitchFamily="2" charset="-52"/>
              </a:rPr>
              <a:t>TransactionBroker</a:t>
            </a:r>
            <a:r>
              <a:rPr lang="en" dirty="0">
                <a:latin typeface="Montserrat" panose="00000500000000000000" pitchFamily="2" charset="-52"/>
              </a:rPr>
              <a:t>  (interface)</a:t>
            </a:r>
            <a:endParaRPr lang="ru-RU" dirty="0">
              <a:latin typeface="Montserrat" panose="00000500000000000000" pitchFamily="2" charset="-52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CDC7760-759D-D570-F6CD-166219BDDF85}"/>
              </a:ext>
            </a:extLst>
          </p:cNvPr>
          <p:cNvCxnSpPr>
            <a:stCxn id="5" idx="3"/>
          </p:cNvCxnSpPr>
          <p:nvPr/>
        </p:nvCxnSpPr>
        <p:spPr>
          <a:xfrm flipV="1">
            <a:off x="2540772" y="2922762"/>
            <a:ext cx="3485202" cy="469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996B8A6-7B7D-D47C-5A70-0133537B1493}"/>
              </a:ext>
            </a:extLst>
          </p:cNvPr>
          <p:cNvSpPr txBox="1"/>
          <p:nvPr/>
        </p:nvSpPr>
        <p:spPr>
          <a:xfrm>
            <a:off x="2761417" y="2522827"/>
            <a:ext cx="3043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</a:rPr>
              <a:t>Зависит от интерфейсов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53E31D-D583-A90C-F581-87A5FB5EC437}"/>
              </a:ext>
            </a:extLst>
          </p:cNvPr>
          <p:cNvSpPr txBox="1"/>
          <p:nvPr/>
        </p:nvSpPr>
        <p:spPr>
          <a:xfrm>
            <a:off x="559574" y="3657724"/>
            <a:ext cx="3185114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</a:rPr>
              <a:t>SqlAccountRepository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26B278-40A5-D5ED-34AD-3DE7B6113A32}"/>
              </a:ext>
            </a:extLst>
          </p:cNvPr>
          <p:cNvSpPr txBox="1"/>
          <p:nvPr/>
        </p:nvSpPr>
        <p:spPr>
          <a:xfrm>
            <a:off x="6058944" y="3668423"/>
            <a:ext cx="3836484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 err="1">
                <a:latin typeface="Montserrat" panose="00000500000000000000" pitchFamily="2" charset="-52"/>
              </a:rPr>
              <a:t>AccountRepository</a:t>
            </a:r>
            <a:endParaRPr lang="ru-RU" dirty="0">
              <a:latin typeface="Montserrat" panose="00000500000000000000" pitchFamily="2" charset="-52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E9ECE4E-8FAB-654E-0FE1-26D9E956FD54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744688" y="3853089"/>
            <a:ext cx="2314256" cy="469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40FBE00-BFEB-39D4-E9EF-D6F46658D1FB}"/>
              </a:ext>
            </a:extLst>
          </p:cNvPr>
          <p:cNvSpPr txBox="1"/>
          <p:nvPr/>
        </p:nvSpPr>
        <p:spPr>
          <a:xfrm>
            <a:off x="3936819" y="3252212"/>
            <a:ext cx="1868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Montserrat" panose="00000500000000000000" pitchFamily="2" charset="-52"/>
              </a:rPr>
              <a:t>Реализует интерфейсы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31EAEE-9858-3EBC-791D-D93F3C041A4A}"/>
              </a:ext>
            </a:extLst>
          </p:cNvPr>
          <p:cNvSpPr txBox="1"/>
          <p:nvPr/>
        </p:nvSpPr>
        <p:spPr>
          <a:xfrm>
            <a:off x="559572" y="4498533"/>
            <a:ext cx="3424911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</a:rPr>
              <a:t>SqliteTransactionBroker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A2BBF0-B4A2-FCAA-20FC-B6D55F9D2CD2}"/>
              </a:ext>
            </a:extLst>
          </p:cNvPr>
          <p:cNvSpPr txBox="1"/>
          <p:nvPr/>
        </p:nvSpPr>
        <p:spPr>
          <a:xfrm>
            <a:off x="6058943" y="4509232"/>
            <a:ext cx="3836484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 err="1">
                <a:latin typeface="Montserrat" panose="00000500000000000000" pitchFamily="2" charset="-52"/>
              </a:rPr>
              <a:t>TransactionBroker</a:t>
            </a:r>
            <a:endParaRPr lang="ru-RU" dirty="0">
              <a:latin typeface="Montserrat" panose="00000500000000000000" pitchFamily="2" charset="-52"/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186E85F1-99EE-750F-E911-3C53B303ED3E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984483" y="4693898"/>
            <a:ext cx="2041492" cy="469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69F6E1E-09A5-EC5F-78C2-88F16F08D907}"/>
              </a:ext>
            </a:extLst>
          </p:cNvPr>
          <p:cNvSpPr txBox="1"/>
          <p:nvPr/>
        </p:nvSpPr>
        <p:spPr>
          <a:xfrm>
            <a:off x="559575" y="5257980"/>
            <a:ext cx="899113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Main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4668E1-76DA-4EAF-2AC1-AF3E5FCEFA54}"/>
              </a:ext>
            </a:extLst>
          </p:cNvPr>
          <p:cNvSpPr txBox="1"/>
          <p:nvPr/>
        </p:nvSpPr>
        <p:spPr>
          <a:xfrm>
            <a:off x="5328141" y="5268679"/>
            <a:ext cx="4567288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>
                <a:latin typeface="Montserrat" panose="00000500000000000000" pitchFamily="2" charset="-52"/>
              </a:rPr>
              <a:t>new </a:t>
            </a:r>
            <a:r>
              <a:rPr lang="en" dirty="0" err="1">
                <a:latin typeface="Montserrat" panose="00000500000000000000" pitchFamily="2" charset="-52"/>
              </a:rPr>
              <a:t>SqlAccountRepository</a:t>
            </a:r>
            <a:r>
              <a:rPr lang="en" dirty="0">
                <a:latin typeface="Montserrat" panose="00000500000000000000" pitchFamily="2" charset="-52"/>
              </a:rPr>
              <a:t>(database)</a:t>
            </a:r>
            <a:endParaRPr lang="ru-RU" dirty="0">
              <a:latin typeface="Montserrat" panose="00000500000000000000" pitchFamily="2" charset="-52"/>
            </a:endParaRP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76E6A510-8561-AD94-8498-00E75FD36E8D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1458686" y="5453345"/>
            <a:ext cx="3852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4A2E213-2B19-8A88-BF45-193CF0710582}"/>
              </a:ext>
            </a:extLst>
          </p:cNvPr>
          <p:cNvSpPr txBox="1"/>
          <p:nvPr/>
        </p:nvSpPr>
        <p:spPr>
          <a:xfrm>
            <a:off x="1833073" y="5146982"/>
            <a:ext cx="2118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Montserrat" panose="00000500000000000000" pitchFamily="2" charset="-52"/>
              </a:rPr>
              <a:t>связывает в </a:t>
            </a:r>
            <a:r>
              <a:rPr lang="en" sz="1600" b="1" dirty="0">
                <a:latin typeface="Montserrat" panose="00000500000000000000" pitchFamily="2" charset="-52"/>
              </a:rPr>
              <a:t>Main</a:t>
            </a:r>
            <a:endParaRPr lang="ru-RU" sz="1600" b="1" dirty="0">
              <a:latin typeface="Montserrat" panose="00000500000000000000" pitchFamily="2" charset="-5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8614D2-5106-5D73-06E1-0F35233A09AB}"/>
              </a:ext>
            </a:extLst>
          </p:cNvPr>
          <p:cNvSpPr txBox="1"/>
          <p:nvPr/>
        </p:nvSpPr>
        <p:spPr>
          <a:xfrm>
            <a:off x="559574" y="6098789"/>
            <a:ext cx="899114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Main</a:t>
            </a:r>
            <a:endParaRPr lang="ru-RU" sz="20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8B2FFE-AA26-B687-AAE7-DE20E0376525}"/>
              </a:ext>
            </a:extLst>
          </p:cNvPr>
          <p:cNvSpPr txBox="1"/>
          <p:nvPr/>
        </p:nvSpPr>
        <p:spPr>
          <a:xfrm>
            <a:off x="3951515" y="6109488"/>
            <a:ext cx="5943913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>
                <a:latin typeface="Montserrat" panose="00000500000000000000" pitchFamily="2" charset="-52"/>
              </a:rPr>
              <a:t>new </a:t>
            </a:r>
            <a:r>
              <a:rPr lang="en" dirty="0" err="1">
                <a:latin typeface="Montserrat" panose="00000500000000000000" pitchFamily="2" charset="-52"/>
              </a:rPr>
              <a:t>BankService</a:t>
            </a:r>
            <a:r>
              <a:rPr lang="en" dirty="0">
                <a:latin typeface="Montserrat" panose="00000500000000000000" pitchFamily="2" charset="-52"/>
              </a:rPr>
              <a:t>(</a:t>
            </a:r>
            <a:r>
              <a:rPr lang="en" dirty="0" err="1">
                <a:latin typeface="Montserrat" panose="00000500000000000000" pitchFamily="2" charset="-52"/>
              </a:rPr>
              <a:t>accountRepo</a:t>
            </a:r>
            <a:r>
              <a:rPr lang="en" dirty="0">
                <a:latin typeface="Montserrat" panose="00000500000000000000" pitchFamily="2" charset="-52"/>
              </a:rPr>
              <a:t>, </a:t>
            </a:r>
            <a:r>
              <a:rPr lang="en" dirty="0" err="1">
                <a:latin typeface="Montserrat" panose="00000500000000000000" pitchFamily="2" charset="-52"/>
              </a:rPr>
              <a:t>customerRepo</a:t>
            </a:r>
            <a:r>
              <a:rPr lang="en" dirty="0">
                <a:latin typeface="Montserrat" panose="00000500000000000000" pitchFamily="2" charset="-52"/>
              </a:rPr>
              <a:t>, ...)</a:t>
            </a:r>
            <a:endParaRPr lang="ru-RU" dirty="0">
              <a:latin typeface="Montserrat" panose="00000500000000000000" pitchFamily="2" charset="-52"/>
            </a:endParaRPr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86600877-F2B7-A97D-22D9-91718E3B32D4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1458688" y="6294154"/>
            <a:ext cx="2484000" cy="469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687C334-3897-73AA-B69D-79D54CA0964B}"/>
              </a:ext>
            </a:extLst>
          </p:cNvPr>
          <p:cNvSpPr txBox="1"/>
          <p:nvPr/>
        </p:nvSpPr>
        <p:spPr>
          <a:xfrm>
            <a:off x="3936818" y="4121508"/>
            <a:ext cx="1868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Montserrat" panose="00000500000000000000" pitchFamily="2" charset="-52"/>
              </a:rPr>
              <a:t>Реализует интерфейсы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843549-04B8-AC8F-F625-DD395DDDE839}"/>
              </a:ext>
            </a:extLst>
          </p:cNvPr>
          <p:cNvSpPr txBox="1"/>
          <p:nvPr/>
        </p:nvSpPr>
        <p:spPr>
          <a:xfrm>
            <a:off x="1785408" y="5955600"/>
            <a:ext cx="2118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Montserrat" panose="00000500000000000000" pitchFamily="2" charset="-52"/>
              </a:rPr>
              <a:t>связывает в </a:t>
            </a:r>
            <a:r>
              <a:rPr lang="en" sz="1600" b="1" dirty="0">
                <a:latin typeface="Montserrat" panose="00000500000000000000" pitchFamily="2" charset="-52"/>
              </a:rPr>
              <a:t>Main</a:t>
            </a:r>
            <a:endParaRPr lang="ru-RU" sz="1600" b="1" dirty="0">
              <a:latin typeface="Montserrat" panose="00000500000000000000" pitchFamily="2" charset="-5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60C286-D90C-6356-696A-5C344602DF0F}"/>
              </a:ext>
            </a:extLst>
          </p:cNvPr>
          <p:cNvSpPr txBox="1"/>
          <p:nvPr/>
        </p:nvSpPr>
        <p:spPr>
          <a:xfrm>
            <a:off x="559572" y="1350983"/>
            <a:ext cx="9335855" cy="707886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sz="2000" dirty="0">
                <a:latin typeface="Montserrat" panose="00000500000000000000" pitchFamily="2" charset="-52"/>
              </a:rPr>
              <a:t>Domain </a:t>
            </a:r>
            <a:r>
              <a:rPr lang="ru-RU" sz="2000" dirty="0">
                <a:latin typeface="Montserrat" panose="00000500000000000000" pitchFamily="2" charset="-52"/>
              </a:rPr>
              <a:t>и </a:t>
            </a:r>
            <a:r>
              <a:rPr lang="en" sz="2000" dirty="0">
                <a:latin typeface="Montserrat" panose="00000500000000000000" pitchFamily="2" charset="-52"/>
              </a:rPr>
              <a:t>Application </a:t>
            </a:r>
            <a:r>
              <a:rPr lang="ru-RU" sz="2000" dirty="0">
                <a:latin typeface="Montserrat" panose="00000500000000000000" pitchFamily="2" charset="-52"/>
              </a:rPr>
              <a:t>не знают про </a:t>
            </a:r>
            <a:r>
              <a:rPr lang="en" sz="2000" dirty="0">
                <a:latin typeface="Montserrat" panose="00000500000000000000" pitchFamily="2" charset="-52"/>
              </a:rPr>
              <a:t>JDBC. SQLite </a:t>
            </a:r>
            <a:r>
              <a:rPr lang="ru-RU" sz="2000" dirty="0">
                <a:latin typeface="Montserrat" panose="00000500000000000000" pitchFamily="2" charset="-52"/>
              </a:rPr>
              <a:t>можно заменить на </a:t>
            </a:r>
            <a:r>
              <a:rPr lang="en" sz="2000" dirty="0">
                <a:latin typeface="Montserrat" panose="00000500000000000000" pitchFamily="2" charset="-52"/>
              </a:rPr>
              <a:t>PostgreSQL, </a:t>
            </a:r>
            <a:r>
              <a:rPr lang="ru-RU" sz="2000" dirty="0">
                <a:latin typeface="Montserrat" panose="00000500000000000000" pitchFamily="2" charset="-52"/>
              </a:rPr>
              <a:t>не меняя сервисы.</a:t>
            </a:r>
          </a:p>
        </p:txBody>
      </p:sp>
    </p:spTree>
    <p:extLst>
      <p:ext uri="{BB962C8B-B14F-4D97-AF65-F5344CB8AC3E}">
        <p14:creationId xmlns:p14="http://schemas.microsoft.com/office/powerpoint/2010/main" val="2305223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5C8F03-098A-6D4A-3CAB-92EF126D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Паттерны: </a:t>
            </a:r>
            <a:r>
              <a:rPr lang="en" dirty="0"/>
              <a:t>Facade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5AC220-9488-3A68-0068-D25A5E66F098}"/>
              </a:ext>
            </a:extLst>
          </p:cNvPr>
          <p:cNvSpPr txBox="1"/>
          <p:nvPr/>
        </p:nvSpPr>
        <p:spPr>
          <a:xfrm>
            <a:off x="751113" y="1687864"/>
            <a:ext cx="3799107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Внешний код (</a:t>
            </a:r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</a:rPr>
              <a:t>ApiServer</a:t>
            </a: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)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608D6D-B5DE-0E7A-A205-60E050ADC0F0}"/>
              </a:ext>
            </a:extLst>
          </p:cNvPr>
          <p:cNvSpPr txBox="1"/>
          <p:nvPr/>
        </p:nvSpPr>
        <p:spPr>
          <a:xfrm>
            <a:off x="2846613" y="2075005"/>
            <a:ext cx="3799101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 err="1">
                <a:latin typeface="Montserrat" panose="00000500000000000000" pitchFamily="2" charset="-52"/>
              </a:rPr>
              <a:t>portalService.createTransfer</a:t>
            </a:r>
            <a:r>
              <a:rPr lang="en" dirty="0">
                <a:latin typeface="Montserrat" panose="00000500000000000000" pitchFamily="2" charset="-52"/>
              </a:rPr>
              <a:t>(...)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73F9F6-5FAA-8D4F-5692-20796E35AF32}"/>
              </a:ext>
            </a:extLst>
          </p:cNvPr>
          <p:cNvSpPr txBox="1"/>
          <p:nvPr/>
        </p:nvSpPr>
        <p:spPr>
          <a:xfrm>
            <a:off x="751112" y="2704244"/>
            <a:ext cx="5246911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</a:rPr>
              <a:t>CustomerPortalService</a:t>
            </a: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 / </a:t>
            </a:r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</a:rPr>
              <a:t>BankFacade</a:t>
            </a:r>
            <a:endParaRPr lang="ru-RU" sz="20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B8C819-011F-52A1-3A44-336DE3099547}"/>
              </a:ext>
            </a:extLst>
          </p:cNvPr>
          <p:cNvSpPr txBox="1"/>
          <p:nvPr/>
        </p:nvSpPr>
        <p:spPr>
          <a:xfrm>
            <a:off x="2808515" y="3088047"/>
            <a:ext cx="4027714" cy="1754326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скрывает внутри:</a:t>
            </a:r>
          </a:p>
          <a:p>
            <a:r>
              <a:rPr lang="en-US" dirty="0">
                <a:latin typeface="Montserrat" panose="00000500000000000000" pitchFamily="2" charset="-52"/>
              </a:rPr>
              <a:t>- </a:t>
            </a:r>
            <a:r>
              <a:rPr lang="ru-RU" dirty="0">
                <a:latin typeface="Montserrat" panose="00000500000000000000" pitchFamily="2" charset="-52"/>
              </a:rPr>
              <a:t>найти счета</a:t>
            </a:r>
          </a:p>
          <a:p>
            <a:r>
              <a:rPr lang="en-US" dirty="0">
                <a:latin typeface="Montserrat" panose="00000500000000000000" pitchFamily="2" charset="-52"/>
              </a:rPr>
              <a:t>- </a:t>
            </a:r>
            <a:r>
              <a:rPr lang="ru-RU" dirty="0">
                <a:latin typeface="Montserrat" panose="00000500000000000000" pitchFamily="2" charset="-52"/>
              </a:rPr>
              <a:t>Создать</a:t>
            </a:r>
            <a:r>
              <a:rPr lang="en-US" dirty="0">
                <a:latin typeface="Montserrat" panose="00000500000000000000" pitchFamily="2" charset="-52"/>
              </a:rPr>
              <a:t> </a:t>
            </a:r>
            <a:r>
              <a:rPr lang="en" dirty="0" err="1">
                <a:latin typeface="Montserrat" panose="00000500000000000000" pitchFamily="2" charset="-52"/>
              </a:rPr>
              <a:t>TransferTransaction</a:t>
            </a:r>
            <a:endParaRPr lang="en" dirty="0">
              <a:latin typeface="Montserrat" panose="00000500000000000000" pitchFamily="2" charset="-52"/>
            </a:endParaRPr>
          </a:p>
          <a:p>
            <a:r>
              <a:rPr lang="en" dirty="0">
                <a:latin typeface="Montserrat" panose="00000500000000000000" pitchFamily="2" charset="-52"/>
              </a:rPr>
              <a:t>- </a:t>
            </a:r>
            <a:r>
              <a:rPr lang="en" dirty="0" err="1">
                <a:latin typeface="Montserrat" panose="00000500000000000000" pitchFamily="2" charset="-52"/>
              </a:rPr>
              <a:t>transaction.execute</a:t>
            </a:r>
            <a:r>
              <a:rPr lang="en" dirty="0">
                <a:latin typeface="Montserrat" panose="00000500000000000000" pitchFamily="2" charset="-52"/>
              </a:rPr>
              <a:t>()</a:t>
            </a:r>
          </a:p>
          <a:p>
            <a:r>
              <a:rPr lang="en" dirty="0">
                <a:latin typeface="Montserrat" panose="00000500000000000000" pitchFamily="2" charset="-52"/>
              </a:rPr>
              <a:t>- </a:t>
            </a:r>
            <a:r>
              <a:rPr lang="en" dirty="0" err="1">
                <a:latin typeface="Montserrat" panose="00000500000000000000" pitchFamily="2" charset="-52"/>
              </a:rPr>
              <a:t>transactionRepository.save</a:t>
            </a:r>
            <a:r>
              <a:rPr lang="en" dirty="0">
                <a:latin typeface="Montserrat" panose="00000500000000000000" pitchFamily="2" charset="-52"/>
              </a:rPr>
              <a:t>()</a:t>
            </a:r>
          </a:p>
          <a:p>
            <a:r>
              <a:rPr lang="en" dirty="0">
                <a:latin typeface="Montserrat" panose="00000500000000000000" pitchFamily="2" charset="-52"/>
              </a:rPr>
              <a:t>- </a:t>
            </a:r>
            <a:r>
              <a:rPr lang="en" dirty="0" err="1">
                <a:latin typeface="Montserrat" panose="00000500000000000000" pitchFamily="2" charset="-52"/>
              </a:rPr>
              <a:t>accountRepository.save</a:t>
            </a:r>
            <a:r>
              <a:rPr lang="en" dirty="0">
                <a:latin typeface="Montserrat" panose="00000500000000000000" pitchFamily="2" charset="-52"/>
              </a:rPr>
              <a:t>() × 2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175DDA-D07F-30D3-F11A-30E17D187795}"/>
              </a:ext>
            </a:extLst>
          </p:cNvPr>
          <p:cNvSpPr txBox="1"/>
          <p:nvPr/>
        </p:nvSpPr>
        <p:spPr>
          <a:xfrm>
            <a:off x="751112" y="5226176"/>
            <a:ext cx="6172201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Результат готов — один вызов снаружи</a:t>
            </a: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B132A50A-2B3A-7650-DBD1-B6F09235C6BC}"/>
              </a:ext>
            </a:extLst>
          </p:cNvPr>
          <p:cNvCxnSpPr/>
          <p:nvPr/>
        </p:nvCxnSpPr>
        <p:spPr>
          <a:xfrm>
            <a:off x="1055914" y="2087974"/>
            <a:ext cx="0" cy="612000"/>
          </a:xfrm>
          <a:prstGeom prst="straightConnector1">
            <a:avLst/>
          </a:prstGeom>
          <a:ln w="76200">
            <a:solidFill>
              <a:srgbClr val="01BBE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1A8A16C0-61F1-B227-1D9F-0A8423135DDB}"/>
              </a:ext>
            </a:extLst>
          </p:cNvPr>
          <p:cNvCxnSpPr>
            <a:cxnSpLocks/>
          </p:cNvCxnSpPr>
          <p:nvPr/>
        </p:nvCxnSpPr>
        <p:spPr>
          <a:xfrm>
            <a:off x="1066799" y="3104353"/>
            <a:ext cx="0" cy="21240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17DDF27-FEA9-8BEF-D5C6-447981CD5896}"/>
              </a:ext>
            </a:extLst>
          </p:cNvPr>
          <p:cNvSpPr txBox="1"/>
          <p:nvPr/>
        </p:nvSpPr>
        <p:spPr>
          <a:xfrm>
            <a:off x="7865347" y="2904299"/>
            <a:ext cx="3788229" cy="1323439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ontserrat" panose="00000500000000000000" pitchFamily="2" charset="-52"/>
              </a:rPr>
              <a:t>Facade </a:t>
            </a:r>
            <a:r>
              <a:rPr lang="ru-RU" sz="2000" dirty="0">
                <a:latin typeface="Montserrat" panose="00000500000000000000" pitchFamily="2" charset="-52"/>
              </a:rPr>
              <a:t>упрощает интерфейс и уменьшает связность внешнего кода с деталями реализации.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3286573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337BC-E5D7-BE70-0B67-571A7BEC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Паттерны: </a:t>
            </a:r>
            <a:r>
              <a:rPr lang="en" dirty="0"/>
              <a:t>Factory Method </a:t>
            </a:r>
            <a:r>
              <a:rPr lang="ru-RU" dirty="0"/>
              <a:t>и </a:t>
            </a:r>
            <a:r>
              <a:rPr lang="en" dirty="0"/>
              <a:t>Command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088271-973E-D9F6-3BD8-920518ABB3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13170" y="1479445"/>
            <a:ext cx="1976800" cy="338554"/>
          </a:xfrm>
        </p:spPr>
        <p:txBody>
          <a:bodyPr/>
          <a:lstStyle/>
          <a:p>
            <a:r>
              <a:rPr lang="en" dirty="0"/>
              <a:t>Factory Method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1EE77-3E04-986C-FB35-E97F1A051632}"/>
              </a:ext>
            </a:extLst>
          </p:cNvPr>
          <p:cNvSpPr txBox="1"/>
          <p:nvPr/>
        </p:nvSpPr>
        <p:spPr>
          <a:xfrm>
            <a:off x="740227" y="2008923"/>
            <a:ext cx="4376059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en" sz="2000" b="1" dirty="0" err="1">
                <a:solidFill>
                  <a:schemeClr val="bg1"/>
                </a:solidFill>
                <a:latin typeface="Montserrat" panose="00000500000000000000" pitchFamily="2" charset="-52"/>
              </a:rPr>
              <a:t>AccountFactory.create</a:t>
            </a:r>
            <a:r>
              <a:rPr lang="en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(kind, ...)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E9234-A6D5-7E42-A595-CAD5C111F43E}"/>
              </a:ext>
            </a:extLst>
          </p:cNvPr>
          <p:cNvSpPr txBox="1"/>
          <p:nvPr/>
        </p:nvSpPr>
        <p:spPr>
          <a:xfrm>
            <a:off x="1220984" y="2603002"/>
            <a:ext cx="1420587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>
                <a:latin typeface="Montserrat" panose="00000500000000000000" pitchFamily="2" charset="-52"/>
              </a:rPr>
              <a:t>"DEBIT"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34B4D-7517-ED15-B11F-EB6E95767910}"/>
              </a:ext>
            </a:extLst>
          </p:cNvPr>
          <p:cNvSpPr txBox="1"/>
          <p:nvPr/>
        </p:nvSpPr>
        <p:spPr>
          <a:xfrm>
            <a:off x="1220984" y="3166303"/>
            <a:ext cx="1420588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>
                <a:latin typeface="Montserrat" panose="00000500000000000000" pitchFamily="2" charset="-52"/>
              </a:rPr>
              <a:t>"SAVINGS"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5D65EC-5F02-29EE-A86C-B548531D1FE5}"/>
              </a:ext>
            </a:extLst>
          </p:cNvPr>
          <p:cNvSpPr txBox="1"/>
          <p:nvPr/>
        </p:nvSpPr>
        <p:spPr>
          <a:xfrm>
            <a:off x="1220983" y="3787371"/>
            <a:ext cx="1420587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>
                <a:latin typeface="Montserrat" panose="00000500000000000000" pitchFamily="2" charset="-52"/>
              </a:rPr>
              <a:t>"CREDIT"</a:t>
            </a:r>
            <a:endParaRPr lang="ru-RU" dirty="0">
              <a:latin typeface="Montserrat" panose="00000500000000000000" pitchFamily="2" charset="-52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387775D5-E7F2-01FF-3C17-956EE017F2D8}"/>
              </a:ext>
            </a:extLst>
          </p:cNvPr>
          <p:cNvCxnSpPr>
            <a:cxnSpLocks/>
          </p:cNvCxnSpPr>
          <p:nvPr/>
        </p:nvCxnSpPr>
        <p:spPr>
          <a:xfrm flipV="1">
            <a:off x="2641570" y="2768391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1586D925-6D74-E6FF-2E09-FA14904FAC5E}"/>
              </a:ext>
            </a:extLst>
          </p:cNvPr>
          <p:cNvCxnSpPr>
            <a:cxnSpLocks/>
          </p:cNvCxnSpPr>
          <p:nvPr/>
        </p:nvCxnSpPr>
        <p:spPr>
          <a:xfrm flipV="1">
            <a:off x="2641570" y="3350969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36950DCC-1886-137C-F5B8-FE4A4DBD8630}"/>
              </a:ext>
            </a:extLst>
          </p:cNvPr>
          <p:cNvCxnSpPr>
            <a:cxnSpLocks/>
          </p:cNvCxnSpPr>
          <p:nvPr/>
        </p:nvCxnSpPr>
        <p:spPr>
          <a:xfrm flipV="1">
            <a:off x="2641570" y="3965778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8CE5786-BDD3-7F36-156C-4A4D18BB82A4}"/>
              </a:ext>
            </a:extLst>
          </p:cNvPr>
          <p:cNvSpPr txBox="1"/>
          <p:nvPr/>
        </p:nvSpPr>
        <p:spPr>
          <a:xfrm>
            <a:off x="3361569" y="2603002"/>
            <a:ext cx="2959373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>
                <a:latin typeface="Montserrat" panose="00000500000000000000" pitchFamily="2" charset="-52"/>
              </a:rPr>
              <a:t>new </a:t>
            </a:r>
            <a:r>
              <a:rPr lang="en" dirty="0" err="1">
                <a:latin typeface="Montserrat" panose="00000500000000000000" pitchFamily="2" charset="-52"/>
              </a:rPr>
              <a:t>DebitAccount</a:t>
            </a:r>
            <a:r>
              <a:rPr lang="en" dirty="0">
                <a:latin typeface="Montserrat" panose="00000500000000000000" pitchFamily="2" charset="-52"/>
              </a:rPr>
              <a:t>(...)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CD953D-5718-4084-9934-A200F1DAE46B}"/>
              </a:ext>
            </a:extLst>
          </p:cNvPr>
          <p:cNvSpPr txBox="1"/>
          <p:nvPr/>
        </p:nvSpPr>
        <p:spPr>
          <a:xfrm>
            <a:off x="3361570" y="3169723"/>
            <a:ext cx="2959374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>
                <a:latin typeface="Montserrat" panose="00000500000000000000" pitchFamily="2" charset="-52"/>
              </a:rPr>
              <a:t>new </a:t>
            </a:r>
            <a:r>
              <a:rPr lang="en" dirty="0" err="1">
                <a:latin typeface="Montserrat" panose="00000500000000000000" pitchFamily="2" charset="-52"/>
              </a:rPr>
              <a:t>SavingsAccount</a:t>
            </a:r>
            <a:r>
              <a:rPr lang="en" dirty="0">
                <a:latin typeface="Montserrat" panose="00000500000000000000" pitchFamily="2" charset="-52"/>
              </a:rPr>
              <a:t>(...)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9C1451-66C9-61FC-040C-225E78D07157}"/>
              </a:ext>
            </a:extLst>
          </p:cNvPr>
          <p:cNvSpPr txBox="1"/>
          <p:nvPr/>
        </p:nvSpPr>
        <p:spPr>
          <a:xfrm>
            <a:off x="3361570" y="3787371"/>
            <a:ext cx="2959372" cy="369332"/>
          </a:xfrm>
          <a:prstGeom prst="rect">
            <a:avLst/>
          </a:prstGeom>
          <a:noFill/>
          <a:ln w="19050">
            <a:solidFill>
              <a:srgbClr val="01BBEE"/>
            </a:solidFill>
          </a:ln>
        </p:spPr>
        <p:txBody>
          <a:bodyPr wrap="square" rtlCol="0">
            <a:spAutoFit/>
          </a:bodyPr>
          <a:lstStyle/>
          <a:p>
            <a:r>
              <a:rPr lang="en" dirty="0">
                <a:latin typeface="Montserrat" panose="00000500000000000000" pitchFamily="2" charset="-52"/>
              </a:rPr>
              <a:t>new </a:t>
            </a:r>
            <a:r>
              <a:rPr lang="en" dirty="0" err="1">
                <a:latin typeface="Montserrat" panose="00000500000000000000" pitchFamily="2" charset="-52"/>
              </a:rPr>
              <a:t>CreditAccount</a:t>
            </a:r>
            <a:r>
              <a:rPr lang="en" dirty="0">
                <a:latin typeface="Montserrat" panose="00000500000000000000" pitchFamily="2" charset="-52"/>
              </a:rPr>
              <a:t>(...)</a:t>
            </a:r>
            <a:endParaRPr lang="ru-RU" dirty="0">
              <a:latin typeface="Montserrat" panose="00000500000000000000" pitchFamily="2" charset="-52"/>
            </a:endParaRPr>
          </a:p>
        </p:txBody>
      </p:sp>
      <p:cxnSp>
        <p:nvCxnSpPr>
          <p:cNvPr id="18" name="Соединительная линия уступом 17">
            <a:extLst>
              <a:ext uri="{FF2B5EF4-FFF2-40B4-BE49-F238E27FC236}">
                <a16:creationId xmlns:a16="http://schemas.microsoft.com/office/drawing/2014/main" id="{284F799D-2B01-39FA-DEFB-A8EE37D99147}"/>
              </a:ext>
            </a:extLst>
          </p:cNvPr>
          <p:cNvCxnSpPr>
            <a:endCxn id="6" idx="1"/>
          </p:cNvCxnSpPr>
          <p:nvPr/>
        </p:nvCxnSpPr>
        <p:spPr>
          <a:xfrm>
            <a:off x="838200" y="2409033"/>
            <a:ext cx="382784" cy="378635"/>
          </a:xfrm>
          <a:prstGeom prst="bentConnector3">
            <a:avLst>
              <a:gd name="adj1" fmla="val -1188"/>
            </a:avLst>
          </a:prstGeom>
          <a:ln w="38100">
            <a:solidFill>
              <a:srgbClr val="01BBEE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>
            <a:extLst>
              <a:ext uri="{FF2B5EF4-FFF2-40B4-BE49-F238E27FC236}">
                <a16:creationId xmlns:a16="http://schemas.microsoft.com/office/drawing/2014/main" id="{9569849F-CC32-BB0C-ACA9-7C3754A95497}"/>
              </a:ext>
            </a:extLst>
          </p:cNvPr>
          <p:cNvCxnSpPr>
            <a:cxnSpLocks/>
            <a:endCxn id="7" idx="1"/>
          </p:cNvCxnSpPr>
          <p:nvPr/>
        </p:nvCxnSpPr>
        <p:spPr>
          <a:xfrm rot="16200000" flipH="1">
            <a:off x="759593" y="2889578"/>
            <a:ext cx="540000" cy="38278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Соединительная линия уступом 26">
            <a:extLst>
              <a:ext uri="{FF2B5EF4-FFF2-40B4-BE49-F238E27FC236}">
                <a16:creationId xmlns:a16="http://schemas.microsoft.com/office/drawing/2014/main" id="{7AE45D9B-181B-F0E3-8D3D-DD5EE76FFE9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4201" y="3471481"/>
            <a:ext cx="648000" cy="36000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Текст 2">
            <a:extLst>
              <a:ext uri="{FF2B5EF4-FFF2-40B4-BE49-F238E27FC236}">
                <a16:creationId xmlns:a16="http://schemas.microsoft.com/office/drawing/2014/main" id="{E22F49D4-7F79-60D7-D80C-91F976851B01}"/>
              </a:ext>
            </a:extLst>
          </p:cNvPr>
          <p:cNvSpPr txBox="1">
            <a:spLocks/>
          </p:cNvSpPr>
          <p:nvPr/>
        </p:nvSpPr>
        <p:spPr>
          <a:xfrm>
            <a:off x="8371518" y="1479445"/>
            <a:ext cx="1976800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rgbClr val="00BBEE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dirty="0"/>
              <a:t>Command</a:t>
            </a:r>
            <a:endParaRPr lang="ru-RU" dirty="0"/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74A7F3B4-51B4-C7E6-4BB0-3F6D203E5205}"/>
              </a:ext>
            </a:extLst>
          </p:cNvPr>
          <p:cNvSpPr/>
          <p:nvPr/>
        </p:nvSpPr>
        <p:spPr>
          <a:xfrm>
            <a:off x="6678805" y="1886449"/>
            <a:ext cx="5286419" cy="3251608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CF5222-D258-C318-B5CF-8356CB142616}"/>
              </a:ext>
            </a:extLst>
          </p:cNvPr>
          <p:cNvSpPr txBox="1"/>
          <p:nvPr/>
        </p:nvSpPr>
        <p:spPr>
          <a:xfrm>
            <a:off x="6918290" y="1981362"/>
            <a:ext cx="48832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200" dirty="0">
                <a:latin typeface="Montserrat" panose="00000500000000000000" pitchFamily="2" charset="-52"/>
              </a:rPr>
              <a:t>interface Command {</a:t>
            </a:r>
          </a:p>
          <a:p>
            <a:r>
              <a:rPr lang="en" sz="1200" dirty="0">
                <a:latin typeface="Montserrat" panose="00000500000000000000" pitchFamily="2" charset="-52"/>
              </a:rPr>
              <a:t>    void execute();</a:t>
            </a:r>
          </a:p>
          <a:p>
            <a:r>
              <a:rPr lang="en" sz="1200" dirty="0">
                <a:latin typeface="Montserrat" panose="00000500000000000000" pitchFamily="2" charset="-52"/>
              </a:rPr>
              <a:t>    void rollback();</a:t>
            </a:r>
          </a:p>
          <a:p>
            <a:r>
              <a:rPr lang="en" sz="1200" dirty="0">
                <a:latin typeface="Montserrat" panose="00000500000000000000" pitchFamily="2" charset="-52"/>
              </a:rPr>
              <a:t>}</a:t>
            </a:r>
          </a:p>
          <a:p>
            <a:endParaRPr lang="en" sz="1200" dirty="0">
              <a:latin typeface="Montserrat" panose="00000500000000000000" pitchFamily="2" charset="-52"/>
            </a:endParaRPr>
          </a:p>
          <a:p>
            <a:r>
              <a:rPr lang="en" sz="1200" dirty="0">
                <a:latin typeface="Montserrat" panose="00000500000000000000" pitchFamily="2" charset="-52"/>
              </a:rPr>
              <a:t>abstract class Transaction implements Command</a:t>
            </a:r>
          </a:p>
          <a:p>
            <a:endParaRPr lang="en" sz="1200" dirty="0">
              <a:latin typeface="Montserrat" panose="00000500000000000000" pitchFamily="2" charset="-52"/>
            </a:endParaRPr>
          </a:p>
          <a:p>
            <a:r>
              <a:rPr lang="en" sz="1200" dirty="0" err="1">
                <a:latin typeface="Montserrat" panose="00000500000000000000" pitchFamily="2" charset="-52"/>
              </a:rPr>
              <a:t>TransferTransaction.execute</a:t>
            </a:r>
            <a:r>
              <a:rPr lang="en" sz="1200" dirty="0">
                <a:latin typeface="Montserrat" panose="00000500000000000000" pitchFamily="2" charset="-52"/>
              </a:rPr>
              <a:t>() {</a:t>
            </a:r>
          </a:p>
          <a:p>
            <a:r>
              <a:rPr lang="en" sz="1200" dirty="0">
                <a:latin typeface="Montserrat" panose="00000500000000000000" pitchFamily="2" charset="-52"/>
              </a:rPr>
              <a:t>    </a:t>
            </a:r>
            <a:r>
              <a:rPr lang="en" sz="1200" dirty="0" err="1">
                <a:latin typeface="Montserrat" panose="00000500000000000000" pitchFamily="2" charset="-52"/>
              </a:rPr>
              <a:t>fromAccount.withdraw</a:t>
            </a:r>
            <a:r>
              <a:rPr lang="en" sz="1200" dirty="0">
                <a:latin typeface="Montserrat" panose="00000500000000000000" pitchFamily="2" charset="-52"/>
              </a:rPr>
              <a:t>(amount);</a:t>
            </a:r>
          </a:p>
          <a:p>
            <a:r>
              <a:rPr lang="en" sz="1200" dirty="0">
                <a:latin typeface="Montserrat" panose="00000500000000000000" pitchFamily="2" charset="-52"/>
              </a:rPr>
              <a:t>    </a:t>
            </a:r>
            <a:r>
              <a:rPr lang="en" sz="1200" dirty="0" err="1">
                <a:latin typeface="Montserrat" panose="00000500000000000000" pitchFamily="2" charset="-52"/>
              </a:rPr>
              <a:t>toAccount.deposit</a:t>
            </a:r>
            <a:r>
              <a:rPr lang="en" sz="1200" dirty="0">
                <a:latin typeface="Montserrat" panose="00000500000000000000" pitchFamily="2" charset="-52"/>
              </a:rPr>
              <a:t>(amount);</a:t>
            </a:r>
          </a:p>
          <a:p>
            <a:r>
              <a:rPr lang="en" sz="1200" dirty="0">
                <a:latin typeface="Montserrat" panose="00000500000000000000" pitchFamily="2" charset="-52"/>
              </a:rPr>
              <a:t>}</a:t>
            </a:r>
          </a:p>
          <a:p>
            <a:endParaRPr lang="en" sz="1200" dirty="0">
              <a:latin typeface="Montserrat" panose="00000500000000000000" pitchFamily="2" charset="-52"/>
            </a:endParaRPr>
          </a:p>
          <a:p>
            <a:r>
              <a:rPr lang="en" sz="1200" dirty="0" err="1">
                <a:latin typeface="Montserrat" panose="00000500000000000000" pitchFamily="2" charset="-52"/>
              </a:rPr>
              <a:t>TransferTransaction.rollback</a:t>
            </a:r>
            <a:r>
              <a:rPr lang="en" sz="1200" dirty="0">
                <a:latin typeface="Montserrat" panose="00000500000000000000" pitchFamily="2" charset="-52"/>
              </a:rPr>
              <a:t>() {</a:t>
            </a:r>
          </a:p>
          <a:p>
            <a:r>
              <a:rPr lang="en" sz="1200" dirty="0">
                <a:latin typeface="Montserrat" panose="00000500000000000000" pitchFamily="2" charset="-52"/>
              </a:rPr>
              <a:t>    </a:t>
            </a:r>
            <a:r>
              <a:rPr lang="en" sz="1200" dirty="0" err="1">
                <a:latin typeface="Montserrat" panose="00000500000000000000" pitchFamily="2" charset="-52"/>
              </a:rPr>
              <a:t>toAccount.rollbackDeposit</a:t>
            </a:r>
            <a:r>
              <a:rPr lang="en" sz="1200" dirty="0">
                <a:latin typeface="Montserrat" panose="00000500000000000000" pitchFamily="2" charset="-52"/>
              </a:rPr>
              <a:t>(amount);</a:t>
            </a:r>
          </a:p>
          <a:p>
            <a:r>
              <a:rPr lang="en" sz="1200" dirty="0">
                <a:latin typeface="Montserrat" panose="00000500000000000000" pitchFamily="2" charset="-52"/>
              </a:rPr>
              <a:t>    </a:t>
            </a:r>
            <a:r>
              <a:rPr lang="en" sz="1200" dirty="0" err="1">
                <a:latin typeface="Montserrat" panose="00000500000000000000" pitchFamily="2" charset="-52"/>
              </a:rPr>
              <a:t>fromAccount.rollbackWithdraw</a:t>
            </a:r>
            <a:r>
              <a:rPr lang="en" sz="1200" dirty="0">
                <a:latin typeface="Montserrat" panose="00000500000000000000" pitchFamily="2" charset="-52"/>
              </a:rPr>
              <a:t>(amount);</a:t>
            </a:r>
          </a:p>
          <a:p>
            <a:r>
              <a:rPr lang="en" sz="1200" dirty="0">
                <a:latin typeface="Montserrat" panose="00000500000000000000" pitchFamily="2" charset="-52"/>
              </a:rPr>
              <a:t>}</a:t>
            </a:r>
            <a:endParaRPr lang="ru-RU" sz="12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75156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C0FA1-ACF5-698C-447E-190779C8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Итоги и результаты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A3F0714F-1A90-A64E-D218-AC38706BCC7B}"/>
              </a:ext>
            </a:extLst>
          </p:cNvPr>
          <p:cNvSpPr/>
          <p:nvPr/>
        </p:nvSpPr>
        <p:spPr>
          <a:xfrm>
            <a:off x="559572" y="1921700"/>
            <a:ext cx="5046571" cy="2689536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D5098-CC95-DA42-2092-6C3824FFD35E}"/>
              </a:ext>
            </a:extLst>
          </p:cNvPr>
          <p:cNvSpPr txBox="1"/>
          <p:nvPr/>
        </p:nvSpPr>
        <p:spPr>
          <a:xfrm>
            <a:off x="752006" y="2261499"/>
            <a:ext cx="46617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Montserrat" panose="00000500000000000000" pitchFamily="2" charset="-52"/>
              </a:rPr>
              <a:t>- Полная банковская система с 3 типами счетов</a:t>
            </a:r>
          </a:p>
          <a:p>
            <a:endParaRPr lang="ru-RU" sz="1200" dirty="0">
              <a:latin typeface="Montserrat" panose="00000500000000000000" pitchFamily="2" charset="-52"/>
            </a:endParaRPr>
          </a:p>
          <a:p>
            <a:r>
              <a:rPr lang="ru-RU" sz="1200" dirty="0">
                <a:latin typeface="Montserrat" panose="00000500000000000000" pitchFamily="2" charset="-52"/>
              </a:rPr>
              <a:t>- Регистрация, вход, история, переводы</a:t>
            </a:r>
          </a:p>
          <a:p>
            <a:endParaRPr lang="ru-RU" sz="1200" dirty="0">
              <a:latin typeface="Montserrat" panose="00000500000000000000" pitchFamily="2" charset="-52"/>
            </a:endParaRPr>
          </a:p>
          <a:p>
            <a:r>
              <a:rPr lang="ru-RU" sz="1200" dirty="0">
                <a:latin typeface="Montserrat" panose="00000500000000000000" pitchFamily="2" charset="-52"/>
              </a:rPr>
              <a:t>- Сохранение данных в </a:t>
            </a:r>
            <a:r>
              <a:rPr lang="en-US" sz="1200" dirty="0">
                <a:latin typeface="Montserrat" panose="00000500000000000000" pitchFamily="2" charset="-52"/>
              </a:rPr>
              <a:t>SQLite</a:t>
            </a:r>
          </a:p>
          <a:p>
            <a:endParaRPr lang="en-US" sz="1200" dirty="0">
              <a:latin typeface="Montserrat" panose="00000500000000000000" pitchFamily="2" charset="-52"/>
            </a:endParaRPr>
          </a:p>
          <a:p>
            <a:r>
              <a:rPr lang="en-US" sz="1200" dirty="0">
                <a:latin typeface="Montserrat" panose="00000500000000000000" pitchFamily="2" charset="-52"/>
              </a:rPr>
              <a:t>- REST API </a:t>
            </a:r>
            <a:r>
              <a:rPr lang="ru-RU" sz="1200" dirty="0">
                <a:latin typeface="Montserrat" panose="00000500000000000000" pitchFamily="2" charset="-52"/>
              </a:rPr>
              <a:t>на чистом </a:t>
            </a:r>
            <a:r>
              <a:rPr lang="en-US" sz="1200" dirty="0">
                <a:latin typeface="Montserrat" panose="00000500000000000000" pitchFamily="2" charset="-52"/>
              </a:rPr>
              <a:t>Java </a:t>
            </a:r>
            <a:r>
              <a:rPr lang="ru-RU" sz="1200" dirty="0">
                <a:latin typeface="Montserrat" panose="00000500000000000000" pitchFamily="2" charset="-52"/>
              </a:rPr>
              <a:t>без фреймворков</a:t>
            </a:r>
          </a:p>
          <a:p>
            <a:endParaRPr lang="ru-RU" sz="1200" dirty="0">
              <a:latin typeface="Montserrat" panose="00000500000000000000" pitchFamily="2" charset="-52"/>
            </a:endParaRPr>
          </a:p>
          <a:p>
            <a:r>
              <a:rPr lang="en-US" sz="1200" dirty="0">
                <a:latin typeface="Montserrat" panose="00000500000000000000" pitchFamily="2" charset="-52"/>
              </a:rPr>
              <a:t>- </a:t>
            </a:r>
            <a:r>
              <a:rPr lang="ru-RU" sz="1200" dirty="0">
                <a:latin typeface="Montserrat" panose="00000500000000000000" pitchFamily="2" charset="-52"/>
              </a:rPr>
              <a:t>Веб-интерфейс на </a:t>
            </a:r>
            <a:r>
              <a:rPr lang="en-US" sz="1200" dirty="0">
                <a:latin typeface="Montserrat" panose="00000500000000000000" pitchFamily="2" charset="-52"/>
              </a:rPr>
              <a:t>React + TypeScript</a:t>
            </a:r>
          </a:p>
          <a:p>
            <a:pPr marL="171450" indent="-171450">
              <a:buFontTx/>
              <a:buChar char="-"/>
            </a:pPr>
            <a:endParaRPr lang="en-US" sz="1200" dirty="0">
              <a:latin typeface="Montserrat" panose="00000500000000000000" pitchFamily="2" charset="-52"/>
            </a:endParaRPr>
          </a:p>
          <a:p>
            <a:r>
              <a:rPr lang="en-US" sz="1200" dirty="0">
                <a:latin typeface="Montserrat" panose="00000500000000000000" pitchFamily="2" charset="-52"/>
              </a:rPr>
              <a:t>- </a:t>
            </a:r>
            <a:r>
              <a:rPr lang="ru-RU" sz="1200" dirty="0">
                <a:latin typeface="Montserrat" panose="00000500000000000000" pitchFamily="2" charset="-52"/>
              </a:rPr>
              <a:t>Развертывание через </a:t>
            </a:r>
            <a:r>
              <a:rPr lang="en-US" sz="1200" dirty="0">
                <a:latin typeface="Montserrat" panose="00000500000000000000" pitchFamily="2" charset="-52"/>
              </a:rPr>
              <a:t>Docker Compose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56A64-2C55-D4F5-4272-365C13FD2065}"/>
              </a:ext>
            </a:extLst>
          </p:cNvPr>
          <p:cNvSpPr txBox="1"/>
          <p:nvPr/>
        </p:nvSpPr>
        <p:spPr>
          <a:xfrm>
            <a:off x="1777017" y="1371855"/>
            <a:ext cx="2611679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Что реализовано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C61E2E37-7C2E-2AAF-08F5-FED9891FC1FE}"/>
              </a:ext>
            </a:extLst>
          </p:cNvPr>
          <p:cNvSpPr/>
          <p:nvPr/>
        </p:nvSpPr>
        <p:spPr>
          <a:xfrm>
            <a:off x="5930338" y="1921700"/>
            <a:ext cx="5046571" cy="908586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BF2492-5135-703D-63B5-C1A2BDD0508E}"/>
              </a:ext>
            </a:extLst>
          </p:cNvPr>
          <p:cNvSpPr txBox="1"/>
          <p:nvPr/>
        </p:nvSpPr>
        <p:spPr>
          <a:xfrm>
            <a:off x="6122772" y="2030666"/>
            <a:ext cx="466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Montserrat" panose="00000500000000000000" pitchFamily="2" charset="-52"/>
              </a:rPr>
              <a:t>- Все 5 принципов </a:t>
            </a:r>
            <a:r>
              <a:rPr lang="en" sz="1200" dirty="0">
                <a:latin typeface="Montserrat" panose="00000500000000000000" pitchFamily="2" charset="-52"/>
              </a:rPr>
              <a:t>SOLID </a:t>
            </a:r>
            <a:r>
              <a:rPr lang="ru-RU" sz="1200" dirty="0">
                <a:latin typeface="Montserrat" panose="00000500000000000000" pitchFamily="2" charset="-52"/>
              </a:rPr>
              <a:t>в конкретном коде</a:t>
            </a:r>
          </a:p>
          <a:p>
            <a:endParaRPr lang="ru-RU" sz="1200" dirty="0">
              <a:latin typeface="Montserrat" panose="00000500000000000000" pitchFamily="2" charset="-52"/>
            </a:endParaRPr>
          </a:p>
          <a:p>
            <a:r>
              <a:rPr lang="ru-RU" sz="1200" dirty="0">
                <a:latin typeface="Montserrat" panose="00000500000000000000" pitchFamily="2" charset="-52"/>
              </a:rPr>
              <a:t>- 3 паттерна: </a:t>
            </a:r>
            <a:r>
              <a:rPr lang="en" sz="1200" dirty="0">
                <a:latin typeface="Montserrat" panose="00000500000000000000" pitchFamily="2" charset="-52"/>
              </a:rPr>
              <a:t>Facade, Factory Method, Command</a:t>
            </a:r>
            <a:endParaRPr lang="en-US" sz="1200" dirty="0">
              <a:latin typeface="Montserrat" panose="00000500000000000000" pitchFamily="2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7497E-2DB2-B738-8BDA-A3509FB06392}"/>
              </a:ext>
            </a:extLst>
          </p:cNvPr>
          <p:cNvSpPr txBox="1"/>
          <p:nvPr/>
        </p:nvSpPr>
        <p:spPr>
          <a:xfrm>
            <a:off x="7147783" y="1371855"/>
            <a:ext cx="2611679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Принципы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D3778A10-9AAC-A5D0-268F-BE1AA36BBE22}"/>
              </a:ext>
            </a:extLst>
          </p:cNvPr>
          <p:cNvSpPr/>
          <p:nvPr/>
        </p:nvSpPr>
        <p:spPr>
          <a:xfrm>
            <a:off x="5930338" y="3529865"/>
            <a:ext cx="5046571" cy="1081371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2A4B7E-DE0F-B9BA-85DA-829DB926B3D8}"/>
              </a:ext>
            </a:extLst>
          </p:cNvPr>
          <p:cNvSpPr txBox="1"/>
          <p:nvPr/>
        </p:nvSpPr>
        <p:spPr>
          <a:xfrm>
            <a:off x="7147783" y="2980021"/>
            <a:ext cx="2611679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Архитектура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74A8D-FEC6-8FDC-B8ED-B8B3F0C133DB}"/>
              </a:ext>
            </a:extLst>
          </p:cNvPr>
          <p:cNvSpPr txBox="1"/>
          <p:nvPr/>
        </p:nvSpPr>
        <p:spPr>
          <a:xfrm>
            <a:off x="6122772" y="3595574"/>
            <a:ext cx="4661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Montserrat" panose="00000500000000000000" pitchFamily="2" charset="-52"/>
              </a:rPr>
              <a:t>- 4 слоя с четкими границами ответственности</a:t>
            </a:r>
          </a:p>
          <a:p>
            <a:endParaRPr lang="ru-RU" sz="1200" dirty="0">
              <a:latin typeface="Montserrat" panose="00000500000000000000" pitchFamily="2" charset="-52"/>
            </a:endParaRPr>
          </a:p>
          <a:p>
            <a:r>
              <a:rPr lang="ru-RU" sz="1200" dirty="0">
                <a:latin typeface="Montserrat" panose="00000500000000000000" pitchFamily="2" charset="-52"/>
              </a:rPr>
              <a:t>- </a:t>
            </a:r>
            <a:r>
              <a:rPr lang="en" sz="1200" dirty="0">
                <a:latin typeface="Montserrat" panose="00000500000000000000" pitchFamily="2" charset="-52"/>
              </a:rPr>
              <a:t>Domain </a:t>
            </a:r>
            <a:r>
              <a:rPr lang="ru-RU" sz="1200" dirty="0">
                <a:latin typeface="Montserrat" panose="00000500000000000000" pitchFamily="2" charset="-52"/>
              </a:rPr>
              <a:t>не зависит от </a:t>
            </a:r>
            <a:r>
              <a:rPr lang="en" sz="1200" dirty="0">
                <a:latin typeface="Montserrat" panose="00000500000000000000" pitchFamily="2" charset="-52"/>
              </a:rPr>
              <a:t>SQL</a:t>
            </a:r>
          </a:p>
          <a:p>
            <a:endParaRPr lang="en" sz="1200" dirty="0">
              <a:latin typeface="Montserrat" panose="00000500000000000000" pitchFamily="2" charset="-52"/>
            </a:endParaRPr>
          </a:p>
          <a:p>
            <a:r>
              <a:rPr lang="en" sz="1200" dirty="0">
                <a:latin typeface="Montserrat" panose="00000500000000000000" pitchFamily="2" charset="-52"/>
              </a:rPr>
              <a:t>- Application </a:t>
            </a:r>
            <a:r>
              <a:rPr lang="ru-RU" sz="1200" dirty="0">
                <a:latin typeface="Montserrat" panose="00000500000000000000" pitchFamily="2" charset="-52"/>
              </a:rPr>
              <a:t>не зависит от </a:t>
            </a:r>
            <a:r>
              <a:rPr lang="en" sz="1200" dirty="0">
                <a:latin typeface="Montserrat" panose="00000500000000000000" pitchFamily="2" charset="-52"/>
              </a:rPr>
              <a:t>HTTP </a:t>
            </a:r>
            <a:r>
              <a:rPr lang="ru-RU" sz="1200" dirty="0">
                <a:latin typeface="Montserrat" panose="00000500000000000000" pitchFamily="2" charset="-52"/>
              </a:rPr>
              <a:t>или </a:t>
            </a:r>
            <a:r>
              <a:rPr lang="en" sz="1200" dirty="0">
                <a:latin typeface="Montserrat" panose="00000500000000000000" pitchFamily="2" charset="-52"/>
              </a:rPr>
              <a:t>JDBC</a:t>
            </a:r>
            <a:endParaRPr lang="en-US" sz="1200" dirty="0">
              <a:latin typeface="Montserrat" panose="00000500000000000000" pitchFamily="2" charset="-52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35A1E173-4B65-3515-501B-A5E9057FE3C4}"/>
              </a:ext>
            </a:extLst>
          </p:cNvPr>
          <p:cNvSpPr/>
          <p:nvPr/>
        </p:nvSpPr>
        <p:spPr>
          <a:xfrm>
            <a:off x="559572" y="5317956"/>
            <a:ext cx="10417337" cy="1081371"/>
          </a:xfrm>
          <a:prstGeom prst="roundRect">
            <a:avLst/>
          </a:prstGeom>
          <a:noFill/>
          <a:ln w="38100">
            <a:solidFill>
              <a:srgbClr val="01B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D346B6-3834-016F-357E-023C36DDB8BE}"/>
              </a:ext>
            </a:extLst>
          </p:cNvPr>
          <p:cNvSpPr txBox="1"/>
          <p:nvPr/>
        </p:nvSpPr>
        <p:spPr>
          <a:xfrm>
            <a:off x="752007" y="5426923"/>
            <a:ext cx="10032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Проект показывает, что правильная архитектура не требует тяжелых фреймворков. Чистый </a:t>
            </a:r>
            <a:r>
              <a:rPr lang="en-US" dirty="0">
                <a:latin typeface="Montserrat" panose="00000500000000000000" pitchFamily="2" charset="-52"/>
              </a:rPr>
              <a:t>Java + </a:t>
            </a:r>
            <a:r>
              <a:rPr lang="ru-RU" dirty="0">
                <a:latin typeface="Montserrat" panose="00000500000000000000" pitchFamily="2" charset="-52"/>
              </a:rPr>
              <a:t>строгое соблюдение </a:t>
            </a:r>
            <a:r>
              <a:rPr lang="en-US" dirty="0">
                <a:latin typeface="Montserrat" panose="00000500000000000000" pitchFamily="2" charset="-52"/>
              </a:rPr>
              <a:t>SOLID = </a:t>
            </a:r>
            <a:r>
              <a:rPr lang="ru-RU" dirty="0">
                <a:latin typeface="Montserrat" panose="00000500000000000000" pitchFamily="2" charset="-52"/>
              </a:rPr>
              <a:t>расширяемый и понятный код.</a:t>
            </a:r>
            <a:endParaRPr lang="en-US" dirty="0">
              <a:latin typeface="Montserrat" panose="00000500000000000000" pitchFamily="2" charset="-5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5DDCD7-592F-8F94-8D0B-A02D7926A538}"/>
              </a:ext>
            </a:extLst>
          </p:cNvPr>
          <p:cNvSpPr txBox="1"/>
          <p:nvPr/>
        </p:nvSpPr>
        <p:spPr>
          <a:xfrm>
            <a:off x="4388696" y="4768112"/>
            <a:ext cx="2611679" cy="400110"/>
          </a:xfrm>
          <a:prstGeom prst="rect">
            <a:avLst/>
          </a:prstGeom>
          <a:solidFill>
            <a:srgbClr val="01BBEE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Montserrat" panose="00000500000000000000" pitchFamily="2" charset="-52"/>
              </a:rPr>
              <a:t>Вывод</a:t>
            </a:r>
            <a:endParaRPr lang="ru-RU" sz="2800" b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91728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0626791A-29D2-474E-D071-8814FA3255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05834"/>
            <a:ext cx="7255749" cy="1754326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058944537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1241</Words>
  <Application>Microsoft Macintosh PowerPoint</Application>
  <PresentationFormat>Широкоэкранный</PresentationFormat>
  <Paragraphs>311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Calibri</vt:lpstr>
      <vt:lpstr>Montserrat</vt:lpstr>
      <vt:lpstr>Arial</vt:lpstr>
      <vt:lpstr>Шаблон МИФИ</vt:lpstr>
      <vt:lpstr>Презентация PowerPoint</vt:lpstr>
      <vt:lpstr>Цели и задачи проекта</vt:lpstr>
      <vt:lpstr>Функциональность системы</vt:lpstr>
      <vt:lpstr>Технологический стек</vt:lpstr>
      <vt:lpstr>Архитектура: слои системы</vt:lpstr>
      <vt:lpstr>Доменная модель: сущности банка</vt:lpstr>
      <vt:lpstr>Бэкенд: REST API</vt:lpstr>
      <vt:lpstr>Бэкенд: жизненный цикл перевода</vt:lpstr>
      <vt:lpstr>Фронтенд: технологии и структура</vt:lpstr>
      <vt:lpstr>Контейнеризация: Docker</vt:lpstr>
      <vt:lpstr>SOLID: S — Single Responsibility</vt:lpstr>
      <vt:lpstr>SOLID: O — Open/Closed</vt:lpstr>
      <vt:lpstr>SOLID: L — Подстановка Лисков</vt:lpstr>
      <vt:lpstr>SOLID: I — Разделение интерфейсов</vt:lpstr>
      <vt:lpstr>SOLID: D — Инверсия зависимостей</vt:lpstr>
      <vt:lpstr>Паттерны: Facade</vt:lpstr>
      <vt:lpstr>Паттерны: Factory Method и Command</vt:lpstr>
      <vt:lpstr>Итоги и результаты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Влад Сидоров</cp:lastModifiedBy>
  <cp:revision>40</cp:revision>
  <dcterms:created xsi:type="dcterms:W3CDTF">2020-05-28T16:18:16Z</dcterms:created>
  <dcterms:modified xsi:type="dcterms:W3CDTF">2026-05-12T22:03:07Z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