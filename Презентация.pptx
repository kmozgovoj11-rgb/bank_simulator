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4" r:id="rId1"/>
  </p:sldMasterIdLst>
  <p:notesMasterIdLst>
    <p:notesMasterId r:id="rId35"/>
  </p:notesMasterIdLst>
  <p:sldIdLst>
    <p:sldId id="256" r:id="rId2"/>
    <p:sldId id="257" r:id="rId3"/>
    <p:sldId id="258" r:id="rId4"/>
    <p:sldId id="287" r:id="rId5"/>
    <p:sldId id="277" r:id="rId6"/>
    <p:sldId id="278" r:id="rId7"/>
    <p:sldId id="281" r:id="rId8"/>
    <p:sldId id="283" r:id="rId9"/>
    <p:sldId id="282" r:id="rId10"/>
    <p:sldId id="280" r:id="rId11"/>
    <p:sldId id="284" r:id="rId12"/>
    <p:sldId id="279" r:id="rId13"/>
    <p:sldId id="259" r:id="rId14"/>
    <p:sldId id="260" r:id="rId15"/>
    <p:sldId id="275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88" r:id="rId28"/>
    <p:sldId id="276" r:id="rId29"/>
    <p:sldId id="285" r:id="rId30"/>
    <p:sldId id="289" r:id="rId31"/>
    <p:sldId id="286" r:id="rId32"/>
    <p:sldId id="273" r:id="rId33"/>
    <p:sldId id="274" r:id="rId34"/>
  </p:sldIdLst>
  <p:sldSz cx="12192000" cy="6858000"/>
  <p:notesSz cx="6858000" cy="9144000"/>
  <p:embeddedFontLst>
    <p:embeddedFont>
      <p:font typeface="Montserrat" pitchFamily="2" charset="0"/>
      <p:regular r:id="rId36"/>
      <p:bold r:id="rId37"/>
      <p:italic r:id="rId38"/>
      <p:boldItalic r:id="rId3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BBEE"/>
    <a:srgbClr val="0055BB"/>
    <a:srgbClr val="CCD1E7"/>
    <a:srgbClr val="E46C2A"/>
    <a:srgbClr val="FF7300"/>
    <a:srgbClr val="0061AF"/>
    <a:srgbClr val="8F9092"/>
    <a:srgbClr val="DDDEDE"/>
    <a:srgbClr val="222A3F"/>
    <a:srgbClr val="00BB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58"/>
    <p:restoredTop sz="95567"/>
  </p:normalViewPr>
  <p:slideViewPr>
    <p:cSldViewPr snapToGrid="0" showGuides="1">
      <p:cViewPr varScale="1">
        <p:scale>
          <a:sx n="105" d="100"/>
          <a:sy n="105" d="100"/>
        </p:scale>
        <p:origin x="1328" y="184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839F6-1901-E549-80FE-F1455A4255C6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8E310-AA22-2646-9CBE-D6D21A1D00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3874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8E310-AA22-2646-9CBE-D6D21A1D00C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22360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8E310-AA22-2646-9CBE-D6D21A1D00CD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3665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атом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</p:spPr>
      </p:pic>
      <p:sp>
        <p:nvSpPr>
          <p:cNvPr id="6" name="Прямоугольник 5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005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55BB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3654" b="46857"/>
          <a:stretch/>
        </p:blipFill>
        <p:spPr>
          <a:xfrm>
            <a:off x="8040340" y="-1"/>
            <a:ext cx="4151660" cy="12239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0" y="6296025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2" y="359101"/>
            <a:ext cx="11081566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7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732396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0" y="6296025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5138" y="170399"/>
            <a:ext cx="1656000" cy="883200"/>
          </a:xfrm>
          <a:prstGeom prst="rect">
            <a:avLst/>
          </a:prstGeom>
        </p:spPr>
      </p:pic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4376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синя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005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2762" y="170399"/>
            <a:ext cx="1656000" cy="8832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0" y="6296025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2" y="359101"/>
            <a:ext cx="9173513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43DE57E-711D-404D-B188-192C4B659303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446839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0" y="6296025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2" y="359101"/>
            <a:ext cx="8900951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rgbClr val="E46C2A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956" y="-135287"/>
            <a:ext cx="2376074" cy="1512000"/>
          </a:xfrm>
          <a:prstGeom prst="rect">
            <a:avLst/>
          </a:prstGeom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9468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сер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DDDE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780" t="32381" r="-4361" b="40680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6" t="1513" r="20843" b="88431"/>
          <a:stretch/>
        </p:blipFill>
        <p:spPr>
          <a:xfrm>
            <a:off x="0" y="6296025"/>
            <a:ext cx="982787" cy="56197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8" t="45097" r="86065" b="31852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/>
          </p:nvPr>
        </p:nvSpPr>
        <p:spPr>
          <a:xfrm>
            <a:off x="559572" y="359101"/>
            <a:ext cx="9032836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rgbClr val="0055BB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rgbClr val="00BBEE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26"/>
          <p:cNvSpPr>
            <a:spLocks noGrp="1"/>
          </p:cNvSpPr>
          <p:nvPr>
            <p:ph type="body" sz="quarter" idx="11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rgbClr val="222A3F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3" name="Рисунок 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invGray">
          <a:xfrm>
            <a:off x="9525956" y="-144001"/>
            <a:ext cx="2376074" cy="1512000"/>
          </a:xfrm>
          <a:prstGeom prst="rect">
            <a:avLst/>
          </a:prstGeom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2077ADA-551A-4656-A047-B811D4148796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67572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6418217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01.01.2010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6418217" y="2567225"/>
            <a:ext cx="269475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6418217" y="3198167"/>
            <a:ext cx="293604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9250"/>
            <a:ext cx="5886994" cy="408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10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425" y="2898000"/>
            <a:ext cx="4752575" cy="3960000"/>
          </a:xfrm>
          <a:prstGeom prst="rect">
            <a:avLst/>
          </a:prstGeom>
        </p:spPr>
      </p:pic>
      <p:sp>
        <p:nvSpPr>
          <p:cNvPr id="7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293604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9755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056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2" r:id="rId6"/>
    <p:sldLayoutId id="2147483681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4065" userDrawn="1">
          <p15:clr>
            <a:srgbClr val="F26B43"/>
          </p15:clr>
        </p15:guide>
        <p15:guide id="5" pos="347" userDrawn="1">
          <p15:clr>
            <a:srgbClr val="F26B43"/>
          </p15:clr>
        </p15:guide>
        <p15:guide id="6" pos="73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283847D-3217-4EB0-48B1-2B922C8A597B}"/>
              </a:ext>
            </a:extLst>
          </p:cNvPr>
          <p:cNvSpPr/>
          <p:nvPr/>
        </p:nvSpPr>
        <p:spPr>
          <a:xfrm>
            <a:off x="220717" y="1650124"/>
            <a:ext cx="5444359" cy="316361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6069E8E-0F72-77FC-C73F-115FEF0FDA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0717" y="5036441"/>
            <a:ext cx="6120624" cy="1477328"/>
          </a:xfrm>
        </p:spPr>
        <p:txBody>
          <a:bodyPr/>
          <a:lstStyle/>
          <a:p>
            <a:r>
              <a:rPr lang="ru-RU" dirty="0"/>
              <a:t>Стек: </a:t>
            </a:r>
            <a:r>
              <a:rPr lang="en" dirty="0"/>
              <a:t>Java 17 · TypeScript · React · SQLite · Docker</a:t>
            </a:r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ED59197-DB1E-C094-FBF7-1AB2B2451BC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20717" y="3350155"/>
            <a:ext cx="5875283" cy="1636986"/>
          </a:xfrm>
        </p:spPr>
        <p:txBody>
          <a:bodyPr/>
          <a:lstStyle/>
          <a:p>
            <a:r>
              <a:rPr lang="ru-RU" dirty="0"/>
              <a:t>Симулятор банка — учебный проект по ООП, слоистой архитектуре и паттернам проектирования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E543C06-260C-F4C5-75B3-40D3E6D85E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0717" y="2782669"/>
            <a:ext cx="5875282" cy="646331"/>
          </a:xfrm>
        </p:spPr>
        <p:txBody>
          <a:bodyPr/>
          <a:lstStyle/>
          <a:p>
            <a:r>
              <a:rPr lang="en-US" dirty="0"/>
              <a:t>Bank Simulator</a:t>
            </a:r>
            <a:endParaRPr lang="ru-RU" dirty="0"/>
          </a:p>
        </p:txBody>
      </p:sp>
      <p:sp>
        <p:nvSpPr>
          <p:cNvPr id="8" name="Текст 4">
            <a:extLst>
              <a:ext uri="{FF2B5EF4-FFF2-40B4-BE49-F238E27FC236}">
                <a16:creationId xmlns:a16="http://schemas.microsoft.com/office/drawing/2014/main" id="{AACDA577-F5DC-1231-EE8F-B49E805ABF94}"/>
              </a:ext>
            </a:extLst>
          </p:cNvPr>
          <p:cNvSpPr txBox="1">
            <a:spLocks/>
          </p:cNvSpPr>
          <p:nvPr/>
        </p:nvSpPr>
        <p:spPr>
          <a:xfrm>
            <a:off x="8910971" y="2922153"/>
            <a:ext cx="6120624" cy="249299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kern="12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Команда: </a:t>
            </a:r>
            <a:r>
              <a:rPr lang="en-US" dirty="0" err="1"/>
              <a:t>MacanyeWest</a:t>
            </a:r>
            <a:endParaRPr lang="en-US" dirty="0"/>
          </a:p>
          <a:p>
            <a:r>
              <a:rPr lang="ru-RU" dirty="0"/>
              <a:t>Участники: </a:t>
            </a:r>
          </a:p>
          <a:p>
            <a:r>
              <a:rPr lang="ru-RU" dirty="0"/>
              <a:t>Аршба Константин</a:t>
            </a:r>
          </a:p>
          <a:p>
            <a:r>
              <a:rPr lang="ru-RU" dirty="0"/>
              <a:t>Захаров Матвей </a:t>
            </a:r>
          </a:p>
          <a:p>
            <a:r>
              <a:rPr lang="ru-RU" dirty="0"/>
              <a:t>Мозговой Константин</a:t>
            </a:r>
          </a:p>
          <a:p>
            <a:r>
              <a:rPr lang="ru-RU" dirty="0"/>
              <a:t>Сидоров Владислав</a:t>
            </a:r>
          </a:p>
          <a:p>
            <a:r>
              <a:rPr lang="ru-RU" dirty="0" err="1"/>
              <a:t>Тынкован</a:t>
            </a:r>
            <a:r>
              <a:rPr lang="ru-RU" dirty="0"/>
              <a:t> Станислав	       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A35134D-2A56-12AD-1300-22C59D9A7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78"/>
            <a:ext cx="3994791" cy="249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941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88AAC0E9-E585-7D84-3A01-CFF9AC10E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 проекта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B8F28516-A4A8-5CFA-F78B-7D2300C0046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9572" y="2071774"/>
            <a:ext cx="4748152" cy="1323439"/>
          </a:xfrm>
          <a:ln w="12700">
            <a:solidFill>
              <a:srgbClr val="01BBEE"/>
            </a:solidFill>
          </a:ln>
        </p:spPr>
        <p:txBody>
          <a:bodyPr/>
          <a:lstStyle/>
          <a:p>
            <a:pPr algn="just"/>
            <a:r>
              <a:rPr lang="ru-RU" sz="1600" dirty="0"/>
              <a:t>Разработать симулятор банковской системы, демонстрирующий принципы ООП, паттерны проектирования и слоистую архитектуру в полностью работающем приложении.</a:t>
            </a:r>
          </a:p>
        </p:txBody>
      </p:sp>
      <p:sp>
        <p:nvSpPr>
          <p:cNvPr id="10" name="Текст 6">
            <a:extLst>
              <a:ext uri="{FF2B5EF4-FFF2-40B4-BE49-F238E27FC236}">
                <a16:creationId xmlns:a16="http://schemas.microsoft.com/office/drawing/2014/main" id="{E8809569-DDC6-4325-8E79-C682DA51A9D5}"/>
              </a:ext>
            </a:extLst>
          </p:cNvPr>
          <p:cNvSpPr txBox="1">
            <a:spLocks/>
          </p:cNvSpPr>
          <p:nvPr/>
        </p:nvSpPr>
        <p:spPr>
          <a:xfrm>
            <a:off x="6884276" y="2071774"/>
            <a:ext cx="4748152" cy="2939266"/>
          </a:xfrm>
          <a:prstGeom prst="rect">
            <a:avLst/>
          </a:prstGeom>
          <a:ln w="12700">
            <a:solidFill>
              <a:srgbClr val="01BBEE"/>
            </a:solidFill>
          </a:ln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- Реализовать три типа банковских счетов с разной логикой;</a:t>
            </a:r>
          </a:p>
          <a:p>
            <a:r>
              <a:rPr lang="ru-RU" sz="1600" dirty="0"/>
              <a:t>- Реализовать систему транзакций с поддержкой отката;</a:t>
            </a:r>
          </a:p>
          <a:p>
            <a:r>
              <a:rPr lang="ru-RU" sz="1600" dirty="0"/>
              <a:t>- Обеспечить аутентификацию по телефону и паролю;</a:t>
            </a:r>
          </a:p>
          <a:p>
            <a:r>
              <a:rPr lang="ru-RU" sz="1600" dirty="0"/>
              <a:t>- Сохранять данные в базе данных между сессиями;</a:t>
            </a:r>
          </a:p>
          <a:p>
            <a:r>
              <a:rPr lang="ru-RU" sz="1600" dirty="0"/>
              <a:t>- Разработать </a:t>
            </a:r>
            <a:r>
              <a:rPr lang="en" sz="1600" dirty="0"/>
              <a:t>REST API </a:t>
            </a:r>
            <a:r>
              <a:rPr lang="ru-RU" sz="1600" dirty="0"/>
              <a:t>и веб-интерфейс;</a:t>
            </a:r>
          </a:p>
          <a:p>
            <a:r>
              <a:rPr lang="ru-RU" sz="1600" dirty="0"/>
              <a:t>- Упаковать проект в </a:t>
            </a:r>
            <a:r>
              <a:rPr lang="en" sz="1600" dirty="0"/>
              <a:t>Docker-</a:t>
            </a:r>
            <a:r>
              <a:rPr lang="ru-RU" sz="1600" dirty="0"/>
              <a:t>контейнеры.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B218E-59A7-610D-1A01-24D7C4953916}"/>
              </a:ext>
            </a:extLst>
          </p:cNvPr>
          <p:cNvSpPr txBox="1"/>
          <p:nvPr/>
        </p:nvSpPr>
        <p:spPr>
          <a:xfrm>
            <a:off x="1943048" y="1446747"/>
            <a:ext cx="1981200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Цели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E72ED0-14C4-9E23-D9B3-E33BA0DAD313}"/>
              </a:ext>
            </a:extLst>
          </p:cNvPr>
          <p:cNvSpPr txBox="1"/>
          <p:nvPr/>
        </p:nvSpPr>
        <p:spPr>
          <a:xfrm>
            <a:off x="8267752" y="1446747"/>
            <a:ext cx="1981200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Задачи</a:t>
            </a:r>
          </a:p>
        </p:txBody>
      </p:sp>
      <p:sp>
        <p:nvSpPr>
          <p:cNvPr id="2" name="Текст 6">
            <a:extLst>
              <a:ext uri="{FF2B5EF4-FFF2-40B4-BE49-F238E27FC236}">
                <a16:creationId xmlns:a16="http://schemas.microsoft.com/office/drawing/2014/main" id="{198D2582-0F50-CE5B-BCEF-A126B79283B7}"/>
              </a:ext>
            </a:extLst>
          </p:cNvPr>
          <p:cNvSpPr txBox="1">
            <a:spLocks/>
          </p:cNvSpPr>
          <p:nvPr/>
        </p:nvSpPr>
        <p:spPr>
          <a:xfrm>
            <a:off x="559572" y="4180043"/>
            <a:ext cx="4748152" cy="830997"/>
          </a:xfrm>
          <a:prstGeom prst="rect">
            <a:avLst/>
          </a:prstGeom>
          <a:ln w="12700">
            <a:solidFill>
              <a:srgbClr val="01BBEE"/>
            </a:solidFill>
          </a:ln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1600" dirty="0"/>
              <a:t>Банковская система — это предметная область, в которой ключевые конструкции ООП возникают естественно.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9F88B4-324E-BE4B-3301-C58E9637CE0A}"/>
              </a:ext>
            </a:extLst>
          </p:cNvPr>
          <p:cNvSpPr txBox="1"/>
          <p:nvPr/>
        </p:nvSpPr>
        <p:spPr>
          <a:xfrm>
            <a:off x="1943048" y="3556187"/>
            <a:ext cx="2092924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Обоснование</a:t>
            </a:r>
          </a:p>
        </p:txBody>
      </p:sp>
    </p:spTree>
    <p:extLst>
      <p:ext uri="{BB962C8B-B14F-4D97-AF65-F5344CB8AC3E}">
        <p14:creationId xmlns:p14="http://schemas.microsoft.com/office/powerpoint/2010/main" val="80108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183BC3-A781-4473-2C17-89990CEFE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Функциональность системы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7DF37D7-434E-2EFA-B4AB-EDFF46EDFC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37385" y="1388734"/>
            <a:ext cx="4317229" cy="400110"/>
          </a:xfrm>
        </p:spPr>
        <p:txBody>
          <a:bodyPr/>
          <a:lstStyle/>
          <a:p>
            <a:pPr algn="ctr"/>
            <a:r>
              <a:rPr lang="ru-RU" sz="2000" dirty="0"/>
              <a:t>Что умеет </a:t>
            </a:r>
            <a:r>
              <a:rPr lang="en" sz="2000" dirty="0"/>
              <a:t>Bank Simulator</a:t>
            </a:r>
            <a:endParaRPr lang="ru-RU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F99FC3F-846E-201E-6727-41263B9E0B6C}"/>
              </a:ext>
            </a:extLst>
          </p:cNvPr>
          <p:cNvSpPr txBox="1"/>
          <p:nvPr/>
        </p:nvSpPr>
        <p:spPr>
          <a:xfrm>
            <a:off x="1286254" y="2022111"/>
            <a:ext cx="4214649" cy="369332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" panose="00000500000000000000" pitchFamily="2" charset="-52"/>
              </a:rPr>
              <a:t>       Счета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58C385D6-B01C-F006-F503-AE65C85B1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17785" y="2007080"/>
            <a:ext cx="399393" cy="39939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CB25C0D-ED63-6DCC-81E2-2CCA278086F3}"/>
              </a:ext>
            </a:extLst>
          </p:cNvPr>
          <p:cNvSpPr txBox="1"/>
          <p:nvPr/>
        </p:nvSpPr>
        <p:spPr>
          <a:xfrm>
            <a:off x="1286254" y="2391443"/>
            <a:ext cx="4214649" cy="707886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Montserrat" panose="00000500000000000000" pitchFamily="2" charset="-52"/>
              </a:rPr>
              <a:t>3 типа: дебетовый, сберегательный, кредитный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4CAFB39-6C27-9D8E-0593-DB7AEC6ED966}"/>
              </a:ext>
            </a:extLst>
          </p:cNvPr>
          <p:cNvSpPr txBox="1"/>
          <p:nvPr/>
        </p:nvSpPr>
        <p:spPr>
          <a:xfrm>
            <a:off x="6520406" y="2022111"/>
            <a:ext cx="4214649" cy="369332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" panose="00000500000000000000" pitchFamily="2" charset="-52"/>
              </a:rPr>
              <a:t>       Переводы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B337D3-574A-6E9A-DED0-9BDA47E2D8BD}"/>
              </a:ext>
            </a:extLst>
          </p:cNvPr>
          <p:cNvSpPr txBox="1"/>
          <p:nvPr/>
        </p:nvSpPr>
        <p:spPr>
          <a:xfrm>
            <a:off x="6520406" y="2391443"/>
            <a:ext cx="4214649" cy="707886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Montserrat" panose="00000500000000000000" pitchFamily="2" charset="-52"/>
              </a:rPr>
              <a:t>Между счетами, история операций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624273-A02A-F3CA-B4DB-06CC11F38AC5}"/>
              </a:ext>
            </a:extLst>
          </p:cNvPr>
          <p:cNvSpPr txBox="1"/>
          <p:nvPr/>
        </p:nvSpPr>
        <p:spPr>
          <a:xfrm>
            <a:off x="1286254" y="3468661"/>
            <a:ext cx="4214649" cy="369332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" panose="00000500000000000000" pitchFamily="2" charset="-52"/>
              </a:rPr>
              <a:t>       Авторизация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355D94-7B45-95CB-17EF-FAA4E43A8EB0}"/>
              </a:ext>
            </a:extLst>
          </p:cNvPr>
          <p:cNvSpPr txBox="1"/>
          <p:nvPr/>
        </p:nvSpPr>
        <p:spPr>
          <a:xfrm>
            <a:off x="1286254" y="3837993"/>
            <a:ext cx="4214649" cy="707886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Montserrat" panose="00000500000000000000" pitchFamily="2" charset="-52"/>
              </a:rPr>
              <a:t>Вход и регистрация по номеру телефона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BB914A-36F1-E575-98ED-DDDB4729F13B}"/>
              </a:ext>
            </a:extLst>
          </p:cNvPr>
          <p:cNvSpPr txBox="1"/>
          <p:nvPr/>
        </p:nvSpPr>
        <p:spPr>
          <a:xfrm>
            <a:off x="6520406" y="3468661"/>
            <a:ext cx="4214649" cy="369332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" panose="00000500000000000000" pitchFamily="2" charset="-52"/>
              </a:rPr>
              <a:t>       </a:t>
            </a:r>
            <a:r>
              <a:rPr lang="ru-RU" dirty="0" err="1">
                <a:latin typeface="Montserrat" panose="00000500000000000000" pitchFamily="2" charset="-52"/>
              </a:rPr>
              <a:t>Персистентность</a:t>
            </a:r>
            <a:endParaRPr lang="ru-RU" dirty="0">
              <a:latin typeface="Montserrat" panose="00000500000000000000" pitchFamily="2" charset="-52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E9961BD-1BC9-15D5-E8E4-242C3F0194CA}"/>
              </a:ext>
            </a:extLst>
          </p:cNvPr>
          <p:cNvSpPr txBox="1"/>
          <p:nvPr/>
        </p:nvSpPr>
        <p:spPr>
          <a:xfrm>
            <a:off x="6520406" y="3837993"/>
            <a:ext cx="4214649" cy="707886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sz="2000" dirty="0">
                <a:latin typeface="Montserrat" panose="00000500000000000000" pitchFamily="2" charset="-52"/>
              </a:rPr>
              <a:t>SQLite</a:t>
            </a:r>
            <a:r>
              <a:rPr lang="ru-RU" sz="2000" dirty="0">
                <a:latin typeface="Montserrat" panose="00000500000000000000" pitchFamily="2" charset="-52"/>
              </a:rPr>
              <a:t>,</a:t>
            </a:r>
            <a:r>
              <a:rPr lang="en" sz="2000" dirty="0">
                <a:latin typeface="Montserrat" panose="00000500000000000000" pitchFamily="2" charset="-52"/>
              </a:rPr>
              <a:t> </a:t>
            </a:r>
            <a:r>
              <a:rPr lang="ru-RU" sz="2000" dirty="0">
                <a:latin typeface="Montserrat" panose="00000500000000000000" pitchFamily="2" charset="-52"/>
              </a:rPr>
              <a:t>сохраняет данные между запусками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356106-6867-FCE7-A84A-FB5D227A997E}"/>
              </a:ext>
            </a:extLst>
          </p:cNvPr>
          <p:cNvSpPr txBox="1"/>
          <p:nvPr/>
        </p:nvSpPr>
        <p:spPr>
          <a:xfrm>
            <a:off x="1286254" y="4915211"/>
            <a:ext cx="4214649" cy="369332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" panose="00000500000000000000" pitchFamily="2" charset="-52"/>
              </a:rPr>
              <a:t>       </a:t>
            </a:r>
            <a:r>
              <a:rPr lang="en" dirty="0">
                <a:latin typeface="Montserrat" panose="00000500000000000000" pitchFamily="2" charset="-52"/>
              </a:rPr>
              <a:t>REST API</a:t>
            </a:r>
            <a:endParaRPr lang="ru-RU" dirty="0">
              <a:latin typeface="Montserrat" panose="00000500000000000000" pitchFamily="2" charset="-52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0547AB-41F9-9516-9345-A23D666F7942}"/>
              </a:ext>
            </a:extLst>
          </p:cNvPr>
          <p:cNvSpPr txBox="1"/>
          <p:nvPr/>
        </p:nvSpPr>
        <p:spPr>
          <a:xfrm>
            <a:off x="1286254" y="5284543"/>
            <a:ext cx="4214649" cy="707886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Montserrat" panose="00000500000000000000" pitchFamily="2" charset="-52"/>
              </a:rPr>
              <a:t>10 бизнес-</a:t>
            </a:r>
            <a:r>
              <a:rPr lang="ru-RU" sz="2000" dirty="0" err="1">
                <a:latin typeface="Montserrat" panose="00000500000000000000" pitchFamily="2" charset="-52"/>
              </a:rPr>
              <a:t>эндпоинтов</a:t>
            </a:r>
            <a:r>
              <a:rPr lang="ru-RU" sz="2000" dirty="0">
                <a:latin typeface="Montserrat" panose="00000500000000000000" pitchFamily="2" charset="-52"/>
              </a:rPr>
              <a:t> + </a:t>
            </a:r>
            <a:r>
              <a:rPr lang="en-US" sz="2000" dirty="0">
                <a:latin typeface="Montserrat" panose="00000500000000000000" pitchFamily="2" charset="-52"/>
              </a:rPr>
              <a:t>health</a:t>
            </a:r>
            <a:endParaRPr lang="ru-RU" sz="2000" dirty="0">
              <a:latin typeface="Montserrat" panose="00000500000000000000" pitchFamily="2" charset="-52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F4E75C-C7EF-7580-2F09-3C4CDD9F8BBA}"/>
              </a:ext>
            </a:extLst>
          </p:cNvPr>
          <p:cNvSpPr txBox="1"/>
          <p:nvPr/>
        </p:nvSpPr>
        <p:spPr>
          <a:xfrm>
            <a:off x="6520406" y="4915211"/>
            <a:ext cx="4214649" cy="369332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" panose="00000500000000000000" pitchFamily="2" charset="-52"/>
              </a:rPr>
              <a:t>       Веб-интерфейс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33F0C5B-EA75-C66F-3F39-BF6DCDB35332}"/>
              </a:ext>
            </a:extLst>
          </p:cNvPr>
          <p:cNvSpPr txBox="1"/>
          <p:nvPr/>
        </p:nvSpPr>
        <p:spPr>
          <a:xfrm>
            <a:off x="6520406" y="5284543"/>
            <a:ext cx="4214649" cy="707886"/>
          </a:xfrm>
          <a:prstGeom prst="rect">
            <a:avLst/>
          </a:prstGeom>
          <a:noFill/>
          <a:ln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Montserrat" panose="00000500000000000000" pitchFamily="2" charset="-52"/>
              </a:rPr>
              <a:t>Дашборд, переводы, цели</a:t>
            </a:r>
            <a:r>
              <a:rPr lang="en-US" sz="2000" dirty="0">
                <a:latin typeface="Montserrat" panose="00000500000000000000" pitchFamily="2" charset="-52"/>
              </a:rPr>
              <a:t>, </a:t>
            </a:r>
            <a:r>
              <a:rPr lang="ru-RU" sz="2000" dirty="0">
                <a:latin typeface="Montserrat" panose="00000500000000000000" pitchFamily="2" charset="-52"/>
              </a:rPr>
              <a:t>открытие/закрытие счета</a:t>
            </a:r>
          </a:p>
        </p:txBody>
      </p:sp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AA48C47A-796D-42AF-E23B-4AC867E40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7628" y="2066200"/>
            <a:ext cx="281151" cy="281151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801D5BCE-D80C-D96A-84C1-1E5B4BB95E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83474" y="3519320"/>
            <a:ext cx="268014" cy="268014"/>
          </a:xfrm>
          <a:prstGeom prst="rect">
            <a:avLst/>
          </a:prstGeom>
        </p:spPr>
      </p:pic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5F4723A2-7DC3-8846-17DD-84B9A67307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39961" y="3535086"/>
            <a:ext cx="236483" cy="236483"/>
          </a:xfrm>
          <a:prstGeom prst="rect">
            <a:avLst/>
          </a:prstGeom>
        </p:spPr>
      </p:pic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ADE4EAA2-935A-A5BF-742D-D6DFFDEF53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58077" y="4915211"/>
            <a:ext cx="359101" cy="359101"/>
          </a:xfrm>
          <a:prstGeom prst="rect">
            <a:avLst/>
          </a:pr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C6EDB0BC-BA1E-6230-CB53-9074915A59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78651" y="4925442"/>
            <a:ext cx="359101" cy="359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03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50BEBC-EA5F-4951-5E76-EE63DABA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Сценарий использования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F837040-7C70-DF88-F0FA-68C8167B2F3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9572" y="1651590"/>
            <a:ext cx="7380661" cy="3554819"/>
          </a:xfrm>
        </p:spPr>
        <p:txBody>
          <a:bodyPr/>
          <a:lstStyle/>
          <a:p>
            <a:r>
              <a:rPr lang="ru-RU" sz="1800" dirty="0"/>
              <a:t>1. Зарегистрироваться (вход по телефону + пароль);</a:t>
            </a:r>
          </a:p>
          <a:p>
            <a:r>
              <a:rPr lang="ru-RU" sz="1800" dirty="0"/>
              <a:t>2. Войти в систему;</a:t>
            </a:r>
          </a:p>
          <a:p>
            <a:r>
              <a:rPr lang="ru-RU" sz="1800" dirty="0"/>
              <a:t>3. Просмотреть дашборд (счета, история);</a:t>
            </a:r>
          </a:p>
          <a:p>
            <a:r>
              <a:rPr lang="ru-RU" sz="1800" dirty="0"/>
              <a:t>4. Открыть дополнительный счёт (</a:t>
            </a:r>
            <a:r>
              <a:rPr lang="ru-RU" sz="1800" dirty="0" err="1"/>
              <a:t>Savings</a:t>
            </a:r>
            <a:r>
              <a:rPr lang="ru-RU" sz="1800" dirty="0"/>
              <a:t>/Credit);</a:t>
            </a:r>
          </a:p>
          <a:p>
            <a:r>
              <a:rPr lang="ru-RU" sz="1800" dirty="0"/>
              <a:t>5. Закрыть дополнительный счёт;</a:t>
            </a:r>
          </a:p>
          <a:p>
            <a:r>
              <a:rPr lang="ru-RU" sz="1800" dirty="0"/>
              <a:t>6. Пополнить стандартный дебетовый счёт;</a:t>
            </a:r>
          </a:p>
          <a:p>
            <a:r>
              <a:rPr lang="ru-RU" sz="1800" dirty="0"/>
              <a:t>7. Перевести деньги другому клиенту;</a:t>
            </a:r>
          </a:p>
          <a:p>
            <a:r>
              <a:rPr lang="ru-RU" sz="1800" dirty="0"/>
              <a:t>8. Пополнить сберегательный счёт со своего дебетового;</a:t>
            </a:r>
          </a:p>
          <a:p>
            <a:r>
              <a:rPr lang="ru-RU" sz="1800" dirty="0"/>
              <a:t>9. Начислить проценты на сберегательный счёт;</a:t>
            </a:r>
          </a:p>
          <a:p>
            <a:r>
              <a:rPr lang="ru-RU" sz="1800" dirty="0"/>
              <a:t>10. Посмотреть историю операций по счёту.</a:t>
            </a:r>
          </a:p>
        </p:txBody>
      </p:sp>
    </p:spTree>
    <p:extLst>
      <p:ext uri="{BB962C8B-B14F-4D97-AF65-F5344CB8AC3E}">
        <p14:creationId xmlns:p14="http://schemas.microsoft.com/office/powerpoint/2010/main" val="2492433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6826C8B-59AC-D909-2FCB-5129A79C4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4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462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BA6F62-A884-1107-DA81-17DD70B6C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05F50B-9AD0-AECE-666C-92F1E880B8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DE7ACD3-7001-F360-AB4B-C5D6D73312B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DE2126E-74F5-80B2-07E6-797AFF167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41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34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95E093-40A6-3793-F7A8-1B5984D94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4AC9EA4-F381-CAB9-FB3D-FEAAB10723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3239098-BD8B-2770-3255-7F49718477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6B3476E-7C9E-11CB-4BAF-3718CADEB7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45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565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9D8865-5ACA-C80A-052B-6BDD603D8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400FDC-CEC2-3539-2FF8-EE495ADC11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807437E-2ECC-FF70-2ADE-9A62CB7B96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3C880B8-04C8-0330-EC63-D0D06F554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4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579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C7F321-8563-8388-09D7-4AD18BA05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0C15AB8-9927-F1DB-F836-B7A6D58A0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412C6C4-FAAD-AE07-4F4F-52C60D94D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947BEE8-DCDC-B902-91C7-FAE18A4821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46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883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F113D6-3D53-27CF-17A7-D767D3B66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B297BEE-A999-DF54-D078-8EDA9FC11D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1350662-AF52-CFDC-4D44-ECD3DFED17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11F9578-FD6E-468A-9611-E0563F412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4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7259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F59C31-2D2F-2913-422A-B7F829974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E9D602-5618-F09C-5A62-1C108A773D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A7BAE4D-3077-720C-8612-1BE2534591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9421489-A60B-F5B3-6B4B-2890B57FCD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388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728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9C1C3E-B6F2-B421-D489-770C05158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469AA76-D4DE-0777-120D-F3BFE26C41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92678DA-7797-D10E-0F83-A05027C4F1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1A7FCAF-F7CF-522C-4DED-2E905856BA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388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098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73FC82-52CF-F4AB-22B6-649D3061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Технологический стек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E1D52135-5759-9AA4-4DB4-96FBE2D94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714215"/>
              </p:ext>
            </p:extLst>
          </p:nvPr>
        </p:nvGraphicFramePr>
        <p:xfrm>
          <a:off x="2032000" y="1669393"/>
          <a:ext cx="8128000" cy="4348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8934694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97283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Компонент</a:t>
                      </a:r>
                    </a:p>
                  </a:txBody>
                  <a:tcPr>
                    <a:solidFill>
                      <a:srgbClr val="01BB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Технология</a:t>
                      </a:r>
                    </a:p>
                  </a:txBody>
                  <a:tcPr>
                    <a:solidFill>
                      <a:srgbClr val="01B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184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Бэкенд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Java 17, </a:t>
                      </a:r>
                      <a:r>
                        <a:rPr lang="ru-RU" dirty="0"/>
                        <a:t>стандартный `</a:t>
                      </a:r>
                      <a:r>
                        <a:rPr lang="en" dirty="0" err="1"/>
                        <a:t>com.sun.net.httpserver</a:t>
                      </a:r>
                      <a:r>
                        <a:rPr lang="en" dirty="0"/>
                        <a:t>`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507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Сборка бэкенда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Maven 3, </a:t>
                      </a:r>
                      <a:r>
                        <a:rPr lang="ru-RU" dirty="0"/>
                        <a:t>плагин </a:t>
                      </a:r>
                      <a:r>
                        <a:rPr lang="en" dirty="0"/>
                        <a:t>maven-shade (fat JAR)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4896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БД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SQLite + `</a:t>
                      </a:r>
                      <a:r>
                        <a:rPr lang="en" dirty="0" err="1"/>
                        <a:t>sqlite-jdbc</a:t>
                      </a:r>
                      <a:r>
                        <a:rPr lang="en" dirty="0"/>
                        <a:t> 3.47` 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1634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Фронтенд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TypeScript, React 18, React Router 7 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7408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Стили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Tailwind CSS 4 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8271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Сборка фронтенда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Vite 6, </a:t>
                      </a:r>
                      <a:r>
                        <a:rPr lang="en" dirty="0" err="1"/>
                        <a:t>npm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629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Контейнеризация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Docker, Docker Compose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995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Веб-сервер фронтенда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nginx 1.27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090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Диаграммы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 err="1"/>
                        <a:t>PlantUML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168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Тесты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JUnit 5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368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8714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FECA87-2D3A-F6AF-6C39-4325D7AF9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Архитектура: слои системы</a:t>
            </a: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5316F8E1-AC61-5B06-E913-1FA4C0AC9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472242"/>
              </p:ext>
            </p:extLst>
          </p:nvPr>
        </p:nvGraphicFramePr>
        <p:xfrm>
          <a:off x="2421094" y="1332577"/>
          <a:ext cx="7349811" cy="51663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49811">
                  <a:extLst>
                    <a:ext uri="{9D8B030D-6E8A-4147-A177-3AD203B41FA5}">
                      <a16:colId xmlns:a16="http://schemas.microsoft.com/office/drawing/2014/main" val="3061944314"/>
                    </a:ext>
                  </a:extLst>
                </a:gridCol>
              </a:tblGrid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dirty="0"/>
                        <a:t> PRESENTATION </a:t>
                      </a:r>
                      <a:endParaRPr lang="ru-RU" dirty="0"/>
                    </a:p>
                  </a:txBody>
                  <a:tcPr>
                    <a:solidFill>
                      <a:srgbClr val="01B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689460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dirty="0" err="1"/>
                        <a:t>ApiServer</a:t>
                      </a:r>
                      <a:r>
                        <a:rPr lang="en" dirty="0"/>
                        <a:t> · HTTP-</a:t>
                      </a:r>
                      <a:r>
                        <a:rPr lang="ru-RU" dirty="0" err="1"/>
                        <a:t>роуты</a:t>
                      </a:r>
                      <a:r>
                        <a:rPr lang="ru-RU" dirty="0"/>
                        <a:t> · </a:t>
                      </a:r>
                      <a:r>
                        <a:rPr lang="en" dirty="0" err="1"/>
                        <a:t>JsonUtil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6319126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b="1" dirty="0">
                          <a:solidFill>
                            <a:schemeClr val="bg1"/>
                          </a:solidFill>
                        </a:rPr>
                        <a:t>APPLICATION</a:t>
                      </a:r>
                      <a:endParaRPr lang="ru-RU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1B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629485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dirty="0" err="1"/>
                        <a:t>BankService</a:t>
                      </a:r>
                      <a:r>
                        <a:rPr lang="en" dirty="0"/>
                        <a:t> · </a:t>
                      </a:r>
                      <a:r>
                        <a:rPr lang="en" dirty="0" err="1"/>
                        <a:t>AuthService</a:t>
                      </a:r>
                      <a:r>
                        <a:rPr lang="en" dirty="0"/>
                        <a:t> 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1723476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dirty="0" err="1"/>
                        <a:t>CustomerPortalService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658479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dirty="0" err="1"/>
                        <a:t>AuthCredentialsValidator</a:t>
                      </a:r>
                      <a:r>
                        <a:rPr lang="en" dirty="0"/>
                        <a:t> 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094895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b="1" dirty="0">
                          <a:solidFill>
                            <a:schemeClr val="bg1"/>
                          </a:solidFill>
                        </a:rPr>
                        <a:t>DOMAIN</a:t>
                      </a:r>
                      <a:r>
                        <a:rPr lang="en" dirty="0"/>
                        <a:t> </a:t>
                      </a:r>
                      <a:endParaRPr lang="ru-RU" dirty="0"/>
                    </a:p>
                  </a:txBody>
                  <a:tcPr>
                    <a:solidFill>
                      <a:srgbClr val="01B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7185592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dirty="0"/>
                        <a:t>Customer · User · Account 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316913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dirty="0"/>
                        <a:t>Transaction · </a:t>
                      </a:r>
                      <a:r>
                        <a:rPr lang="en" dirty="0" err="1"/>
                        <a:t>AccountFactory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332996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ru-RU" dirty="0" err="1"/>
                        <a:t>Репозиторные</a:t>
                      </a:r>
                      <a:r>
                        <a:rPr lang="ru-RU" dirty="0"/>
                        <a:t> интерфейсы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202140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b="1" dirty="0">
                          <a:solidFill>
                            <a:schemeClr val="bg1"/>
                          </a:solidFill>
                        </a:rPr>
                        <a:t>INFRASTRUCTURE</a:t>
                      </a:r>
                      <a:endParaRPr lang="ru-RU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1B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8458648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dirty="0"/>
                        <a:t>Database · </a:t>
                      </a:r>
                      <a:r>
                        <a:rPr lang="en" dirty="0" err="1"/>
                        <a:t>Sql</a:t>
                      </a:r>
                      <a:r>
                        <a:rPr lang="en" dirty="0"/>
                        <a:t>*Repository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3731838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dirty="0" err="1"/>
                        <a:t>SqlTransactionRepository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8660146"/>
                  </a:ext>
                </a:extLst>
              </a:tr>
              <a:tr h="369023">
                <a:tc>
                  <a:txBody>
                    <a:bodyPr/>
                    <a:lstStyle/>
                    <a:p>
                      <a:pPr algn="ctr"/>
                      <a:r>
                        <a:rPr lang="en" dirty="0" err="1"/>
                        <a:t>SqliteTransactionBroker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6519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58278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CDE59C-5D3E-D613-C734-2522132D7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UML-</a:t>
            </a:r>
            <a:r>
              <a:rPr lang="ru-RU" dirty="0"/>
              <a:t>диаграмма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2B85076-BA39-2506-E117-C83DA18DB8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814" y="1061070"/>
            <a:ext cx="10995951" cy="556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688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0A7B1A-23B7-AD99-1497-38B93655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Бэкенд: </a:t>
            </a:r>
            <a:r>
              <a:rPr lang="en" dirty="0"/>
              <a:t>REST API</a:t>
            </a:r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3EB61F7-5C28-E213-1144-F95FE8F7A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78977"/>
              </p:ext>
            </p:extLst>
          </p:nvPr>
        </p:nvGraphicFramePr>
        <p:xfrm>
          <a:off x="326796" y="1273858"/>
          <a:ext cx="11538408" cy="4988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6136">
                  <a:extLst>
                    <a:ext uri="{9D8B030D-6E8A-4147-A177-3AD203B41FA5}">
                      <a16:colId xmlns:a16="http://schemas.microsoft.com/office/drawing/2014/main" val="1020798182"/>
                    </a:ext>
                  </a:extLst>
                </a:gridCol>
                <a:gridCol w="3846136">
                  <a:extLst>
                    <a:ext uri="{9D8B030D-6E8A-4147-A177-3AD203B41FA5}">
                      <a16:colId xmlns:a16="http://schemas.microsoft.com/office/drawing/2014/main" val="2545129335"/>
                    </a:ext>
                  </a:extLst>
                </a:gridCol>
                <a:gridCol w="3846136">
                  <a:extLst>
                    <a:ext uri="{9D8B030D-6E8A-4147-A177-3AD203B41FA5}">
                      <a16:colId xmlns:a16="http://schemas.microsoft.com/office/drawing/2014/main" val="1189505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Метод</a:t>
                      </a:r>
                    </a:p>
                  </a:txBody>
                  <a:tcPr>
                    <a:solidFill>
                      <a:srgbClr val="01BB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Путь</a:t>
                      </a:r>
                    </a:p>
                  </a:txBody>
                  <a:tcPr>
                    <a:solidFill>
                      <a:srgbClr val="01BB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Описание</a:t>
                      </a:r>
                    </a:p>
                  </a:txBody>
                  <a:tcPr>
                    <a:solidFill>
                      <a:srgbClr val="01B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6333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dirty="0"/>
                        <a:t>GET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`/</a:t>
                      </a:r>
                      <a:r>
                        <a:rPr lang="en" dirty="0" err="1"/>
                        <a:t>api</a:t>
                      </a:r>
                      <a:r>
                        <a:rPr lang="en" dirty="0"/>
                        <a:t>/health`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Проверка доступности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18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dirty="0"/>
                        <a:t>POST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`/</a:t>
                      </a:r>
                      <a:r>
                        <a:rPr lang="en" dirty="0" err="1"/>
                        <a:t>api</a:t>
                      </a:r>
                      <a:r>
                        <a:rPr lang="en" dirty="0"/>
                        <a:t>/auth/register`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Регистрация клиента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2640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dirty="0"/>
                        <a:t>POST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`/</a:t>
                      </a:r>
                      <a:r>
                        <a:rPr lang="en" dirty="0" err="1"/>
                        <a:t>api</a:t>
                      </a:r>
                      <a:r>
                        <a:rPr lang="en" dirty="0"/>
                        <a:t>/auth/login`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Вход по телефону и паролю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48728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dirty="0"/>
                        <a:t>GET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`/</a:t>
                      </a:r>
                      <a:r>
                        <a:rPr lang="en" dirty="0" err="1"/>
                        <a:t>api</a:t>
                      </a:r>
                      <a:r>
                        <a:rPr lang="en" dirty="0"/>
                        <a:t>/customers/{id}/dashboard`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Счета и транзакции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2815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dirty="0"/>
                        <a:t>POST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`/</a:t>
                      </a:r>
                      <a:r>
                        <a:rPr lang="en" dirty="0" err="1"/>
                        <a:t>api</a:t>
                      </a:r>
                      <a:r>
                        <a:rPr lang="en" dirty="0"/>
                        <a:t>/customers/{id}/accounts`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Открытие счета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597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dirty="0"/>
                        <a:t>POST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`/</a:t>
                      </a:r>
                      <a:r>
                        <a:rPr lang="en" dirty="0" err="1"/>
                        <a:t>api</a:t>
                      </a:r>
                      <a:r>
                        <a:rPr lang="en" dirty="0"/>
                        <a:t>/customers/{id}/accounts/delete`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Закрытие счета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164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dirty="0"/>
                        <a:t>POST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`/</a:t>
                      </a:r>
                      <a:r>
                        <a:rPr lang="en" dirty="0" err="1"/>
                        <a:t>api</a:t>
                      </a:r>
                      <a:r>
                        <a:rPr lang="en" dirty="0"/>
                        <a:t>/customers/{id}/deposits`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Пополнение дебетового счета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0905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dirty="0"/>
                        <a:t>`/</a:t>
                      </a:r>
                      <a:r>
                        <a:rPr lang="en" dirty="0" err="1"/>
                        <a:t>api</a:t>
                      </a:r>
                      <a:r>
                        <a:rPr lang="en" dirty="0"/>
                        <a:t>/customers/{id}/savings-deposits`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Перевод денег со стандартного дебетового на свой сберегательный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5529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dirty="0"/>
                        <a:t>GET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`/</a:t>
                      </a:r>
                      <a:r>
                        <a:rPr lang="en" dirty="0" err="1"/>
                        <a:t>api</a:t>
                      </a:r>
                      <a:r>
                        <a:rPr lang="en" dirty="0"/>
                        <a:t>/accounts/{number}/history`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История счета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0488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dirty="0"/>
                        <a:t>`/</a:t>
                      </a:r>
                      <a:r>
                        <a:rPr lang="en" dirty="0" err="1"/>
                        <a:t>api</a:t>
                      </a:r>
                      <a:r>
                        <a:rPr lang="en" dirty="0"/>
                        <a:t>/customers/{number}/accrue-interest`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Начисление процентов на сберегательный счет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49214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dirty="0"/>
                        <a:t>POST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`/</a:t>
                      </a:r>
                      <a:r>
                        <a:rPr lang="en" dirty="0" err="1"/>
                        <a:t>api</a:t>
                      </a:r>
                      <a:r>
                        <a:rPr lang="en" dirty="0"/>
                        <a:t>/transfers`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Перевод между счетами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08562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55486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B7AC48-1A91-DC7C-EDEF-D741C06DF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Бэкенд: жизненный цикл перевода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929BA4-E100-97BA-2B62-3359FD1DA6FF}"/>
              </a:ext>
            </a:extLst>
          </p:cNvPr>
          <p:cNvSpPr txBox="1"/>
          <p:nvPr/>
        </p:nvSpPr>
        <p:spPr>
          <a:xfrm>
            <a:off x="751114" y="882321"/>
            <a:ext cx="1981200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Frontend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99E9BD-9486-9CA6-0512-EC68ABD6AADA}"/>
              </a:ext>
            </a:extLst>
          </p:cNvPr>
          <p:cNvSpPr txBox="1"/>
          <p:nvPr/>
        </p:nvSpPr>
        <p:spPr>
          <a:xfrm>
            <a:off x="1872031" y="1291113"/>
            <a:ext cx="2384283" cy="369332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dirty="0">
                <a:latin typeface="Montserrat" panose="00000500000000000000" pitchFamily="2" charset="-52"/>
              </a:rPr>
              <a:t>POST /</a:t>
            </a:r>
            <a:r>
              <a:rPr lang="en" dirty="0" err="1">
                <a:latin typeface="Montserrat" panose="00000500000000000000" pitchFamily="2" charset="-52"/>
              </a:rPr>
              <a:t>api</a:t>
            </a:r>
            <a:r>
              <a:rPr lang="en" dirty="0">
                <a:latin typeface="Montserrat" panose="00000500000000000000" pitchFamily="2" charset="-52"/>
              </a:rPr>
              <a:t>/transfers</a:t>
            </a:r>
            <a:endParaRPr lang="ru-RU" dirty="0">
              <a:latin typeface="Montserrat" panose="00000500000000000000" pitchFamily="2" charset="-5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F8737A-AFF9-D431-4A31-A0264F4609FE}"/>
              </a:ext>
            </a:extLst>
          </p:cNvPr>
          <p:cNvSpPr txBox="1"/>
          <p:nvPr/>
        </p:nvSpPr>
        <p:spPr>
          <a:xfrm>
            <a:off x="751113" y="1898701"/>
            <a:ext cx="3951516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bg1"/>
                </a:solidFill>
                <a:latin typeface="Montserrat" panose="00000500000000000000" pitchFamily="2" charset="-52"/>
              </a:rPr>
              <a:t>ApiServer.handleTransfers</a:t>
            </a:r>
            <a:r>
              <a:rPr lang="en-US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()</a:t>
            </a:r>
            <a:endParaRPr lang="ru-RU" sz="20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369FD6-59C5-F653-9E6F-FD1A2811DE8E}"/>
              </a:ext>
            </a:extLst>
          </p:cNvPr>
          <p:cNvSpPr txBox="1"/>
          <p:nvPr/>
        </p:nvSpPr>
        <p:spPr>
          <a:xfrm>
            <a:off x="2808514" y="2282504"/>
            <a:ext cx="3102429" cy="369332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" panose="00000500000000000000" pitchFamily="2" charset="-52"/>
              </a:rPr>
              <a:t>вызывает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A56141-C01D-6613-8BD7-651C12E51D6B}"/>
              </a:ext>
            </a:extLst>
          </p:cNvPr>
          <p:cNvSpPr txBox="1"/>
          <p:nvPr/>
        </p:nvSpPr>
        <p:spPr>
          <a:xfrm>
            <a:off x="751113" y="2915081"/>
            <a:ext cx="5519059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" sz="2000" b="1" dirty="0" err="1">
                <a:solidFill>
                  <a:schemeClr val="bg1"/>
                </a:solidFill>
                <a:latin typeface="Montserrat" panose="00000500000000000000" pitchFamily="2" charset="-52"/>
              </a:rPr>
              <a:t>CustomerPortalService.createTransfer</a:t>
            </a:r>
            <a:r>
              <a:rPr lang="en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()</a:t>
            </a:r>
            <a:endParaRPr lang="ru-RU" sz="20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445502-C90A-9C7A-8884-7EBA7F61712A}"/>
              </a:ext>
            </a:extLst>
          </p:cNvPr>
          <p:cNvSpPr txBox="1"/>
          <p:nvPr/>
        </p:nvSpPr>
        <p:spPr>
          <a:xfrm>
            <a:off x="4359728" y="3309661"/>
            <a:ext cx="3102429" cy="369332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" panose="00000500000000000000" pitchFamily="2" charset="-52"/>
              </a:rPr>
              <a:t>вызывает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79BF93-B520-1825-F107-C4394E354894}"/>
              </a:ext>
            </a:extLst>
          </p:cNvPr>
          <p:cNvSpPr txBox="1"/>
          <p:nvPr/>
        </p:nvSpPr>
        <p:spPr>
          <a:xfrm>
            <a:off x="751113" y="3931461"/>
            <a:ext cx="4060373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" sz="2000" b="1" dirty="0" err="1">
                <a:solidFill>
                  <a:schemeClr val="bg1"/>
                </a:solidFill>
                <a:latin typeface="Montserrat" panose="00000500000000000000" pitchFamily="2" charset="-52"/>
              </a:rPr>
              <a:t>BankService.transferMoney</a:t>
            </a:r>
            <a:r>
              <a:rPr lang="en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()</a:t>
            </a:r>
            <a:endParaRPr lang="ru-RU" sz="20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A8DEE4-72B4-8DEE-C21E-47B27732E93C}"/>
              </a:ext>
            </a:extLst>
          </p:cNvPr>
          <p:cNvSpPr txBox="1"/>
          <p:nvPr/>
        </p:nvSpPr>
        <p:spPr>
          <a:xfrm>
            <a:off x="3336891" y="4326399"/>
            <a:ext cx="7733882" cy="1754326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dirty="0" err="1">
                <a:latin typeface="Montserrat" panose="00000500000000000000" pitchFamily="2" charset="-52"/>
              </a:rPr>
              <a:t>TransactionBroker.inTransaction</a:t>
            </a:r>
            <a:r>
              <a:rPr lang="en" dirty="0">
                <a:latin typeface="Montserrat" panose="00000500000000000000" pitchFamily="2" charset="-52"/>
              </a:rPr>
              <a:t>() — </a:t>
            </a:r>
            <a:r>
              <a:rPr lang="ru-RU" dirty="0">
                <a:latin typeface="Montserrat" panose="00000500000000000000" pitchFamily="2" charset="-52"/>
              </a:rPr>
              <a:t>открывает БД-транзакцию, находит счета из </a:t>
            </a:r>
            <a:r>
              <a:rPr lang="en" dirty="0" err="1">
                <a:latin typeface="Montserrat" panose="00000500000000000000" pitchFamily="2" charset="-52"/>
              </a:rPr>
              <a:t>AccountRepository</a:t>
            </a:r>
            <a:r>
              <a:rPr lang="ru-RU" dirty="0">
                <a:latin typeface="Montserrat" panose="00000500000000000000" pitchFamily="2" charset="-52"/>
              </a:rPr>
              <a:t>, создает </a:t>
            </a:r>
            <a:r>
              <a:rPr lang="en" dirty="0" err="1">
                <a:latin typeface="Montserrat" panose="00000500000000000000" pitchFamily="2" charset="-52"/>
              </a:rPr>
              <a:t>TransferTransaction</a:t>
            </a:r>
            <a:r>
              <a:rPr lang="ru-RU" dirty="0">
                <a:latin typeface="Montserrat" panose="00000500000000000000" pitchFamily="2" charset="-52"/>
              </a:rPr>
              <a:t>, </a:t>
            </a:r>
            <a:r>
              <a:rPr lang="en" dirty="0" err="1">
                <a:latin typeface="Montserrat" panose="00000500000000000000" pitchFamily="2" charset="-52"/>
              </a:rPr>
              <a:t>transaction.execute</a:t>
            </a:r>
            <a:r>
              <a:rPr lang="en" dirty="0">
                <a:latin typeface="Montserrat" panose="00000500000000000000" pitchFamily="2" charset="-52"/>
              </a:rPr>
              <a:t>() </a:t>
            </a:r>
            <a:r>
              <a:rPr lang="ru-RU" dirty="0">
                <a:latin typeface="Montserrat" panose="00000500000000000000" pitchFamily="2" charset="-52"/>
              </a:rPr>
              <a:t>-</a:t>
            </a:r>
            <a:r>
              <a:rPr lang="en" dirty="0">
                <a:latin typeface="Montserrat" panose="00000500000000000000" pitchFamily="2" charset="-52"/>
              </a:rPr>
              <a:t> </a:t>
            </a:r>
            <a:r>
              <a:rPr lang="ru-RU" dirty="0">
                <a:latin typeface="Montserrat" panose="00000500000000000000" pitchFamily="2" charset="-52"/>
              </a:rPr>
              <a:t>списывает и зачисляет, сохраняет транзакцию в </a:t>
            </a:r>
            <a:r>
              <a:rPr lang="en" dirty="0" err="1">
                <a:latin typeface="Montserrat" panose="00000500000000000000" pitchFamily="2" charset="-52"/>
              </a:rPr>
              <a:t>TransactionRepository</a:t>
            </a:r>
            <a:r>
              <a:rPr lang="ru-RU" dirty="0">
                <a:latin typeface="Montserrat" panose="00000500000000000000" pitchFamily="2" charset="-52"/>
              </a:rPr>
              <a:t>, обновляет оба счета в </a:t>
            </a:r>
            <a:r>
              <a:rPr lang="en" dirty="0" err="1">
                <a:latin typeface="Montserrat" panose="00000500000000000000" pitchFamily="2" charset="-52"/>
              </a:rPr>
              <a:t>AccountRepository</a:t>
            </a:r>
            <a:r>
              <a:rPr lang="ru-RU" dirty="0">
                <a:latin typeface="Montserrat" panose="00000500000000000000" pitchFamily="2" charset="-52"/>
              </a:rPr>
              <a:t> </a:t>
            </a:r>
            <a:r>
              <a:rPr lang="en" dirty="0">
                <a:latin typeface="Montserrat" panose="00000500000000000000" pitchFamily="2" charset="-52"/>
              </a:rPr>
              <a:t>—</a:t>
            </a:r>
            <a:r>
              <a:rPr lang="ru-RU" dirty="0">
                <a:latin typeface="Montserrat" panose="00000500000000000000" pitchFamily="2" charset="-52"/>
              </a:rPr>
              <a:t> </a:t>
            </a:r>
            <a:r>
              <a:rPr lang="en" dirty="0">
                <a:latin typeface="Montserrat" panose="00000500000000000000" pitchFamily="2" charset="-52"/>
              </a:rPr>
              <a:t>commit() </a:t>
            </a:r>
            <a:r>
              <a:rPr lang="ru-RU" dirty="0">
                <a:latin typeface="Montserrat" panose="00000500000000000000" pitchFamily="2" charset="-52"/>
              </a:rPr>
              <a:t>или </a:t>
            </a:r>
            <a:r>
              <a:rPr lang="en" dirty="0">
                <a:latin typeface="Montserrat" panose="00000500000000000000" pitchFamily="2" charset="-52"/>
              </a:rPr>
              <a:t>rollback()</a:t>
            </a:r>
            <a:endParaRPr lang="ru-RU" dirty="0">
              <a:latin typeface="Montserrat" panose="00000500000000000000" pitchFamily="2" charset="-5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4FBDFF-51B0-0B48-4AE5-BEF791D28CE3}"/>
              </a:ext>
            </a:extLst>
          </p:cNvPr>
          <p:cNvSpPr txBox="1"/>
          <p:nvPr/>
        </p:nvSpPr>
        <p:spPr>
          <a:xfrm>
            <a:off x="751112" y="6275608"/>
            <a:ext cx="4191002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Возврат </a:t>
            </a:r>
            <a:r>
              <a:rPr lang="en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JSON </a:t>
            </a:r>
            <a:r>
              <a:rPr lang="ru-RU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с результатом</a:t>
            </a:r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2A3BB876-92E7-D5A1-FA8D-CC6FC1139AB2}"/>
              </a:ext>
            </a:extLst>
          </p:cNvPr>
          <p:cNvCxnSpPr/>
          <p:nvPr/>
        </p:nvCxnSpPr>
        <p:spPr>
          <a:xfrm>
            <a:off x="1055914" y="1282431"/>
            <a:ext cx="0" cy="612000"/>
          </a:xfrm>
          <a:prstGeom prst="straightConnector1">
            <a:avLst/>
          </a:prstGeom>
          <a:ln w="76200">
            <a:solidFill>
              <a:srgbClr val="01BBEE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E85BD9D0-12E5-1E87-58D3-4379CC7E90C8}"/>
              </a:ext>
            </a:extLst>
          </p:cNvPr>
          <p:cNvCxnSpPr/>
          <p:nvPr/>
        </p:nvCxnSpPr>
        <p:spPr>
          <a:xfrm>
            <a:off x="1066799" y="2298811"/>
            <a:ext cx="0" cy="612000"/>
          </a:xfrm>
          <a:prstGeom prst="straightConnector1">
            <a:avLst/>
          </a:prstGeom>
          <a:ln w="76200">
            <a:solidFill>
              <a:srgbClr val="01BBEE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727DF59F-03A9-A3D7-0B57-63CEA37A4A8C}"/>
              </a:ext>
            </a:extLst>
          </p:cNvPr>
          <p:cNvCxnSpPr/>
          <p:nvPr/>
        </p:nvCxnSpPr>
        <p:spPr>
          <a:xfrm>
            <a:off x="1066799" y="3319461"/>
            <a:ext cx="0" cy="61200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ADCFC280-83B0-045A-7674-C0F1AE58E8F0}"/>
              </a:ext>
            </a:extLst>
          </p:cNvPr>
          <p:cNvCxnSpPr>
            <a:cxnSpLocks/>
          </p:cNvCxnSpPr>
          <p:nvPr/>
        </p:nvCxnSpPr>
        <p:spPr>
          <a:xfrm>
            <a:off x="1066799" y="4326399"/>
            <a:ext cx="0" cy="194920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82018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60317A-4999-50A8-95F6-92F84B051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Фронтенд: технологии и структура</a:t>
            </a: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C8AFCB24-9BC2-7269-1DD9-3DF4E3E63F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1376083"/>
              </p:ext>
            </p:extLst>
          </p:nvPr>
        </p:nvGraphicFramePr>
        <p:xfrm>
          <a:off x="559572" y="1971522"/>
          <a:ext cx="5536428" cy="33515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8214">
                  <a:extLst>
                    <a:ext uri="{9D8B030D-6E8A-4147-A177-3AD203B41FA5}">
                      <a16:colId xmlns:a16="http://schemas.microsoft.com/office/drawing/2014/main" val="1434767725"/>
                    </a:ext>
                  </a:extLst>
                </a:gridCol>
                <a:gridCol w="2768214">
                  <a:extLst>
                    <a:ext uri="{9D8B030D-6E8A-4147-A177-3AD203B41FA5}">
                      <a16:colId xmlns:a16="http://schemas.microsoft.com/office/drawing/2014/main" val="2769143201"/>
                    </a:ext>
                  </a:extLst>
                </a:gridCol>
              </a:tblGrid>
              <a:tr h="478799">
                <a:tc gridSpan="2"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Технологии</a:t>
                      </a:r>
                    </a:p>
                  </a:txBody>
                  <a:tcPr>
                    <a:solidFill>
                      <a:srgbClr val="01BBE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776303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r>
                        <a:rPr lang="en" dirty="0"/>
                        <a:t>React 18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компонентный подход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8827949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r>
                        <a:rPr lang="en" dirty="0"/>
                        <a:t>TypeScript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строгая типизация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3094011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r>
                        <a:rPr lang="en" dirty="0"/>
                        <a:t>React Router 7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SPA-</a:t>
                      </a:r>
                      <a:r>
                        <a:rPr lang="ru-RU" dirty="0"/>
                        <a:t>маршрутизация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7968292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r>
                        <a:rPr lang="en" dirty="0"/>
                        <a:t>Tailwind CSS 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утилитарные стили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5836921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r>
                        <a:rPr lang="en" dirty="0"/>
                        <a:t>Vite 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сборщик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326061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r>
                        <a:rPr lang="en" dirty="0" err="1"/>
                        <a:t>lucide</a:t>
                      </a:r>
                      <a:r>
                        <a:rPr lang="en" dirty="0"/>
                        <a:t>-react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иконки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6702599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D45543DC-FD90-21A5-8BDE-21BF35912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323671"/>
              </p:ext>
            </p:extLst>
          </p:nvPr>
        </p:nvGraphicFramePr>
        <p:xfrm>
          <a:off x="6220143" y="1971522"/>
          <a:ext cx="5536428" cy="33515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8214">
                  <a:extLst>
                    <a:ext uri="{9D8B030D-6E8A-4147-A177-3AD203B41FA5}">
                      <a16:colId xmlns:a16="http://schemas.microsoft.com/office/drawing/2014/main" val="1434767725"/>
                    </a:ext>
                  </a:extLst>
                </a:gridCol>
                <a:gridCol w="2768214">
                  <a:extLst>
                    <a:ext uri="{9D8B030D-6E8A-4147-A177-3AD203B41FA5}">
                      <a16:colId xmlns:a16="http://schemas.microsoft.com/office/drawing/2014/main" val="2769143201"/>
                    </a:ext>
                  </a:extLst>
                </a:gridCol>
              </a:tblGrid>
              <a:tr h="478799">
                <a:tc gridSpan="2"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Страницы</a:t>
                      </a:r>
                    </a:p>
                  </a:txBody>
                  <a:tcPr>
                    <a:solidFill>
                      <a:srgbClr val="01BBE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776303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r>
                        <a:rPr lang="en" dirty="0"/>
                        <a:t>`/login`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вход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8827949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r>
                        <a:rPr lang="en" dirty="0"/>
                        <a:t>`/registration`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регистрация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3094011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r>
                        <a:rPr lang="en" dirty="0"/>
                        <a:t>`/dashboard`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личный кабинет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7968292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r>
                        <a:rPr lang="en" dirty="0"/>
                        <a:t>`/transfer`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перевод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5836921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r>
                        <a:rPr lang="en" dirty="0"/>
                        <a:t>`/goals`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финансовые цели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326061"/>
                  </a:ext>
                </a:extLst>
              </a:tr>
              <a:tr h="478799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67025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938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17CC96-2205-8E05-F0B1-BCCF5A91C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Контейнеризация: </a:t>
            </a:r>
            <a:r>
              <a:rPr lang="en" dirty="0"/>
              <a:t>Docker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EB2F63-4C87-546F-53F8-DFCFF5403373}"/>
              </a:ext>
            </a:extLst>
          </p:cNvPr>
          <p:cNvSpPr txBox="1"/>
          <p:nvPr/>
        </p:nvSpPr>
        <p:spPr>
          <a:xfrm>
            <a:off x="559572" y="1154111"/>
            <a:ext cx="4343401" cy="52322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" sz="2800" b="1" dirty="0">
                <a:solidFill>
                  <a:schemeClr val="bg1"/>
                </a:solidFill>
                <a:latin typeface="Montserrat" panose="00000500000000000000" pitchFamily="2" charset="-52"/>
              </a:rPr>
              <a:t>docker compose up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D1948A-0399-2779-BB8C-7D8DD664A3E9}"/>
              </a:ext>
            </a:extLst>
          </p:cNvPr>
          <p:cNvSpPr txBox="1"/>
          <p:nvPr/>
        </p:nvSpPr>
        <p:spPr>
          <a:xfrm>
            <a:off x="2987816" y="1949121"/>
            <a:ext cx="4947870" cy="52322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" sz="2800" b="1" dirty="0">
                <a:solidFill>
                  <a:schemeClr val="bg1"/>
                </a:solidFill>
                <a:latin typeface="Montserrat" panose="00000500000000000000" pitchFamily="2" charset="-52"/>
              </a:rPr>
              <a:t>bank-simulator-backend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4407C-6CBA-1A14-C496-D577773B35C5}"/>
              </a:ext>
            </a:extLst>
          </p:cNvPr>
          <p:cNvSpPr txBox="1"/>
          <p:nvPr/>
        </p:nvSpPr>
        <p:spPr>
          <a:xfrm>
            <a:off x="2987816" y="3862440"/>
            <a:ext cx="4947870" cy="52322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" sz="2800" b="1" dirty="0">
                <a:solidFill>
                  <a:schemeClr val="bg1"/>
                </a:solidFill>
                <a:latin typeface="Montserrat" panose="00000500000000000000" pitchFamily="2" charset="-52"/>
              </a:rPr>
              <a:t>bank-simulator-frontend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63396-1CCB-6F77-7881-D6822514A37C}"/>
              </a:ext>
            </a:extLst>
          </p:cNvPr>
          <p:cNvSpPr txBox="1"/>
          <p:nvPr/>
        </p:nvSpPr>
        <p:spPr>
          <a:xfrm>
            <a:off x="4060059" y="2472340"/>
            <a:ext cx="5606455" cy="1200329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dirty="0" err="1">
                <a:latin typeface="Montserrat" panose="00000500000000000000" pitchFamily="2" charset="-52"/>
              </a:rPr>
              <a:t>Dockerfile.backend</a:t>
            </a:r>
            <a:endParaRPr lang="en" dirty="0">
              <a:latin typeface="Montserrat" panose="00000500000000000000" pitchFamily="2" charset="-52"/>
            </a:endParaRPr>
          </a:p>
          <a:p>
            <a:r>
              <a:rPr lang="en" dirty="0">
                <a:latin typeface="Montserrat" panose="00000500000000000000" pitchFamily="2" charset="-52"/>
              </a:rPr>
              <a:t>java -jar bank-</a:t>
            </a:r>
            <a:r>
              <a:rPr lang="en" dirty="0" err="1">
                <a:latin typeface="Montserrat" panose="00000500000000000000" pitchFamily="2" charset="-52"/>
              </a:rPr>
              <a:t>simulator.jar</a:t>
            </a:r>
            <a:endParaRPr lang="en" dirty="0">
              <a:latin typeface="Montserrat" panose="00000500000000000000" pitchFamily="2" charset="-52"/>
            </a:endParaRPr>
          </a:p>
          <a:p>
            <a:r>
              <a:rPr lang="en" dirty="0">
                <a:latin typeface="Montserrat" panose="00000500000000000000" pitchFamily="2" charset="-52"/>
              </a:rPr>
              <a:t>PORT 8080</a:t>
            </a:r>
          </a:p>
          <a:p>
            <a:r>
              <a:rPr lang="en" dirty="0">
                <a:latin typeface="Montserrat" panose="00000500000000000000" pitchFamily="2" charset="-52"/>
              </a:rPr>
              <a:t>volume: bank-data:/app/data  ← SQLite-</a:t>
            </a:r>
            <a:r>
              <a:rPr lang="ru-RU" dirty="0">
                <a:latin typeface="Montserrat" panose="00000500000000000000" pitchFamily="2" charset="-52"/>
              </a:rPr>
              <a:t>файл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5BCBBA-3507-2E23-7F2F-B6BB2963AD58}"/>
              </a:ext>
            </a:extLst>
          </p:cNvPr>
          <p:cNvSpPr txBox="1"/>
          <p:nvPr/>
        </p:nvSpPr>
        <p:spPr>
          <a:xfrm>
            <a:off x="4060059" y="4385660"/>
            <a:ext cx="6205170" cy="1477328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dirty="0" err="1">
                <a:latin typeface="Montserrat" panose="00000500000000000000" pitchFamily="2" charset="-52"/>
              </a:rPr>
              <a:t>Dockerfile</a:t>
            </a:r>
            <a:r>
              <a:rPr lang="en" dirty="0">
                <a:latin typeface="Montserrat" panose="00000500000000000000" pitchFamily="2" charset="-52"/>
              </a:rPr>
              <a:t> (multi-stage build)</a:t>
            </a:r>
          </a:p>
          <a:p>
            <a:r>
              <a:rPr lang="en" dirty="0">
                <a:latin typeface="Montserrat" panose="00000500000000000000" pitchFamily="2" charset="-52"/>
              </a:rPr>
              <a:t>Stage 1: node:20-alpine → </a:t>
            </a:r>
            <a:r>
              <a:rPr lang="en" dirty="0" err="1">
                <a:latin typeface="Montserrat" panose="00000500000000000000" pitchFamily="2" charset="-52"/>
              </a:rPr>
              <a:t>npm</a:t>
            </a:r>
            <a:r>
              <a:rPr lang="en" dirty="0">
                <a:latin typeface="Montserrat" panose="00000500000000000000" pitchFamily="2" charset="-52"/>
              </a:rPr>
              <a:t> run build → /app/</a:t>
            </a:r>
            <a:r>
              <a:rPr lang="en" dirty="0" err="1">
                <a:latin typeface="Montserrat" panose="00000500000000000000" pitchFamily="2" charset="-52"/>
              </a:rPr>
              <a:t>dist</a:t>
            </a:r>
            <a:endParaRPr lang="en" dirty="0">
              <a:latin typeface="Montserrat" panose="00000500000000000000" pitchFamily="2" charset="-52"/>
            </a:endParaRPr>
          </a:p>
          <a:p>
            <a:r>
              <a:rPr lang="en" dirty="0">
                <a:latin typeface="Montserrat" panose="00000500000000000000" pitchFamily="2" charset="-52"/>
              </a:rPr>
              <a:t>Stage 2: nginx:1.27-alpine → </a:t>
            </a:r>
            <a:r>
              <a:rPr lang="ru-RU" dirty="0">
                <a:latin typeface="Montserrat" panose="00000500000000000000" pitchFamily="2" charset="-52"/>
              </a:rPr>
              <a:t>раздает </a:t>
            </a:r>
            <a:r>
              <a:rPr lang="en" dirty="0" err="1">
                <a:latin typeface="Montserrat" panose="00000500000000000000" pitchFamily="2" charset="-52"/>
              </a:rPr>
              <a:t>dist</a:t>
            </a:r>
            <a:r>
              <a:rPr lang="en" dirty="0">
                <a:latin typeface="Montserrat" panose="00000500000000000000" pitchFamily="2" charset="-52"/>
              </a:rPr>
              <a:t>/</a:t>
            </a:r>
          </a:p>
          <a:p>
            <a:r>
              <a:rPr lang="en" dirty="0">
                <a:latin typeface="Montserrat" panose="00000500000000000000" pitchFamily="2" charset="-52"/>
              </a:rPr>
              <a:t>PORT 5173:80</a:t>
            </a:r>
          </a:p>
          <a:p>
            <a:r>
              <a:rPr lang="en" dirty="0">
                <a:latin typeface="Montserrat" panose="00000500000000000000" pitchFamily="2" charset="-52"/>
              </a:rPr>
              <a:t>/</a:t>
            </a:r>
            <a:r>
              <a:rPr lang="en" dirty="0" err="1">
                <a:latin typeface="Montserrat" panose="00000500000000000000" pitchFamily="2" charset="-52"/>
              </a:rPr>
              <a:t>api</a:t>
            </a:r>
            <a:r>
              <a:rPr lang="en" dirty="0">
                <a:latin typeface="Montserrat" panose="00000500000000000000" pitchFamily="2" charset="-52"/>
              </a:rPr>
              <a:t>/* → </a:t>
            </a:r>
            <a:r>
              <a:rPr lang="en" dirty="0" err="1">
                <a:latin typeface="Montserrat" panose="00000500000000000000" pitchFamily="2" charset="-52"/>
              </a:rPr>
              <a:t>proxy_pass</a:t>
            </a:r>
            <a:r>
              <a:rPr lang="en" dirty="0">
                <a:latin typeface="Montserrat" panose="00000500000000000000" pitchFamily="2" charset="-52"/>
              </a:rPr>
              <a:t> → backend:8080</a:t>
            </a:r>
            <a:endParaRPr lang="ru-RU" dirty="0">
              <a:latin typeface="Montserrat" panose="00000500000000000000" pitchFamily="2" charset="-52"/>
            </a:endParaRPr>
          </a:p>
        </p:txBody>
      </p: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6687563E-EBE8-F668-BCD6-3AB42AF26183}"/>
              </a:ext>
            </a:extLst>
          </p:cNvPr>
          <p:cNvCxnSpPr>
            <a:endCxn id="7" idx="1"/>
          </p:cNvCxnSpPr>
          <p:nvPr/>
        </p:nvCxnSpPr>
        <p:spPr>
          <a:xfrm>
            <a:off x="1001486" y="1677331"/>
            <a:ext cx="1986330" cy="533400"/>
          </a:xfrm>
          <a:prstGeom prst="bentConnector3">
            <a:avLst>
              <a:gd name="adj1" fmla="val -419"/>
            </a:avLst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>
            <a:extLst>
              <a:ext uri="{FF2B5EF4-FFF2-40B4-BE49-F238E27FC236}">
                <a16:creationId xmlns:a16="http://schemas.microsoft.com/office/drawing/2014/main" id="{68984C1F-0A60-C058-3E74-32DFF1851372}"/>
              </a:ext>
            </a:extLst>
          </p:cNvPr>
          <p:cNvCxnSpPr>
            <a:endCxn id="8" idx="1"/>
          </p:cNvCxnSpPr>
          <p:nvPr/>
        </p:nvCxnSpPr>
        <p:spPr>
          <a:xfrm>
            <a:off x="1001486" y="2210731"/>
            <a:ext cx="1986330" cy="1913319"/>
          </a:xfrm>
          <a:prstGeom prst="bentConnector3">
            <a:avLst>
              <a:gd name="adj1" fmla="val -419"/>
            </a:avLst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0454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E1F310-DBB3-5A96-370A-D9632D641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SOLID: S — Single Responsibility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1385269-580C-6C5C-1832-5E6E503580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9572" y="1353290"/>
            <a:ext cx="4872399" cy="584775"/>
          </a:xfrm>
        </p:spPr>
        <p:txBody>
          <a:bodyPr/>
          <a:lstStyle/>
          <a:p>
            <a:r>
              <a:rPr lang="en" dirty="0"/>
              <a:t>S — </a:t>
            </a:r>
            <a:r>
              <a:rPr lang="ru-RU" dirty="0"/>
              <a:t>Единственная ответственность. Каждый класс отвечает только за одно.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CAF01BF-441C-E7FB-C121-22D965EE9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0534433"/>
              </p:ext>
            </p:extLst>
          </p:nvPr>
        </p:nvGraphicFramePr>
        <p:xfrm>
          <a:off x="559572" y="2095018"/>
          <a:ext cx="5065448" cy="39523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6063">
                  <a:extLst>
                    <a:ext uri="{9D8B030D-6E8A-4147-A177-3AD203B41FA5}">
                      <a16:colId xmlns:a16="http://schemas.microsoft.com/office/drawing/2014/main" val="1730717577"/>
                    </a:ext>
                  </a:extLst>
                </a:gridCol>
                <a:gridCol w="2349385">
                  <a:extLst>
                    <a:ext uri="{9D8B030D-6E8A-4147-A177-3AD203B41FA5}">
                      <a16:colId xmlns:a16="http://schemas.microsoft.com/office/drawing/2014/main" val="3383364924"/>
                    </a:ext>
                  </a:extLst>
                </a:gridCol>
              </a:tblGrid>
              <a:tr h="375989">
                <a:tc>
                  <a:txBody>
                    <a:bodyPr/>
                    <a:lstStyle/>
                    <a:p>
                      <a:r>
                        <a:rPr lang="ru-RU" dirty="0"/>
                        <a:t>Класс</a:t>
                      </a:r>
                    </a:p>
                  </a:txBody>
                  <a:tcPr>
                    <a:solidFill>
                      <a:srgbClr val="01BB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Ответственность</a:t>
                      </a:r>
                    </a:p>
                  </a:txBody>
                  <a:tcPr>
                    <a:solidFill>
                      <a:srgbClr val="01B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033376"/>
                  </a:ext>
                </a:extLst>
              </a:tr>
              <a:tr h="375989">
                <a:tc>
                  <a:txBody>
                    <a:bodyPr/>
                    <a:lstStyle/>
                    <a:p>
                      <a:r>
                        <a:rPr lang="en" dirty="0"/>
                        <a:t>`</a:t>
                      </a:r>
                      <a:r>
                        <a:rPr lang="en" dirty="0" err="1"/>
                        <a:t>AuthService</a:t>
                      </a:r>
                      <a:r>
                        <a:rPr lang="en" dirty="0"/>
                        <a:t>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Регистрация и аутентификация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9793995"/>
                  </a:ext>
                </a:extLst>
              </a:tr>
              <a:tr h="375989">
                <a:tc>
                  <a:txBody>
                    <a:bodyPr/>
                    <a:lstStyle/>
                    <a:p>
                      <a:r>
                        <a:rPr lang="en" dirty="0"/>
                        <a:t>`</a:t>
                      </a:r>
                      <a:r>
                        <a:rPr lang="en" dirty="0" err="1"/>
                        <a:t>BankService</a:t>
                      </a:r>
                      <a:r>
                        <a:rPr lang="en" dirty="0"/>
                        <a:t>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Банковские сценарии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522240"/>
                  </a:ext>
                </a:extLst>
              </a:tr>
              <a:tr h="375989">
                <a:tc>
                  <a:txBody>
                    <a:bodyPr/>
                    <a:lstStyle/>
                    <a:p>
                      <a:r>
                        <a:rPr lang="en" dirty="0"/>
                        <a:t>`</a:t>
                      </a:r>
                      <a:r>
                        <a:rPr lang="en" dirty="0" err="1"/>
                        <a:t>CustomerPortalService</a:t>
                      </a:r>
                      <a:r>
                        <a:rPr lang="en" dirty="0"/>
                        <a:t>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Связь </a:t>
                      </a:r>
                      <a:r>
                        <a:rPr lang="en" dirty="0"/>
                        <a:t>HTTP </a:t>
                      </a:r>
                      <a:r>
                        <a:rPr lang="ru-RU" dirty="0"/>
                        <a:t>с сервисами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19775"/>
                  </a:ext>
                </a:extLst>
              </a:tr>
              <a:tr h="375989">
                <a:tc>
                  <a:txBody>
                    <a:bodyPr/>
                    <a:lstStyle/>
                    <a:p>
                      <a:r>
                        <a:rPr lang="en" dirty="0"/>
                        <a:t>`</a:t>
                      </a:r>
                      <a:r>
                        <a:rPr lang="en" dirty="0" err="1"/>
                        <a:t>AuthCredentialsValidator</a:t>
                      </a:r>
                      <a:r>
                        <a:rPr lang="en" dirty="0"/>
                        <a:t>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Проверка формата логина и пароля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1750008"/>
                  </a:ext>
                </a:extLst>
              </a:tr>
              <a:tr h="375989">
                <a:tc>
                  <a:txBody>
                    <a:bodyPr/>
                    <a:lstStyle/>
                    <a:p>
                      <a:r>
                        <a:rPr lang="en" dirty="0"/>
                        <a:t>`Database`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Подключение к </a:t>
                      </a:r>
                      <a:r>
                        <a:rPr lang="en" dirty="0"/>
                        <a:t>SQLite </a:t>
                      </a:r>
                      <a:r>
                        <a:rPr lang="ru-RU" dirty="0"/>
                        <a:t>и схема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2328684"/>
                  </a:ext>
                </a:extLst>
              </a:tr>
              <a:tr h="375989">
                <a:tc>
                  <a:txBody>
                    <a:bodyPr/>
                    <a:lstStyle/>
                    <a:p>
                      <a:r>
                        <a:rPr lang="en" dirty="0"/>
                        <a:t>`</a:t>
                      </a:r>
                      <a:r>
                        <a:rPr lang="en" dirty="0" err="1"/>
                        <a:t>SqliteTransactionBroker</a:t>
                      </a:r>
                      <a:r>
                        <a:rPr lang="en" dirty="0"/>
                        <a:t>`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Атомарность через </a:t>
                      </a:r>
                      <a:r>
                        <a:rPr lang="en" dirty="0"/>
                        <a:t>JDBC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307711"/>
                  </a:ext>
                </a:extLst>
              </a:tr>
            </a:tbl>
          </a:graphicData>
        </a:graphic>
      </p:graphicFrame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E312E791-D2F4-B197-ED65-371DCFA30CDA}"/>
              </a:ext>
            </a:extLst>
          </p:cNvPr>
          <p:cNvSpPr/>
          <p:nvPr/>
        </p:nvSpPr>
        <p:spPr>
          <a:xfrm>
            <a:off x="5748906" y="1353290"/>
            <a:ext cx="6161314" cy="5024393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CE5F8C-40A8-45A6-71C9-33ED4987A5D3}"/>
              </a:ext>
            </a:extLst>
          </p:cNvPr>
          <p:cNvSpPr txBox="1"/>
          <p:nvPr/>
        </p:nvSpPr>
        <p:spPr>
          <a:xfrm>
            <a:off x="6096000" y="1480217"/>
            <a:ext cx="569033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"/>
              </a:rPr>
              <a:t>// Базовый класс закрыт для изменений</a:t>
            </a:r>
          </a:p>
          <a:p>
            <a:r>
              <a:rPr lang="ru-RU" sz="1600" dirty="0" err="1">
                <a:latin typeface=""/>
              </a:rPr>
              <a:t>public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abstract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class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Account</a:t>
            </a:r>
            <a:r>
              <a:rPr lang="ru-RU" sz="1600" dirty="0">
                <a:latin typeface=""/>
              </a:rPr>
              <a:t> {</a:t>
            </a:r>
          </a:p>
          <a:p>
            <a:r>
              <a:rPr lang="ru-RU" sz="1600" dirty="0">
                <a:latin typeface=""/>
              </a:rPr>
              <a:t>    </a:t>
            </a:r>
            <a:r>
              <a:rPr lang="ru-RU" sz="1600" dirty="0" err="1">
                <a:latin typeface=""/>
              </a:rPr>
              <a:t>public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void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deposit</a:t>
            </a:r>
            <a:r>
              <a:rPr lang="ru-RU" sz="1600" dirty="0">
                <a:latin typeface=""/>
              </a:rPr>
              <a:t>(</a:t>
            </a:r>
            <a:r>
              <a:rPr lang="ru-RU" sz="1600" dirty="0" err="1">
                <a:latin typeface=""/>
              </a:rPr>
              <a:t>BigDecimal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amount</a:t>
            </a:r>
            <a:r>
              <a:rPr lang="ru-RU" sz="1600" dirty="0">
                <a:latin typeface=""/>
              </a:rPr>
              <a:t>) { ... }</a:t>
            </a:r>
          </a:p>
          <a:p>
            <a:r>
              <a:rPr lang="ru-RU" sz="1600" dirty="0">
                <a:latin typeface=""/>
              </a:rPr>
              <a:t>    </a:t>
            </a:r>
            <a:r>
              <a:rPr lang="ru-RU" sz="1600" dirty="0" err="1">
                <a:latin typeface=""/>
              </a:rPr>
              <a:t>public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void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withdraw</a:t>
            </a:r>
            <a:r>
              <a:rPr lang="ru-RU" sz="1600" dirty="0">
                <a:latin typeface=""/>
              </a:rPr>
              <a:t>(</a:t>
            </a:r>
            <a:r>
              <a:rPr lang="ru-RU" sz="1600" dirty="0" err="1">
                <a:latin typeface=""/>
              </a:rPr>
              <a:t>BigDecimal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amount</a:t>
            </a:r>
            <a:r>
              <a:rPr lang="ru-RU" sz="1600" dirty="0">
                <a:latin typeface=""/>
              </a:rPr>
              <a:t>) { ... }   </a:t>
            </a:r>
            <a:r>
              <a:rPr lang="ru-RU" sz="1600" b="1" dirty="0">
                <a:latin typeface=""/>
              </a:rPr>
              <a:t>// общая логика</a:t>
            </a:r>
          </a:p>
          <a:p>
            <a:r>
              <a:rPr lang="ru-RU" sz="1600" dirty="0">
                <a:latin typeface=""/>
              </a:rPr>
              <a:t>}</a:t>
            </a:r>
          </a:p>
          <a:p>
            <a:r>
              <a:rPr lang="ru-RU" sz="1600" b="1" dirty="0">
                <a:latin typeface=""/>
              </a:rPr>
              <a:t>// Новый тип = новый наследник, без правок </a:t>
            </a:r>
            <a:r>
              <a:rPr lang="ru-RU" sz="1600" b="1" dirty="0" err="1">
                <a:latin typeface=""/>
              </a:rPr>
              <a:t>Account</a:t>
            </a:r>
            <a:endParaRPr lang="ru-RU" sz="1600" b="1" dirty="0">
              <a:latin typeface=""/>
            </a:endParaRPr>
          </a:p>
          <a:p>
            <a:r>
              <a:rPr lang="ru-RU" sz="1600" dirty="0" err="1">
                <a:latin typeface=""/>
              </a:rPr>
              <a:t>public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class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CreditAccount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extends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Account</a:t>
            </a:r>
            <a:r>
              <a:rPr lang="ru-RU" sz="1600" dirty="0">
                <a:latin typeface=""/>
              </a:rPr>
              <a:t> {</a:t>
            </a:r>
          </a:p>
          <a:p>
            <a:r>
              <a:rPr lang="ru-RU" sz="1600" dirty="0">
                <a:latin typeface=""/>
              </a:rPr>
              <a:t>    @</a:t>
            </a:r>
            <a:r>
              <a:rPr lang="ru-RU" sz="1600" dirty="0" err="1">
                <a:latin typeface=""/>
              </a:rPr>
              <a:t>Override</a:t>
            </a:r>
            <a:endParaRPr lang="ru-RU" sz="1600" dirty="0">
              <a:latin typeface=""/>
            </a:endParaRPr>
          </a:p>
          <a:p>
            <a:r>
              <a:rPr lang="ru-RU" sz="1600" dirty="0">
                <a:latin typeface=""/>
              </a:rPr>
              <a:t>    </a:t>
            </a:r>
            <a:r>
              <a:rPr lang="ru-RU" sz="1600" dirty="0" err="1">
                <a:latin typeface=""/>
              </a:rPr>
              <a:t>public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void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withdraw</a:t>
            </a:r>
            <a:r>
              <a:rPr lang="ru-RU" sz="1600" dirty="0">
                <a:latin typeface=""/>
              </a:rPr>
              <a:t>(</a:t>
            </a:r>
            <a:r>
              <a:rPr lang="ru-RU" sz="1600" dirty="0" err="1">
                <a:latin typeface=""/>
              </a:rPr>
              <a:t>BigDecimal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amount</a:t>
            </a:r>
            <a:r>
              <a:rPr lang="ru-RU" sz="1600" dirty="0">
                <a:latin typeface=""/>
              </a:rPr>
              <a:t>) {</a:t>
            </a:r>
          </a:p>
          <a:p>
            <a:r>
              <a:rPr lang="ru-RU" sz="1600" dirty="0">
                <a:latin typeface=""/>
              </a:rPr>
              <a:t>        </a:t>
            </a:r>
            <a:r>
              <a:rPr lang="ru-RU" sz="1600" dirty="0" err="1">
                <a:latin typeface=""/>
              </a:rPr>
              <a:t>BigDecimal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totalAvailable</a:t>
            </a:r>
            <a:r>
              <a:rPr lang="ru-RU" sz="1600" dirty="0">
                <a:latin typeface=""/>
              </a:rPr>
              <a:t> =</a:t>
            </a:r>
          </a:p>
          <a:p>
            <a:r>
              <a:rPr lang="ru-RU" sz="1600" dirty="0">
                <a:latin typeface=""/>
              </a:rPr>
              <a:t>            </a:t>
            </a:r>
            <a:r>
              <a:rPr lang="ru-RU" sz="1600" dirty="0" err="1">
                <a:latin typeface=""/>
              </a:rPr>
              <a:t>getBalance</a:t>
            </a:r>
            <a:r>
              <a:rPr lang="ru-RU" sz="1600" dirty="0">
                <a:latin typeface=""/>
              </a:rPr>
              <a:t>().</a:t>
            </a:r>
            <a:r>
              <a:rPr lang="ru-RU" sz="1600" dirty="0" err="1">
                <a:latin typeface=""/>
              </a:rPr>
              <a:t>add</a:t>
            </a:r>
            <a:r>
              <a:rPr lang="ru-RU" sz="1600" dirty="0">
                <a:latin typeface=""/>
              </a:rPr>
              <a:t>(</a:t>
            </a:r>
            <a:r>
              <a:rPr lang="ru-RU" sz="1600" dirty="0" err="1">
                <a:latin typeface=""/>
              </a:rPr>
              <a:t>creditLimit</a:t>
            </a:r>
            <a:r>
              <a:rPr lang="ru-RU" sz="1600" dirty="0">
                <a:latin typeface=""/>
              </a:rPr>
              <a:t>).</a:t>
            </a:r>
            <a:r>
              <a:rPr lang="ru-RU" sz="1600" dirty="0" err="1">
                <a:latin typeface=""/>
              </a:rPr>
              <a:t>subtract</a:t>
            </a:r>
            <a:r>
              <a:rPr lang="ru-RU" sz="1600" dirty="0">
                <a:latin typeface=""/>
              </a:rPr>
              <a:t>(</a:t>
            </a:r>
            <a:r>
              <a:rPr lang="ru-RU" sz="1600" dirty="0" err="1">
                <a:latin typeface=""/>
              </a:rPr>
              <a:t>currentDebt</a:t>
            </a:r>
            <a:r>
              <a:rPr lang="ru-RU" sz="1600" dirty="0">
                <a:latin typeface=""/>
              </a:rPr>
              <a:t>);</a:t>
            </a:r>
          </a:p>
          <a:p>
            <a:r>
              <a:rPr lang="ru-RU" sz="1600" dirty="0">
                <a:latin typeface=""/>
              </a:rPr>
              <a:t>        </a:t>
            </a:r>
            <a:r>
              <a:rPr lang="ru-RU" sz="1600" dirty="0" err="1">
                <a:latin typeface=""/>
              </a:rPr>
              <a:t>if</a:t>
            </a:r>
            <a:r>
              <a:rPr lang="ru-RU" sz="1600" dirty="0">
                <a:latin typeface=""/>
              </a:rPr>
              <a:t> (</a:t>
            </a:r>
            <a:r>
              <a:rPr lang="ru-RU" sz="1600" dirty="0" err="1">
                <a:latin typeface=""/>
              </a:rPr>
              <a:t>totalAvailable.compareTo</a:t>
            </a:r>
            <a:r>
              <a:rPr lang="ru-RU" sz="1600" dirty="0">
                <a:latin typeface=""/>
              </a:rPr>
              <a:t>(</a:t>
            </a:r>
            <a:r>
              <a:rPr lang="ru-RU" sz="1600" dirty="0" err="1">
                <a:latin typeface=""/>
              </a:rPr>
              <a:t>amount</a:t>
            </a:r>
            <a:r>
              <a:rPr lang="ru-RU" sz="1600" dirty="0">
                <a:latin typeface=""/>
              </a:rPr>
              <a:t>) &lt; 0)</a:t>
            </a:r>
          </a:p>
          <a:p>
            <a:r>
              <a:rPr lang="ru-RU" sz="1600" dirty="0">
                <a:latin typeface=""/>
              </a:rPr>
              <a:t>            </a:t>
            </a:r>
            <a:r>
              <a:rPr lang="ru-RU" sz="1600" dirty="0" err="1">
                <a:latin typeface=""/>
              </a:rPr>
              <a:t>throw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new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IllegalStateException</a:t>
            </a:r>
            <a:r>
              <a:rPr lang="ru-RU" sz="1600" dirty="0">
                <a:latin typeface=""/>
              </a:rPr>
              <a:t>("Credit </a:t>
            </a:r>
            <a:r>
              <a:rPr lang="ru-RU" sz="1600" dirty="0" err="1">
                <a:latin typeface=""/>
              </a:rPr>
              <a:t>limit</a:t>
            </a:r>
            <a:r>
              <a:rPr lang="ru-RU" sz="1600" dirty="0">
                <a:latin typeface=""/>
              </a:rPr>
              <a:t> </a:t>
            </a:r>
            <a:r>
              <a:rPr lang="ru-RU" sz="1600" dirty="0" err="1">
                <a:latin typeface=""/>
              </a:rPr>
              <a:t>exceeded</a:t>
            </a:r>
            <a:r>
              <a:rPr lang="ru-RU" sz="1600" dirty="0">
                <a:latin typeface=""/>
              </a:rPr>
              <a:t>");</a:t>
            </a:r>
          </a:p>
          <a:p>
            <a:r>
              <a:rPr lang="ru-RU" sz="1600" dirty="0">
                <a:latin typeface=""/>
              </a:rPr>
              <a:t>        </a:t>
            </a:r>
            <a:r>
              <a:rPr lang="ru-RU" sz="1600" b="1" dirty="0">
                <a:latin typeface=""/>
              </a:rPr>
              <a:t>// часть с баланса, остаток — в долг</a:t>
            </a:r>
          </a:p>
          <a:p>
            <a:r>
              <a:rPr lang="ru-RU" sz="1600" dirty="0">
                <a:latin typeface=""/>
              </a:rPr>
              <a:t>        ...</a:t>
            </a:r>
          </a:p>
          <a:p>
            <a:r>
              <a:rPr lang="ru-RU" sz="1600" dirty="0">
                <a:latin typeface=""/>
              </a:rPr>
              <a:t>    }</a:t>
            </a:r>
          </a:p>
          <a:p>
            <a:r>
              <a:rPr lang="ru-RU" sz="1600" dirty="0">
                <a:latin typeface="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524641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528DAE-CF9E-BA20-772F-E597A24BF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SOLID: O — Open/Closed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E30C946-652B-CAE9-F0E6-180D9FF7A6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9572" y="1307123"/>
            <a:ext cx="6243999" cy="338554"/>
          </a:xfrm>
        </p:spPr>
        <p:txBody>
          <a:bodyPr/>
          <a:lstStyle/>
          <a:p>
            <a:r>
              <a:rPr lang="en" dirty="0"/>
              <a:t>O — </a:t>
            </a:r>
            <a:r>
              <a:rPr lang="ru-RU" dirty="0"/>
              <a:t>Открыт для расширения, закрыт для изменения.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05145684-2A27-141D-09AD-190791C9A99D}"/>
              </a:ext>
            </a:extLst>
          </p:cNvPr>
          <p:cNvSpPr/>
          <p:nvPr/>
        </p:nvSpPr>
        <p:spPr>
          <a:xfrm>
            <a:off x="642257" y="1839686"/>
            <a:ext cx="6161314" cy="3298371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F414A7-9B3B-52B7-CF90-8ED03D735595}"/>
              </a:ext>
            </a:extLst>
          </p:cNvPr>
          <p:cNvSpPr txBox="1"/>
          <p:nvPr/>
        </p:nvSpPr>
        <p:spPr>
          <a:xfrm>
            <a:off x="881743" y="1934599"/>
            <a:ext cx="453521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sz="1400" b="1" dirty="0">
                <a:latin typeface="Montserrat" panose="00000500000000000000" pitchFamily="2" charset="-52"/>
              </a:rPr>
              <a:t>// </a:t>
            </a:r>
            <a:r>
              <a:rPr lang="ru-RU" sz="1400" b="1" dirty="0">
                <a:latin typeface="Montserrat" panose="00000500000000000000" pitchFamily="2" charset="-52"/>
              </a:rPr>
              <a:t>Базовый класс закрыт для изменений</a:t>
            </a:r>
          </a:p>
          <a:p>
            <a:endParaRPr lang="ru-RU" sz="1400" b="1" dirty="0">
              <a:latin typeface="Montserrat" panose="00000500000000000000" pitchFamily="2" charset="-52"/>
            </a:endParaRPr>
          </a:p>
          <a:p>
            <a:r>
              <a:rPr lang="en" sz="1400" dirty="0">
                <a:latin typeface="Montserrat" panose="00000500000000000000" pitchFamily="2" charset="-52"/>
              </a:rPr>
              <a:t>abstract class Account {</a:t>
            </a:r>
          </a:p>
          <a:p>
            <a:r>
              <a:rPr lang="en" sz="1400" dirty="0">
                <a:latin typeface="Montserrat" panose="00000500000000000000" pitchFamily="2" charset="-52"/>
              </a:rPr>
              <a:t>    void deposit(</a:t>
            </a:r>
            <a:r>
              <a:rPr lang="en" sz="1400" dirty="0" err="1">
                <a:latin typeface="Montserrat" panose="00000500000000000000" pitchFamily="2" charset="-52"/>
              </a:rPr>
              <a:t>BigDecimal</a:t>
            </a:r>
            <a:r>
              <a:rPr lang="en" sz="1400" dirty="0">
                <a:latin typeface="Montserrat" panose="00000500000000000000" pitchFamily="2" charset="-52"/>
              </a:rPr>
              <a:t> amount) { ... }</a:t>
            </a:r>
          </a:p>
          <a:p>
            <a:r>
              <a:rPr lang="en" sz="1400" dirty="0">
                <a:latin typeface="Montserrat" panose="00000500000000000000" pitchFamily="2" charset="-52"/>
              </a:rPr>
              <a:t>    void withdraw(</a:t>
            </a:r>
            <a:r>
              <a:rPr lang="en" sz="1400" dirty="0" err="1">
                <a:latin typeface="Montserrat" panose="00000500000000000000" pitchFamily="2" charset="-52"/>
              </a:rPr>
              <a:t>BigDecimal</a:t>
            </a:r>
            <a:r>
              <a:rPr lang="en" sz="1400" dirty="0">
                <a:latin typeface="Montserrat" panose="00000500000000000000" pitchFamily="2" charset="-52"/>
              </a:rPr>
              <a:t> amount) { ... }</a:t>
            </a:r>
          </a:p>
          <a:p>
            <a:r>
              <a:rPr lang="en" sz="1400" dirty="0">
                <a:latin typeface="Montserrat" panose="00000500000000000000" pitchFamily="2" charset="-52"/>
              </a:rPr>
              <a:t>}</a:t>
            </a:r>
          </a:p>
          <a:p>
            <a:r>
              <a:rPr lang="en" sz="1400" b="1" dirty="0">
                <a:latin typeface="Montserrat" panose="00000500000000000000" pitchFamily="2" charset="-52"/>
              </a:rPr>
              <a:t>// </a:t>
            </a:r>
            <a:r>
              <a:rPr lang="ru-RU" sz="1400" b="1" dirty="0">
                <a:latin typeface="Montserrat" panose="00000500000000000000" pitchFamily="2" charset="-52"/>
              </a:rPr>
              <a:t>Новый тип — просто наследник</a:t>
            </a:r>
          </a:p>
          <a:p>
            <a:endParaRPr lang="ru-RU" sz="1400" b="1" dirty="0">
              <a:latin typeface="Montserrat" panose="00000500000000000000" pitchFamily="2" charset="-52"/>
            </a:endParaRPr>
          </a:p>
          <a:p>
            <a:r>
              <a:rPr lang="en" sz="1400" dirty="0">
                <a:latin typeface="Montserrat" panose="00000500000000000000" pitchFamily="2" charset="-52"/>
              </a:rPr>
              <a:t>class </a:t>
            </a:r>
            <a:r>
              <a:rPr lang="en" sz="1400" dirty="0" err="1">
                <a:latin typeface="Montserrat" panose="00000500000000000000" pitchFamily="2" charset="-52"/>
              </a:rPr>
              <a:t>CreditAccount</a:t>
            </a:r>
            <a:r>
              <a:rPr lang="en" sz="1400" dirty="0">
                <a:latin typeface="Montserrat" panose="00000500000000000000" pitchFamily="2" charset="-52"/>
              </a:rPr>
              <a:t> extends Account {</a:t>
            </a:r>
          </a:p>
          <a:p>
            <a:r>
              <a:rPr lang="en" sz="1400" dirty="0">
                <a:latin typeface="Montserrat" panose="00000500000000000000" pitchFamily="2" charset="-52"/>
              </a:rPr>
              <a:t>    @Override</a:t>
            </a:r>
          </a:p>
          <a:p>
            <a:r>
              <a:rPr lang="en" sz="1400" dirty="0">
                <a:latin typeface="Montserrat" panose="00000500000000000000" pitchFamily="2" charset="-52"/>
              </a:rPr>
              <a:t>    void withdraw(</a:t>
            </a:r>
            <a:r>
              <a:rPr lang="en" sz="1400" dirty="0" err="1">
                <a:latin typeface="Montserrat" panose="00000500000000000000" pitchFamily="2" charset="-52"/>
              </a:rPr>
              <a:t>BigDecimal</a:t>
            </a:r>
            <a:r>
              <a:rPr lang="en" sz="1400" dirty="0">
                <a:latin typeface="Montserrat" panose="00000500000000000000" pitchFamily="2" charset="-52"/>
              </a:rPr>
              <a:t> amount) {</a:t>
            </a:r>
          </a:p>
          <a:p>
            <a:r>
              <a:rPr lang="en" sz="1400" dirty="0">
                <a:latin typeface="Montserrat" panose="00000500000000000000" pitchFamily="2" charset="-52"/>
              </a:rPr>
              <a:t>        // </a:t>
            </a:r>
            <a:r>
              <a:rPr lang="ru-RU" sz="1400" dirty="0">
                <a:latin typeface="Montserrat" panose="00000500000000000000" pitchFamily="2" charset="-52"/>
              </a:rPr>
              <a:t>своя логика: сначала баланс, потом долг</a:t>
            </a:r>
          </a:p>
          <a:p>
            <a:r>
              <a:rPr lang="ru-RU" sz="1400" dirty="0">
                <a:latin typeface="Montserrat" panose="00000500000000000000" pitchFamily="2" charset="-52"/>
              </a:rPr>
              <a:t>    }</a:t>
            </a:r>
          </a:p>
          <a:p>
            <a:r>
              <a:rPr lang="ru-RU" sz="1400" dirty="0">
                <a:latin typeface="Montserrat" panose="00000500000000000000" pitchFamily="2" charset="-52"/>
              </a:rPr>
              <a:t>}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6242C29-B009-313E-4822-036DEB4DE6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82359" y="1645677"/>
            <a:ext cx="3667384" cy="4031873"/>
          </a:xfrm>
          <a:ln w="19050">
            <a:solidFill>
              <a:srgbClr val="01BBEE"/>
            </a:solidFill>
          </a:ln>
        </p:spPr>
        <p:txBody>
          <a:bodyPr/>
          <a:lstStyle/>
          <a:p>
            <a:r>
              <a:rPr lang="ru-RU" sz="1600" dirty="0"/>
              <a:t>Базовый </a:t>
            </a:r>
            <a:r>
              <a:rPr lang="ru-RU" sz="1600" dirty="0" err="1"/>
              <a:t>Account</a:t>
            </a:r>
            <a:r>
              <a:rPr lang="ru-RU" sz="1600" dirty="0"/>
              <a:t> мы не трогаем — он закрыт для изменений. Когда нам нужен кредитный счёт со своей логикой снятия, мы пишем наследника </a:t>
            </a:r>
            <a:r>
              <a:rPr lang="ru-RU" sz="1600" dirty="0" err="1"/>
              <a:t>CreditAccount</a:t>
            </a:r>
            <a:r>
              <a:rPr lang="ru-RU" sz="1600" dirty="0"/>
              <a:t> и</a:t>
            </a:r>
            <a:r>
              <a:rPr lang="en-US" sz="1600" dirty="0"/>
              <a:t> </a:t>
            </a:r>
            <a:r>
              <a:rPr lang="ru-RU" sz="1600" dirty="0"/>
              <a:t>переопределяем </a:t>
            </a:r>
            <a:r>
              <a:rPr lang="ru-RU" sz="1600" dirty="0" err="1"/>
              <a:t>withdraw</a:t>
            </a:r>
            <a:r>
              <a:rPr lang="ru-RU" sz="1600" dirty="0"/>
              <a:t>: сначала тратится баланс, остаток уходит в долг в пределах свободного лимита. Базовый класс, </a:t>
            </a:r>
            <a:r>
              <a:rPr lang="ru-RU" sz="1600" dirty="0" err="1"/>
              <a:t>TransferTransaction</a:t>
            </a:r>
            <a:r>
              <a:rPr lang="ru-RU" sz="1600" dirty="0"/>
              <a:t>, репозитории и SQL — ничего из этого не пришлось менять. Это и есть Open/</a:t>
            </a:r>
            <a:r>
              <a:rPr lang="ru-RU" sz="1600" dirty="0" err="1"/>
              <a:t>Closed</a:t>
            </a:r>
            <a:r>
              <a:rPr lang="ru-RU" sz="1600" dirty="0"/>
              <a:t> на конкретном коде.</a:t>
            </a:r>
          </a:p>
        </p:txBody>
      </p:sp>
    </p:spTree>
    <p:extLst>
      <p:ext uri="{BB962C8B-B14F-4D97-AF65-F5344CB8AC3E}">
        <p14:creationId xmlns:p14="http://schemas.microsoft.com/office/powerpoint/2010/main" val="4018627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63BC67-126C-81FF-8952-F533FA02D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SOLID: L — </a:t>
            </a:r>
            <a:r>
              <a:rPr lang="ru-RU" dirty="0"/>
              <a:t>Подстановка Лисков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47DFAF4D-F8D4-D686-7CF8-2FD70934A707}"/>
              </a:ext>
            </a:extLst>
          </p:cNvPr>
          <p:cNvSpPr/>
          <p:nvPr/>
        </p:nvSpPr>
        <p:spPr>
          <a:xfrm>
            <a:off x="642257" y="1839686"/>
            <a:ext cx="6161314" cy="4225448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C2037F-0B7F-8C9B-E64D-57B87C29DA2A}"/>
              </a:ext>
            </a:extLst>
          </p:cNvPr>
          <p:cNvSpPr txBox="1"/>
          <p:nvPr/>
        </p:nvSpPr>
        <p:spPr>
          <a:xfrm>
            <a:off x="881743" y="1934599"/>
            <a:ext cx="5845628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// </a:t>
            </a:r>
            <a:r>
              <a:rPr lang="ru-RU" sz="1600" b="1" dirty="0" err="1"/>
              <a:t>TransferTransaction</a:t>
            </a:r>
            <a:r>
              <a:rPr lang="ru-RU" sz="1600" b="1" dirty="0"/>
              <a:t> работает с базовым </a:t>
            </a:r>
            <a:r>
              <a:rPr lang="ru-RU" sz="1600" b="1" dirty="0" err="1"/>
              <a:t>Account</a:t>
            </a:r>
            <a:r>
              <a:rPr lang="ru-RU" sz="1600" b="1" dirty="0"/>
              <a:t>,</a:t>
            </a:r>
          </a:p>
          <a:p>
            <a:r>
              <a:rPr lang="ru-RU" sz="1600" b="1" dirty="0"/>
              <a:t>// не зная о конкретном типе</a:t>
            </a:r>
          </a:p>
          <a:p>
            <a:r>
              <a:rPr lang="ru-RU" sz="1600" dirty="0" err="1"/>
              <a:t>public</a:t>
            </a:r>
            <a:r>
              <a:rPr lang="ru-RU" sz="1600" dirty="0"/>
              <a:t> </a:t>
            </a:r>
            <a:r>
              <a:rPr lang="ru-RU" sz="1600" dirty="0" err="1"/>
              <a:t>class</a:t>
            </a:r>
            <a:r>
              <a:rPr lang="ru-RU" sz="1600" dirty="0"/>
              <a:t> </a:t>
            </a:r>
            <a:r>
              <a:rPr lang="ru-RU" sz="1600" dirty="0" err="1"/>
              <a:t>TransferTransaction</a:t>
            </a:r>
            <a:r>
              <a:rPr lang="ru-RU" sz="1600" dirty="0"/>
              <a:t> </a:t>
            </a:r>
            <a:r>
              <a:rPr lang="ru-RU" sz="1600" dirty="0" err="1"/>
              <a:t>extends</a:t>
            </a:r>
            <a:r>
              <a:rPr lang="ru-RU" sz="1600" dirty="0"/>
              <a:t> </a:t>
            </a:r>
            <a:r>
              <a:rPr lang="ru-RU" sz="1600" dirty="0" err="1"/>
              <a:t>Transaction</a:t>
            </a:r>
            <a:r>
              <a:rPr lang="ru-RU" sz="1600" dirty="0"/>
              <a:t> {</a:t>
            </a:r>
          </a:p>
          <a:p>
            <a:r>
              <a:rPr lang="ru-RU" sz="1600" dirty="0"/>
              <a:t>    </a:t>
            </a:r>
            <a:r>
              <a:rPr lang="ru-RU" sz="1600" dirty="0" err="1"/>
              <a:t>private</a:t>
            </a:r>
            <a:r>
              <a:rPr lang="ru-RU" sz="1600" dirty="0"/>
              <a:t> </a:t>
            </a:r>
            <a:r>
              <a:rPr lang="ru-RU" sz="1600" dirty="0" err="1"/>
              <a:t>final</a:t>
            </a:r>
            <a:r>
              <a:rPr lang="ru-RU" sz="1600" dirty="0"/>
              <a:t> </a:t>
            </a:r>
            <a:r>
              <a:rPr lang="ru-RU" sz="1600" dirty="0" err="1"/>
              <a:t>Account</a:t>
            </a:r>
            <a:r>
              <a:rPr lang="ru-RU" sz="1600" dirty="0"/>
              <a:t> </a:t>
            </a:r>
            <a:r>
              <a:rPr lang="ru-RU" sz="1600" dirty="0" err="1"/>
              <a:t>fromAccount</a:t>
            </a:r>
            <a:r>
              <a:rPr lang="ru-RU" sz="1600" dirty="0"/>
              <a:t>;   // может быть ЛЮБЫМ типом</a:t>
            </a:r>
          </a:p>
          <a:p>
            <a:r>
              <a:rPr lang="ru-RU" sz="1600" dirty="0"/>
              <a:t>    </a:t>
            </a:r>
            <a:r>
              <a:rPr lang="ru-RU" sz="1600" dirty="0" err="1"/>
              <a:t>private</a:t>
            </a:r>
            <a:r>
              <a:rPr lang="ru-RU" sz="1600" dirty="0"/>
              <a:t> </a:t>
            </a:r>
            <a:r>
              <a:rPr lang="ru-RU" sz="1600" dirty="0" err="1"/>
              <a:t>final</a:t>
            </a:r>
            <a:r>
              <a:rPr lang="ru-RU" sz="1600" dirty="0"/>
              <a:t> </a:t>
            </a:r>
            <a:r>
              <a:rPr lang="ru-RU" sz="1600" dirty="0" err="1"/>
              <a:t>Account</a:t>
            </a:r>
            <a:r>
              <a:rPr lang="ru-RU" sz="1600" dirty="0"/>
              <a:t> </a:t>
            </a:r>
            <a:r>
              <a:rPr lang="ru-RU" sz="1600" dirty="0" err="1"/>
              <a:t>toAccount</a:t>
            </a:r>
            <a:r>
              <a:rPr lang="ru-RU" sz="1600" dirty="0"/>
              <a:t>;</a:t>
            </a:r>
          </a:p>
          <a:p>
            <a:endParaRPr lang="ru-RU" sz="1600" dirty="0"/>
          </a:p>
          <a:p>
            <a:r>
              <a:rPr lang="ru-RU" sz="1600" dirty="0"/>
              <a:t>    @</a:t>
            </a:r>
            <a:r>
              <a:rPr lang="ru-RU" sz="1600" dirty="0" err="1"/>
              <a:t>Override</a:t>
            </a:r>
            <a:endParaRPr lang="ru-RU" sz="1600" dirty="0"/>
          </a:p>
          <a:p>
            <a:r>
              <a:rPr lang="ru-RU" sz="1600" dirty="0"/>
              <a:t>    </a:t>
            </a:r>
            <a:r>
              <a:rPr lang="ru-RU" sz="1600" dirty="0" err="1"/>
              <a:t>public</a:t>
            </a:r>
            <a:r>
              <a:rPr lang="ru-RU" sz="1600" dirty="0"/>
              <a:t> </a:t>
            </a:r>
            <a:r>
              <a:rPr lang="ru-RU" sz="1600" dirty="0" err="1"/>
              <a:t>void</a:t>
            </a:r>
            <a:r>
              <a:rPr lang="ru-RU" sz="1600" dirty="0"/>
              <a:t> </a:t>
            </a:r>
            <a:r>
              <a:rPr lang="ru-RU" sz="1600" dirty="0" err="1"/>
              <a:t>execute</a:t>
            </a:r>
            <a:r>
              <a:rPr lang="ru-RU" sz="1600" dirty="0"/>
              <a:t>() {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if</a:t>
            </a:r>
            <a:r>
              <a:rPr lang="ru-RU" sz="1600" dirty="0"/>
              <a:t> (!</a:t>
            </a:r>
            <a:r>
              <a:rPr lang="ru-RU" sz="1600" dirty="0" err="1"/>
              <a:t>validate</a:t>
            </a:r>
            <a:r>
              <a:rPr lang="ru-RU" sz="1600" dirty="0"/>
              <a:t>()) { </a:t>
            </a:r>
            <a:r>
              <a:rPr lang="ru-RU" sz="1600" dirty="0" err="1"/>
              <a:t>markFailed</a:t>
            </a:r>
            <a:r>
              <a:rPr lang="ru-RU" sz="1600" dirty="0"/>
              <a:t>(); </a:t>
            </a:r>
            <a:r>
              <a:rPr lang="ru-RU" sz="1600" dirty="0" err="1"/>
              <a:t>throw</a:t>
            </a:r>
            <a:r>
              <a:rPr lang="ru-RU" sz="1600" dirty="0"/>
              <a:t> ... }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fromAccount.withdraw</a:t>
            </a:r>
            <a:r>
              <a:rPr lang="ru-RU" sz="1600" dirty="0"/>
              <a:t>(</a:t>
            </a:r>
            <a:r>
              <a:rPr lang="ru-RU" sz="1600" dirty="0" err="1"/>
              <a:t>getAmount</a:t>
            </a:r>
            <a:r>
              <a:rPr lang="ru-RU" sz="1600" dirty="0"/>
              <a:t>()); // работает для </a:t>
            </a:r>
            <a:r>
              <a:rPr lang="ru-RU" sz="1600" dirty="0" err="1"/>
              <a:t>Debit</a:t>
            </a:r>
            <a:r>
              <a:rPr lang="ru-RU" sz="1600" dirty="0"/>
              <a:t>/</a:t>
            </a:r>
            <a:r>
              <a:rPr lang="ru-RU" sz="1600" dirty="0" err="1"/>
              <a:t>Savings</a:t>
            </a:r>
            <a:r>
              <a:rPr lang="ru-RU" sz="1600" dirty="0"/>
              <a:t>/Credit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toAccount.deposit</a:t>
            </a:r>
            <a:r>
              <a:rPr lang="ru-RU" sz="1600" dirty="0"/>
              <a:t>(</a:t>
            </a:r>
            <a:r>
              <a:rPr lang="ru-RU" sz="1600" dirty="0" err="1"/>
              <a:t>getAmount</a:t>
            </a:r>
            <a:r>
              <a:rPr lang="ru-RU" sz="1600" dirty="0"/>
              <a:t>());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markCompleted</a:t>
            </a:r>
            <a:r>
              <a:rPr lang="ru-RU" sz="1600" dirty="0"/>
              <a:t>();</a:t>
            </a:r>
          </a:p>
          <a:p>
            <a:r>
              <a:rPr lang="ru-RU" sz="1600" dirty="0"/>
              <a:t>    }</a:t>
            </a:r>
          </a:p>
          <a:p>
            <a:r>
              <a:rPr lang="ru-RU" sz="1600" dirty="0"/>
              <a:t>}</a:t>
            </a:r>
          </a:p>
          <a:p>
            <a:endParaRPr lang="ru-RU" sz="1200" dirty="0">
              <a:latin typeface="Montserrat" panose="00000500000000000000" pitchFamily="2" charset="-52"/>
            </a:endParaRPr>
          </a:p>
        </p:txBody>
      </p:sp>
      <p:sp>
        <p:nvSpPr>
          <p:cNvPr id="8" name="Текст 3">
            <a:extLst>
              <a:ext uri="{FF2B5EF4-FFF2-40B4-BE49-F238E27FC236}">
                <a16:creationId xmlns:a16="http://schemas.microsoft.com/office/drawing/2014/main" id="{D0433D82-E6D8-6DA7-0B91-004BC91C0143}"/>
              </a:ext>
            </a:extLst>
          </p:cNvPr>
          <p:cNvSpPr txBox="1">
            <a:spLocks/>
          </p:cNvSpPr>
          <p:nvPr/>
        </p:nvSpPr>
        <p:spPr>
          <a:xfrm>
            <a:off x="7925770" y="1787040"/>
            <a:ext cx="3667384" cy="4278094"/>
          </a:xfrm>
          <a:prstGeom prst="rect">
            <a:avLst/>
          </a:prstGeom>
          <a:ln w="19050">
            <a:solidFill>
              <a:srgbClr val="01BBEE"/>
            </a:solidFill>
          </a:ln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 err="1"/>
              <a:t>TransferTransaction</a:t>
            </a:r>
            <a:r>
              <a:rPr lang="ru-RU" sz="1600" dirty="0"/>
              <a:t> хранит поля типа </a:t>
            </a:r>
            <a:r>
              <a:rPr lang="ru-RU" sz="1600" dirty="0" err="1"/>
              <a:t>Account</a:t>
            </a:r>
            <a:r>
              <a:rPr lang="ru-RU" sz="1600" dirty="0"/>
              <a:t>, не зная, дебетовый это, сберегательный или кредитный. Когда </a:t>
            </a:r>
            <a:r>
              <a:rPr lang="ru-RU" sz="1600" dirty="0" err="1"/>
              <a:t>execute</a:t>
            </a:r>
            <a:r>
              <a:rPr lang="ru-RU" sz="1600" dirty="0"/>
              <a:t> вызывает </a:t>
            </a:r>
            <a:r>
              <a:rPr lang="ru-RU" sz="1600" dirty="0" err="1"/>
              <a:t>withdraw</a:t>
            </a:r>
            <a:r>
              <a:rPr lang="ru-RU" sz="1600" dirty="0"/>
              <a:t> — каждый наследник делает своё корректно: дебетовый просто списывает, сберегательный тоже, кредитный по своей логике с лимитом. Ни один наследник не нарушает базовых инвариантов — например, не пытается уйти в произвольный минус. Поэтому переводы работают для любой комбинации типов счетов без </a:t>
            </a:r>
            <a:r>
              <a:rPr lang="ru-RU" sz="1600" dirty="0" err="1"/>
              <a:t>instanceof</a:t>
            </a:r>
            <a:r>
              <a:rPr lang="ru-RU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91575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6B19C6-F381-41BC-ADE2-14267F9AC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SOLID: I — </a:t>
            </a:r>
            <a:r>
              <a:rPr lang="ru-RU" dirty="0"/>
              <a:t>Разделение интерфейсов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F5EA477-25FC-1310-353E-C00EBD50E3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36426" y="1259732"/>
            <a:ext cx="4208371" cy="338554"/>
          </a:xfrm>
          <a:ln w="19050">
            <a:noFill/>
          </a:ln>
        </p:spPr>
        <p:txBody>
          <a:bodyPr/>
          <a:lstStyle/>
          <a:p>
            <a:r>
              <a:rPr lang="ru-RU" dirty="0"/>
              <a:t>Вместо одного репозитория всего: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DD241AA-FC32-127F-83F9-72ADF80E33AA}"/>
              </a:ext>
            </a:extLst>
          </p:cNvPr>
          <p:cNvSpPr/>
          <p:nvPr/>
        </p:nvSpPr>
        <p:spPr>
          <a:xfrm>
            <a:off x="1393371" y="1804479"/>
            <a:ext cx="2413074" cy="1489041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909C15-2EA6-BB4E-20AC-51CF8B471120}"/>
              </a:ext>
            </a:extLst>
          </p:cNvPr>
          <p:cNvSpPr txBox="1"/>
          <p:nvPr/>
        </p:nvSpPr>
        <p:spPr>
          <a:xfrm>
            <a:off x="1534004" y="1908525"/>
            <a:ext cx="205857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" sz="1400" b="1" dirty="0" err="1">
                <a:latin typeface="Montserrat" panose="00000500000000000000" pitchFamily="2" charset="-52"/>
              </a:rPr>
              <a:t>AccountRepository</a:t>
            </a:r>
            <a:endParaRPr lang="en" sz="1400" b="1" dirty="0">
              <a:latin typeface="Montserrat" panose="00000500000000000000" pitchFamily="2" charset="-52"/>
            </a:endParaRPr>
          </a:p>
          <a:p>
            <a:pPr algn="ctr"/>
            <a:endParaRPr lang="en" sz="1400" b="1" dirty="0">
              <a:latin typeface="Montserrat" panose="00000500000000000000" pitchFamily="2" charset="-52"/>
            </a:endParaRPr>
          </a:p>
          <a:p>
            <a:pPr algn="ctr"/>
            <a:r>
              <a:rPr lang="en" sz="1400" dirty="0" err="1">
                <a:latin typeface="Montserrat" panose="00000500000000000000" pitchFamily="2" charset="-52"/>
              </a:rPr>
              <a:t>findByNumber</a:t>
            </a:r>
            <a:r>
              <a:rPr lang="en" sz="1400" dirty="0">
                <a:latin typeface="Montserrat" panose="00000500000000000000" pitchFamily="2" charset="-52"/>
              </a:rPr>
              <a:t>()</a:t>
            </a:r>
          </a:p>
          <a:p>
            <a:pPr algn="ctr"/>
            <a:r>
              <a:rPr lang="en" sz="1400" dirty="0">
                <a:latin typeface="Montserrat" panose="00000500000000000000" pitchFamily="2" charset="-52"/>
              </a:rPr>
              <a:t>save()</a:t>
            </a:r>
          </a:p>
          <a:p>
            <a:pPr algn="ctr"/>
            <a:r>
              <a:rPr lang="en" sz="1400" dirty="0" err="1">
                <a:latin typeface="Montserrat" panose="00000500000000000000" pitchFamily="2" charset="-52"/>
              </a:rPr>
              <a:t>findByCustomer</a:t>
            </a:r>
            <a:r>
              <a:rPr lang="en" sz="1400" dirty="0">
                <a:latin typeface="Montserrat" panose="00000500000000000000" pitchFamily="2" charset="-52"/>
              </a:rPr>
              <a:t>()</a:t>
            </a:r>
          </a:p>
          <a:p>
            <a:pPr algn="ctr"/>
            <a:r>
              <a:rPr lang="en" sz="1400" dirty="0">
                <a:latin typeface="Montserrat" panose="00000500000000000000" pitchFamily="2" charset="-52"/>
              </a:rPr>
              <a:t>delete()</a:t>
            </a:r>
            <a:endParaRPr lang="ru-RU" sz="1400" dirty="0">
              <a:latin typeface="Montserrat" panose="00000500000000000000" pitchFamily="2" charset="-52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5A07282-93AF-DEAA-7D6C-76EF5C62DCF3}"/>
              </a:ext>
            </a:extLst>
          </p:cNvPr>
          <p:cNvSpPr/>
          <p:nvPr/>
        </p:nvSpPr>
        <p:spPr>
          <a:xfrm>
            <a:off x="4441371" y="1804479"/>
            <a:ext cx="2413074" cy="1489041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F88EC4-2262-C77A-E810-57D7F51FC123}"/>
              </a:ext>
            </a:extLst>
          </p:cNvPr>
          <p:cNvSpPr txBox="1"/>
          <p:nvPr/>
        </p:nvSpPr>
        <p:spPr>
          <a:xfrm>
            <a:off x="4835025" y="1925128"/>
            <a:ext cx="162576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1400" b="1" dirty="0" err="1">
                <a:latin typeface="Montserrat" panose="00000500000000000000" pitchFamily="2" charset="-52"/>
              </a:rPr>
              <a:t>UserRepository</a:t>
            </a:r>
            <a:endParaRPr lang="ru-RU" sz="1400" b="1" dirty="0">
              <a:latin typeface="Montserrat" panose="00000500000000000000" pitchFamily="2" charset="-52"/>
            </a:endParaRPr>
          </a:p>
          <a:p>
            <a:pPr algn="ctr"/>
            <a:endParaRPr lang="en" sz="1400" b="1" dirty="0">
              <a:latin typeface="Montserrat" panose="00000500000000000000" pitchFamily="2" charset="-52"/>
            </a:endParaRPr>
          </a:p>
          <a:p>
            <a:pPr algn="ctr"/>
            <a:r>
              <a:rPr lang="en" sz="1400" dirty="0" err="1">
                <a:latin typeface="Montserrat" panose="00000500000000000000" pitchFamily="2" charset="-52"/>
              </a:rPr>
              <a:t>findByLogin</a:t>
            </a:r>
            <a:r>
              <a:rPr lang="en" sz="1400" dirty="0">
                <a:latin typeface="Montserrat" panose="00000500000000000000" pitchFamily="2" charset="-52"/>
              </a:rPr>
              <a:t>()</a:t>
            </a:r>
          </a:p>
          <a:p>
            <a:pPr algn="ctr"/>
            <a:r>
              <a:rPr lang="en" sz="1400" dirty="0">
                <a:latin typeface="Montserrat" panose="00000500000000000000" pitchFamily="2" charset="-52"/>
              </a:rPr>
              <a:t>save()</a:t>
            </a:r>
            <a:endParaRPr lang="ru-RU" sz="1400" dirty="0">
              <a:latin typeface="Montserrat" panose="00000500000000000000" pitchFamily="2" charset="-52"/>
            </a:endParaRPr>
          </a:p>
          <a:p>
            <a:pPr algn="ctr"/>
            <a:r>
              <a:rPr lang="en" sz="1400" dirty="0">
                <a:latin typeface="Montserrat" panose="00000500000000000000" pitchFamily="2" charset="-52"/>
              </a:rPr>
              <a:t>delete()</a:t>
            </a:r>
            <a:endParaRPr lang="ru-RU" sz="1400" dirty="0">
              <a:latin typeface="Montserrat" panose="00000500000000000000" pitchFamily="2" charset="-52"/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67CF8E0A-8EF4-C4F3-A113-9F181FD3D8B9}"/>
              </a:ext>
            </a:extLst>
          </p:cNvPr>
          <p:cNvSpPr/>
          <p:nvPr/>
        </p:nvSpPr>
        <p:spPr>
          <a:xfrm>
            <a:off x="1393371" y="3510253"/>
            <a:ext cx="2413074" cy="1384995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850E1-6C12-81A6-51C3-E686639F250D}"/>
              </a:ext>
            </a:extLst>
          </p:cNvPr>
          <p:cNvSpPr txBox="1"/>
          <p:nvPr/>
        </p:nvSpPr>
        <p:spPr>
          <a:xfrm>
            <a:off x="1501944" y="3614299"/>
            <a:ext cx="212269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" sz="1400" b="1" dirty="0" err="1">
                <a:latin typeface="Montserrat" panose="00000500000000000000" pitchFamily="2" charset="-52"/>
              </a:rPr>
              <a:t>CustomerRepository</a:t>
            </a:r>
            <a:endParaRPr lang="en" sz="1400" b="1" dirty="0">
              <a:latin typeface="Montserrat" panose="00000500000000000000" pitchFamily="2" charset="-52"/>
            </a:endParaRPr>
          </a:p>
          <a:p>
            <a:pPr algn="ctr"/>
            <a:endParaRPr lang="en" sz="1400" b="1" dirty="0">
              <a:latin typeface="Montserrat" panose="00000500000000000000" pitchFamily="2" charset="-52"/>
            </a:endParaRPr>
          </a:p>
          <a:p>
            <a:pPr algn="ctr"/>
            <a:r>
              <a:rPr lang="en" sz="1400" dirty="0" err="1">
                <a:latin typeface="Montserrat" panose="00000500000000000000" pitchFamily="2" charset="-52"/>
              </a:rPr>
              <a:t>findByCustomerId</a:t>
            </a:r>
            <a:r>
              <a:rPr lang="en" sz="1400" dirty="0">
                <a:latin typeface="Montserrat" panose="00000500000000000000" pitchFamily="2" charset="-52"/>
              </a:rPr>
              <a:t>()</a:t>
            </a:r>
          </a:p>
          <a:p>
            <a:pPr algn="ctr"/>
            <a:r>
              <a:rPr lang="en" sz="1400" dirty="0">
                <a:latin typeface="Montserrat" panose="00000500000000000000" pitchFamily="2" charset="-52"/>
              </a:rPr>
              <a:t>save()</a:t>
            </a:r>
          </a:p>
          <a:p>
            <a:pPr algn="ctr"/>
            <a:r>
              <a:rPr lang="en" sz="1400" dirty="0">
                <a:latin typeface="Montserrat" panose="00000500000000000000" pitchFamily="2" charset="-52"/>
              </a:rPr>
              <a:t>delete()</a:t>
            </a:r>
            <a:endParaRPr lang="ru-RU" sz="1400" dirty="0">
              <a:latin typeface="Montserrat" panose="00000500000000000000" pitchFamily="2" charset="-52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99CF60B4-F1E7-542B-9A23-31E60DB7307A}"/>
              </a:ext>
            </a:extLst>
          </p:cNvPr>
          <p:cNvSpPr/>
          <p:nvPr/>
        </p:nvSpPr>
        <p:spPr>
          <a:xfrm>
            <a:off x="4441371" y="3510253"/>
            <a:ext cx="2413074" cy="1384995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C06F79-C2D5-D662-2EC9-C496B8F99DA2}"/>
              </a:ext>
            </a:extLst>
          </p:cNvPr>
          <p:cNvSpPr txBox="1"/>
          <p:nvPr/>
        </p:nvSpPr>
        <p:spPr>
          <a:xfrm>
            <a:off x="4441370" y="3630902"/>
            <a:ext cx="24130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" sz="1400" b="1" dirty="0" err="1">
                <a:latin typeface="Montserrat" panose="00000500000000000000" pitchFamily="2" charset="-52"/>
              </a:rPr>
              <a:t>TransactionRepository</a:t>
            </a:r>
            <a:endParaRPr lang="ru-RU" sz="1400" b="1" dirty="0">
              <a:latin typeface="Montserrat" panose="00000500000000000000" pitchFamily="2" charset="-52"/>
            </a:endParaRPr>
          </a:p>
          <a:p>
            <a:pPr algn="ctr"/>
            <a:endParaRPr lang="en" sz="1400" b="1" dirty="0">
              <a:latin typeface="Montserrat" panose="00000500000000000000" pitchFamily="2" charset="-52"/>
            </a:endParaRPr>
          </a:p>
          <a:p>
            <a:pPr algn="ctr"/>
            <a:r>
              <a:rPr lang="en" sz="1400" dirty="0">
                <a:latin typeface="Montserrat" panose="00000500000000000000" pitchFamily="2" charset="-52"/>
              </a:rPr>
              <a:t>save()</a:t>
            </a:r>
            <a:endParaRPr lang="ru-RU" sz="1400" dirty="0">
              <a:latin typeface="Montserrat" panose="00000500000000000000" pitchFamily="2" charset="-52"/>
            </a:endParaRPr>
          </a:p>
          <a:p>
            <a:pPr algn="ctr"/>
            <a:r>
              <a:rPr lang="en" sz="1400" dirty="0" err="1">
                <a:latin typeface="Montserrat" panose="00000500000000000000" pitchFamily="2" charset="-52"/>
              </a:rPr>
              <a:t>findByAccountNumber</a:t>
            </a:r>
            <a:r>
              <a:rPr lang="en" sz="1400" dirty="0">
                <a:latin typeface="Montserrat" panose="00000500000000000000" pitchFamily="2" charset="-52"/>
              </a:rPr>
              <a:t>()</a:t>
            </a:r>
            <a:endParaRPr lang="ru-RU" sz="1400" dirty="0">
              <a:latin typeface="Montserrat" panose="00000500000000000000" pitchFamily="2" charset="-52"/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EF09D702-C4D5-B5E9-2A48-AB414ED931C0}"/>
              </a:ext>
            </a:extLst>
          </p:cNvPr>
          <p:cNvSpPr/>
          <p:nvPr/>
        </p:nvSpPr>
        <p:spPr>
          <a:xfrm>
            <a:off x="2916996" y="5111981"/>
            <a:ext cx="2413074" cy="1384995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FC7A70-43B5-4D99-0C9D-484133567F0F}"/>
              </a:ext>
            </a:extLst>
          </p:cNvPr>
          <p:cNvSpPr txBox="1"/>
          <p:nvPr/>
        </p:nvSpPr>
        <p:spPr>
          <a:xfrm>
            <a:off x="3120947" y="5216027"/>
            <a:ext cx="193193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" sz="1400" b="1" dirty="0" err="1">
                <a:latin typeface="Montserrat" panose="00000500000000000000" pitchFamily="2" charset="-52"/>
              </a:rPr>
              <a:t>TransactionBroker</a:t>
            </a:r>
            <a:endParaRPr lang="en" sz="1400" b="1" dirty="0">
              <a:latin typeface="Montserrat" panose="00000500000000000000" pitchFamily="2" charset="-52"/>
            </a:endParaRPr>
          </a:p>
          <a:p>
            <a:pPr algn="ctr"/>
            <a:endParaRPr lang="en" sz="1400" b="1" dirty="0">
              <a:latin typeface="Montserrat" panose="00000500000000000000" pitchFamily="2" charset="-52"/>
            </a:endParaRPr>
          </a:p>
          <a:p>
            <a:pPr algn="ctr"/>
            <a:r>
              <a:rPr lang="en" sz="1400" dirty="0" err="1">
                <a:latin typeface="Montserrat" panose="00000500000000000000" pitchFamily="2" charset="-52"/>
              </a:rPr>
              <a:t>inTransaction</a:t>
            </a:r>
            <a:r>
              <a:rPr lang="en" sz="1400" dirty="0">
                <a:latin typeface="Montserrat" panose="00000500000000000000" pitchFamily="2" charset="-52"/>
              </a:rPr>
              <a:t>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4C9658-0C4A-8BA8-E7EA-16BFEE78ABA5}"/>
              </a:ext>
            </a:extLst>
          </p:cNvPr>
          <p:cNvSpPr txBox="1"/>
          <p:nvPr/>
        </p:nvSpPr>
        <p:spPr>
          <a:xfrm>
            <a:off x="7620000" y="2305615"/>
            <a:ext cx="3788229" cy="2246769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sz="2000" dirty="0">
                <a:latin typeface="Montserrat" panose="00000500000000000000" pitchFamily="2" charset="-52"/>
              </a:rPr>
              <a:t>`</a:t>
            </a:r>
            <a:r>
              <a:rPr lang="en" sz="2000" dirty="0" err="1">
                <a:latin typeface="Montserrat" panose="00000500000000000000" pitchFamily="2" charset="-52"/>
              </a:rPr>
              <a:t>BankService</a:t>
            </a:r>
            <a:r>
              <a:rPr lang="en" sz="2000" dirty="0">
                <a:latin typeface="Montserrat" panose="00000500000000000000" pitchFamily="2" charset="-52"/>
              </a:rPr>
              <a:t>` </a:t>
            </a:r>
            <a:r>
              <a:rPr lang="ru-RU" sz="2000" dirty="0">
                <a:latin typeface="Montserrat" panose="00000500000000000000" pitchFamily="2" charset="-52"/>
              </a:rPr>
              <a:t>зависит только от `</a:t>
            </a:r>
            <a:r>
              <a:rPr lang="en" sz="2000" dirty="0" err="1">
                <a:latin typeface="Montserrat" panose="00000500000000000000" pitchFamily="2" charset="-52"/>
              </a:rPr>
              <a:t>AccountRepository</a:t>
            </a:r>
            <a:r>
              <a:rPr lang="en" sz="2000" dirty="0">
                <a:latin typeface="Montserrat" panose="00000500000000000000" pitchFamily="2" charset="-52"/>
              </a:rPr>
              <a:t>`, `</a:t>
            </a:r>
            <a:r>
              <a:rPr lang="en" sz="2000" dirty="0" err="1">
                <a:latin typeface="Montserrat" panose="00000500000000000000" pitchFamily="2" charset="-52"/>
              </a:rPr>
              <a:t>CustomerRepository</a:t>
            </a:r>
            <a:r>
              <a:rPr lang="en" sz="2000" dirty="0">
                <a:latin typeface="Montserrat" panose="00000500000000000000" pitchFamily="2" charset="-52"/>
              </a:rPr>
              <a:t>`, `</a:t>
            </a:r>
            <a:r>
              <a:rPr lang="en" sz="2000" dirty="0" err="1">
                <a:latin typeface="Montserrat" panose="00000500000000000000" pitchFamily="2" charset="-52"/>
              </a:rPr>
              <a:t>TransactionRepository</a:t>
            </a:r>
            <a:r>
              <a:rPr lang="en" sz="2000" dirty="0">
                <a:latin typeface="Montserrat" panose="00000500000000000000" pitchFamily="2" charset="-52"/>
              </a:rPr>
              <a:t>`, `</a:t>
            </a:r>
            <a:r>
              <a:rPr lang="en" sz="2000" dirty="0" err="1">
                <a:latin typeface="Montserrat" panose="00000500000000000000" pitchFamily="2" charset="-52"/>
              </a:rPr>
              <a:t>TransactionBroker</a:t>
            </a:r>
            <a:r>
              <a:rPr lang="en" sz="2000" dirty="0">
                <a:latin typeface="Montserrat" panose="00000500000000000000" pitchFamily="2" charset="-52"/>
              </a:rPr>
              <a:t>` — </a:t>
            </a:r>
            <a:r>
              <a:rPr lang="ru-RU" sz="2000" dirty="0">
                <a:latin typeface="Montserrat" panose="00000500000000000000" pitchFamily="2" charset="-52"/>
              </a:rPr>
              <a:t>и не видит ничего лишнего.</a:t>
            </a:r>
          </a:p>
        </p:txBody>
      </p:sp>
    </p:spTree>
    <p:extLst>
      <p:ext uri="{BB962C8B-B14F-4D97-AF65-F5344CB8AC3E}">
        <p14:creationId xmlns:p14="http://schemas.microsoft.com/office/powerpoint/2010/main" val="21653443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6A5A3F-CB15-34DC-7CE0-D5ACDD9FC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SOLID: D — </a:t>
            </a:r>
            <a:r>
              <a:rPr lang="ru-RU" dirty="0"/>
              <a:t>Инверсия зависимостей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DB2BD-DE55-DE7B-C976-07EADB8EC3D1}"/>
              </a:ext>
            </a:extLst>
          </p:cNvPr>
          <p:cNvSpPr txBox="1"/>
          <p:nvPr/>
        </p:nvSpPr>
        <p:spPr>
          <a:xfrm>
            <a:off x="559572" y="2727397"/>
            <a:ext cx="1981200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bg1"/>
                </a:solidFill>
                <a:latin typeface="Montserrat" panose="00000500000000000000" pitchFamily="2" charset="-52"/>
              </a:rPr>
              <a:t>BankService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A3B916-BED5-28B8-D6FD-423452287BD3}"/>
              </a:ext>
            </a:extLst>
          </p:cNvPr>
          <p:cNvSpPr txBox="1"/>
          <p:nvPr/>
        </p:nvSpPr>
        <p:spPr>
          <a:xfrm>
            <a:off x="6025973" y="2461097"/>
            <a:ext cx="3836484" cy="923330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dirty="0" err="1">
                <a:latin typeface="Montserrat" panose="00000500000000000000" pitchFamily="2" charset="-52"/>
              </a:rPr>
              <a:t>AccountRepository</a:t>
            </a:r>
            <a:r>
              <a:rPr lang="en" dirty="0">
                <a:latin typeface="Montserrat" panose="00000500000000000000" pitchFamily="2" charset="-52"/>
              </a:rPr>
              <a:t> (interface)</a:t>
            </a:r>
          </a:p>
          <a:p>
            <a:r>
              <a:rPr lang="en" dirty="0" err="1">
                <a:latin typeface="Montserrat" panose="00000500000000000000" pitchFamily="2" charset="-52"/>
              </a:rPr>
              <a:t>CustomerRepository</a:t>
            </a:r>
            <a:r>
              <a:rPr lang="en" dirty="0">
                <a:latin typeface="Montserrat" panose="00000500000000000000" pitchFamily="2" charset="-52"/>
              </a:rPr>
              <a:t> (interface)</a:t>
            </a:r>
          </a:p>
          <a:p>
            <a:r>
              <a:rPr lang="en" dirty="0" err="1">
                <a:latin typeface="Montserrat" panose="00000500000000000000" pitchFamily="2" charset="-52"/>
              </a:rPr>
              <a:t>TransactionBroker</a:t>
            </a:r>
            <a:r>
              <a:rPr lang="en" dirty="0">
                <a:latin typeface="Montserrat" panose="00000500000000000000" pitchFamily="2" charset="-52"/>
              </a:rPr>
              <a:t>  (interface)</a:t>
            </a:r>
            <a:endParaRPr lang="ru-RU" dirty="0">
              <a:latin typeface="Montserrat" panose="00000500000000000000" pitchFamily="2" charset="-52"/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7CDC7760-759D-D570-F6CD-166219BDDF85}"/>
              </a:ext>
            </a:extLst>
          </p:cNvPr>
          <p:cNvCxnSpPr>
            <a:stCxn id="5" idx="3"/>
          </p:cNvCxnSpPr>
          <p:nvPr/>
        </p:nvCxnSpPr>
        <p:spPr>
          <a:xfrm flipV="1">
            <a:off x="2540772" y="2922762"/>
            <a:ext cx="3485202" cy="469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996B8A6-7B7D-D47C-5A70-0133537B1493}"/>
              </a:ext>
            </a:extLst>
          </p:cNvPr>
          <p:cNvSpPr txBox="1"/>
          <p:nvPr/>
        </p:nvSpPr>
        <p:spPr>
          <a:xfrm>
            <a:off x="2761417" y="2522827"/>
            <a:ext cx="3043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Montserrat" panose="00000500000000000000" pitchFamily="2" charset="-52"/>
              </a:rPr>
              <a:t>зависит от интерфейсов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53E31D-D583-A90C-F581-87A5FB5EC437}"/>
              </a:ext>
            </a:extLst>
          </p:cNvPr>
          <p:cNvSpPr txBox="1"/>
          <p:nvPr/>
        </p:nvSpPr>
        <p:spPr>
          <a:xfrm>
            <a:off x="559574" y="3657724"/>
            <a:ext cx="3185114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bg1"/>
                </a:solidFill>
                <a:latin typeface="Montserrat" panose="00000500000000000000" pitchFamily="2" charset="-52"/>
              </a:rPr>
              <a:t>SqlAccountRepository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26B278-40A5-D5ED-34AD-3DE7B6113A32}"/>
              </a:ext>
            </a:extLst>
          </p:cNvPr>
          <p:cNvSpPr txBox="1"/>
          <p:nvPr/>
        </p:nvSpPr>
        <p:spPr>
          <a:xfrm>
            <a:off x="6058944" y="3668423"/>
            <a:ext cx="3836484" cy="369332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dirty="0" err="1">
                <a:latin typeface="Montserrat" panose="00000500000000000000" pitchFamily="2" charset="-52"/>
              </a:rPr>
              <a:t>AccountRepository</a:t>
            </a:r>
            <a:endParaRPr lang="ru-RU" dirty="0">
              <a:latin typeface="Montserrat" panose="00000500000000000000" pitchFamily="2" charset="-52"/>
            </a:endParaRP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2E9ECE4E-8FAB-654E-0FE1-26D9E956FD54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744688" y="3853089"/>
            <a:ext cx="2314256" cy="469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40FBE00-BFEB-39D4-E9EF-D6F46658D1FB}"/>
              </a:ext>
            </a:extLst>
          </p:cNvPr>
          <p:cNvSpPr txBox="1"/>
          <p:nvPr/>
        </p:nvSpPr>
        <p:spPr>
          <a:xfrm>
            <a:off x="3936819" y="3252212"/>
            <a:ext cx="18685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Montserrat" panose="00000500000000000000" pitchFamily="2" charset="-52"/>
              </a:rPr>
              <a:t>реализует интерфейсы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31EAEE-9858-3EBC-791D-D93F3C041A4A}"/>
              </a:ext>
            </a:extLst>
          </p:cNvPr>
          <p:cNvSpPr txBox="1"/>
          <p:nvPr/>
        </p:nvSpPr>
        <p:spPr>
          <a:xfrm>
            <a:off x="559572" y="4498533"/>
            <a:ext cx="3424911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bg1"/>
                </a:solidFill>
                <a:latin typeface="Montserrat" panose="00000500000000000000" pitchFamily="2" charset="-52"/>
              </a:rPr>
              <a:t>SqliteTransactionBroker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A2BBF0-B4A2-FCAA-20FC-B6D55F9D2CD2}"/>
              </a:ext>
            </a:extLst>
          </p:cNvPr>
          <p:cNvSpPr txBox="1"/>
          <p:nvPr/>
        </p:nvSpPr>
        <p:spPr>
          <a:xfrm>
            <a:off x="6058943" y="4509232"/>
            <a:ext cx="3836484" cy="369332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dirty="0" err="1">
                <a:latin typeface="Montserrat" panose="00000500000000000000" pitchFamily="2" charset="-52"/>
              </a:rPr>
              <a:t>TransactionBroker</a:t>
            </a:r>
            <a:endParaRPr lang="ru-RU" dirty="0">
              <a:latin typeface="Montserrat" panose="00000500000000000000" pitchFamily="2" charset="-52"/>
            </a:endParaRP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186E85F1-99EE-750F-E911-3C53B303ED3E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3984483" y="4693898"/>
            <a:ext cx="2041492" cy="469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69F6E1E-09A5-EC5F-78C2-88F16F08D907}"/>
              </a:ext>
            </a:extLst>
          </p:cNvPr>
          <p:cNvSpPr txBox="1"/>
          <p:nvPr/>
        </p:nvSpPr>
        <p:spPr>
          <a:xfrm>
            <a:off x="559575" y="5257980"/>
            <a:ext cx="899113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Main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4668E1-76DA-4EAF-2AC1-AF3E5FCEFA54}"/>
              </a:ext>
            </a:extLst>
          </p:cNvPr>
          <p:cNvSpPr txBox="1"/>
          <p:nvPr/>
        </p:nvSpPr>
        <p:spPr>
          <a:xfrm>
            <a:off x="5328141" y="5268679"/>
            <a:ext cx="4567288" cy="369332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dirty="0">
                <a:latin typeface="Montserrat" panose="00000500000000000000" pitchFamily="2" charset="-52"/>
              </a:rPr>
              <a:t>new </a:t>
            </a:r>
            <a:r>
              <a:rPr lang="en" dirty="0" err="1">
                <a:latin typeface="Montserrat" panose="00000500000000000000" pitchFamily="2" charset="-52"/>
              </a:rPr>
              <a:t>SqlAccountRepository</a:t>
            </a:r>
            <a:r>
              <a:rPr lang="en" dirty="0">
                <a:latin typeface="Montserrat" panose="00000500000000000000" pitchFamily="2" charset="-52"/>
              </a:rPr>
              <a:t>(database)</a:t>
            </a:r>
            <a:endParaRPr lang="ru-RU" dirty="0">
              <a:latin typeface="Montserrat" panose="00000500000000000000" pitchFamily="2" charset="-52"/>
            </a:endParaRPr>
          </a:p>
        </p:txBody>
      </p: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76E6A510-8561-AD94-8498-00E75FD36E8D}"/>
              </a:ext>
            </a:extLst>
          </p:cNvPr>
          <p:cNvCxnSpPr>
            <a:cxnSpLocks/>
            <a:stCxn id="27" idx="3"/>
          </p:cNvCxnSpPr>
          <p:nvPr/>
        </p:nvCxnSpPr>
        <p:spPr>
          <a:xfrm flipV="1">
            <a:off x="1458686" y="5453345"/>
            <a:ext cx="3852000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A2E213-2B19-8A88-BF45-193CF0710582}"/>
              </a:ext>
            </a:extLst>
          </p:cNvPr>
          <p:cNvSpPr txBox="1"/>
          <p:nvPr/>
        </p:nvSpPr>
        <p:spPr>
          <a:xfrm>
            <a:off x="1833073" y="5146982"/>
            <a:ext cx="2118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Montserrat" panose="00000500000000000000" pitchFamily="2" charset="-52"/>
              </a:rPr>
              <a:t>связывает в </a:t>
            </a:r>
            <a:r>
              <a:rPr lang="en" sz="1600" dirty="0">
                <a:latin typeface="Montserrat" panose="00000500000000000000" pitchFamily="2" charset="-52"/>
              </a:rPr>
              <a:t>Main</a:t>
            </a:r>
            <a:endParaRPr lang="ru-RU" sz="1600" dirty="0">
              <a:latin typeface="Montserrat" panose="00000500000000000000" pitchFamily="2" charset="-52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8614D2-5106-5D73-06E1-0F35233A09AB}"/>
              </a:ext>
            </a:extLst>
          </p:cNvPr>
          <p:cNvSpPr txBox="1"/>
          <p:nvPr/>
        </p:nvSpPr>
        <p:spPr>
          <a:xfrm>
            <a:off x="559574" y="6098789"/>
            <a:ext cx="899114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Main</a:t>
            </a:r>
            <a:endParaRPr lang="ru-RU" sz="20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8B2FFE-AA26-B687-AAE7-DE20E0376525}"/>
              </a:ext>
            </a:extLst>
          </p:cNvPr>
          <p:cNvSpPr txBox="1"/>
          <p:nvPr/>
        </p:nvSpPr>
        <p:spPr>
          <a:xfrm>
            <a:off x="3951515" y="6109488"/>
            <a:ext cx="5943913" cy="369332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dirty="0">
                <a:latin typeface="Montserrat" panose="00000500000000000000" pitchFamily="2" charset="-52"/>
              </a:rPr>
              <a:t>new </a:t>
            </a:r>
            <a:r>
              <a:rPr lang="en" dirty="0" err="1">
                <a:latin typeface="Montserrat" panose="00000500000000000000" pitchFamily="2" charset="-52"/>
              </a:rPr>
              <a:t>BankService</a:t>
            </a:r>
            <a:r>
              <a:rPr lang="en" dirty="0">
                <a:latin typeface="Montserrat" panose="00000500000000000000" pitchFamily="2" charset="-52"/>
              </a:rPr>
              <a:t>(</a:t>
            </a:r>
            <a:r>
              <a:rPr lang="en" dirty="0" err="1">
                <a:latin typeface="Montserrat" panose="00000500000000000000" pitchFamily="2" charset="-52"/>
              </a:rPr>
              <a:t>accountRepo</a:t>
            </a:r>
            <a:r>
              <a:rPr lang="en" dirty="0">
                <a:latin typeface="Montserrat" panose="00000500000000000000" pitchFamily="2" charset="-52"/>
              </a:rPr>
              <a:t>, </a:t>
            </a:r>
            <a:r>
              <a:rPr lang="en" dirty="0" err="1">
                <a:latin typeface="Montserrat" panose="00000500000000000000" pitchFamily="2" charset="-52"/>
              </a:rPr>
              <a:t>customerRepo</a:t>
            </a:r>
            <a:r>
              <a:rPr lang="en" dirty="0">
                <a:latin typeface="Montserrat" panose="00000500000000000000" pitchFamily="2" charset="-52"/>
              </a:rPr>
              <a:t>, ...)</a:t>
            </a:r>
            <a:endParaRPr lang="ru-RU" dirty="0">
              <a:latin typeface="Montserrat" panose="00000500000000000000" pitchFamily="2" charset="-52"/>
            </a:endParaRPr>
          </a:p>
        </p:txBody>
      </p:sp>
      <p:cxnSp>
        <p:nvCxnSpPr>
          <p:cNvPr id="33" name="Прямая со стрелкой 32">
            <a:extLst>
              <a:ext uri="{FF2B5EF4-FFF2-40B4-BE49-F238E27FC236}">
                <a16:creationId xmlns:a16="http://schemas.microsoft.com/office/drawing/2014/main" id="{86600877-F2B7-A97D-22D9-91718E3B32D4}"/>
              </a:ext>
            </a:extLst>
          </p:cNvPr>
          <p:cNvCxnSpPr>
            <a:cxnSpLocks/>
            <a:stCxn id="31" idx="3"/>
          </p:cNvCxnSpPr>
          <p:nvPr/>
        </p:nvCxnSpPr>
        <p:spPr>
          <a:xfrm flipV="1">
            <a:off x="1458688" y="6294154"/>
            <a:ext cx="2484000" cy="469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687C334-3897-73AA-B69D-79D54CA0964B}"/>
              </a:ext>
            </a:extLst>
          </p:cNvPr>
          <p:cNvSpPr txBox="1"/>
          <p:nvPr/>
        </p:nvSpPr>
        <p:spPr>
          <a:xfrm>
            <a:off x="3936818" y="4121508"/>
            <a:ext cx="18685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Montserrat" panose="00000500000000000000" pitchFamily="2" charset="-52"/>
              </a:rPr>
              <a:t>реализует интерфейсы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843549-04B8-AC8F-F625-DD395DDDE839}"/>
              </a:ext>
            </a:extLst>
          </p:cNvPr>
          <p:cNvSpPr txBox="1"/>
          <p:nvPr/>
        </p:nvSpPr>
        <p:spPr>
          <a:xfrm>
            <a:off x="1785408" y="5955600"/>
            <a:ext cx="2118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Montserrat" panose="00000500000000000000" pitchFamily="2" charset="-52"/>
              </a:rPr>
              <a:t>связывает в </a:t>
            </a:r>
            <a:r>
              <a:rPr lang="en" sz="1600" dirty="0">
                <a:latin typeface="Montserrat" panose="00000500000000000000" pitchFamily="2" charset="-52"/>
              </a:rPr>
              <a:t>Main</a:t>
            </a:r>
            <a:endParaRPr lang="ru-RU" sz="1600" dirty="0">
              <a:latin typeface="Montserrat" panose="00000500000000000000" pitchFamily="2" charset="-52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60C286-D90C-6356-696A-5C344602DF0F}"/>
              </a:ext>
            </a:extLst>
          </p:cNvPr>
          <p:cNvSpPr txBox="1"/>
          <p:nvPr/>
        </p:nvSpPr>
        <p:spPr>
          <a:xfrm>
            <a:off x="559572" y="1350983"/>
            <a:ext cx="9335855" cy="707886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" sz="2000" dirty="0">
                <a:latin typeface="Montserrat" panose="00000500000000000000" pitchFamily="2" charset="-52"/>
              </a:rPr>
              <a:t>Domain </a:t>
            </a:r>
            <a:r>
              <a:rPr lang="ru-RU" sz="2000" dirty="0">
                <a:latin typeface="Montserrat" panose="00000500000000000000" pitchFamily="2" charset="-52"/>
              </a:rPr>
              <a:t>и </a:t>
            </a:r>
            <a:r>
              <a:rPr lang="en" sz="2000" dirty="0">
                <a:latin typeface="Montserrat" panose="00000500000000000000" pitchFamily="2" charset="-52"/>
              </a:rPr>
              <a:t>Application </a:t>
            </a:r>
            <a:r>
              <a:rPr lang="ru-RU" sz="2000" dirty="0">
                <a:latin typeface="Montserrat" panose="00000500000000000000" pitchFamily="2" charset="-52"/>
              </a:rPr>
              <a:t>не знают про </a:t>
            </a:r>
            <a:r>
              <a:rPr lang="en" sz="2000" dirty="0">
                <a:latin typeface="Montserrat" panose="00000500000000000000" pitchFamily="2" charset="-52"/>
              </a:rPr>
              <a:t>JDBC. SQLite </a:t>
            </a:r>
            <a:r>
              <a:rPr lang="ru-RU" sz="2000" dirty="0">
                <a:latin typeface="Montserrat" panose="00000500000000000000" pitchFamily="2" charset="-52"/>
              </a:rPr>
              <a:t>можно заменить на </a:t>
            </a:r>
            <a:r>
              <a:rPr lang="en" sz="2000" dirty="0">
                <a:latin typeface="Montserrat" panose="00000500000000000000" pitchFamily="2" charset="-52"/>
              </a:rPr>
              <a:t>PostgreSQL, </a:t>
            </a:r>
            <a:r>
              <a:rPr lang="ru-RU" sz="2000" dirty="0">
                <a:latin typeface="Montserrat" panose="00000500000000000000" pitchFamily="2" charset="-52"/>
              </a:rPr>
              <a:t>не меняя сервисы.</a:t>
            </a:r>
          </a:p>
        </p:txBody>
      </p:sp>
    </p:spTree>
    <p:extLst>
      <p:ext uri="{BB962C8B-B14F-4D97-AF65-F5344CB8AC3E}">
        <p14:creationId xmlns:p14="http://schemas.microsoft.com/office/powerpoint/2010/main" val="23052236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5C8F03-098A-6D4A-3CAB-92EF126D1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Паттерны: </a:t>
            </a:r>
            <a:r>
              <a:rPr lang="en" dirty="0"/>
              <a:t>Facade</a:t>
            </a:r>
            <a:endParaRPr lang="ru-RU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7DDF27-FEA9-8BEF-D5C6-447981CD5896}"/>
              </a:ext>
            </a:extLst>
          </p:cNvPr>
          <p:cNvSpPr txBox="1"/>
          <p:nvPr/>
        </p:nvSpPr>
        <p:spPr>
          <a:xfrm>
            <a:off x="7844199" y="2574980"/>
            <a:ext cx="3788229" cy="2246769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Montserrat" panose="00000500000000000000" pitchFamily="2" charset="-52"/>
              </a:rPr>
              <a:t>Facade </a:t>
            </a:r>
            <a:r>
              <a:rPr lang="ru-RU" sz="2000" dirty="0">
                <a:latin typeface="Montserrat" panose="00000500000000000000" pitchFamily="2" charset="-52"/>
              </a:rPr>
              <a:t>упрощает использование банковской подсистемы и уменьшает связность внешнего кода с внутренними деталями проекта.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A7477D4D-9759-7EB1-6D75-C8291D09A75F}"/>
              </a:ext>
            </a:extLst>
          </p:cNvPr>
          <p:cNvSpPr/>
          <p:nvPr/>
        </p:nvSpPr>
        <p:spPr>
          <a:xfrm>
            <a:off x="559572" y="1251542"/>
            <a:ext cx="6161314" cy="4893647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9CCC6B-7CF5-F55D-C0DA-903665602B33}"/>
              </a:ext>
            </a:extLst>
          </p:cNvPr>
          <p:cNvSpPr txBox="1"/>
          <p:nvPr/>
        </p:nvSpPr>
        <p:spPr>
          <a:xfrm>
            <a:off x="976949" y="1333851"/>
            <a:ext cx="594847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err="1"/>
              <a:t>public</a:t>
            </a:r>
            <a:r>
              <a:rPr lang="ru-RU" sz="1600" dirty="0"/>
              <a:t> </a:t>
            </a:r>
            <a:r>
              <a:rPr lang="ru-RU" sz="1600" dirty="0" err="1"/>
              <a:t>TransferTransaction</a:t>
            </a:r>
            <a:r>
              <a:rPr lang="ru-RU" sz="1600" dirty="0"/>
              <a:t> </a:t>
            </a:r>
            <a:r>
              <a:rPr lang="ru-RU" sz="1600" dirty="0" err="1"/>
              <a:t>transferMoney</a:t>
            </a:r>
            <a:r>
              <a:rPr lang="ru-RU" sz="1600" dirty="0"/>
              <a:t>(</a:t>
            </a:r>
            <a:r>
              <a:rPr lang="ru-RU" sz="1600" dirty="0" err="1"/>
              <a:t>String</a:t>
            </a:r>
            <a:r>
              <a:rPr lang="ru-RU" sz="1600" dirty="0"/>
              <a:t> </a:t>
            </a:r>
            <a:r>
              <a:rPr lang="ru-RU" sz="1600" dirty="0" err="1"/>
              <a:t>from</a:t>
            </a:r>
            <a:r>
              <a:rPr lang="ru-RU" sz="1600" dirty="0"/>
              <a:t>, </a:t>
            </a:r>
            <a:r>
              <a:rPr lang="ru-RU" sz="1600" dirty="0" err="1"/>
              <a:t>String</a:t>
            </a:r>
            <a:r>
              <a:rPr lang="ru-RU" sz="1600" dirty="0"/>
              <a:t> </a:t>
            </a:r>
            <a:r>
              <a:rPr lang="ru-RU" sz="1600" dirty="0" err="1"/>
              <a:t>to</a:t>
            </a:r>
            <a:r>
              <a:rPr lang="ru-RU" sz="1600" dirty="0"/>
              <a:t>,</a:t>
            </a:r>
          </a:p>
          <a:p>
            <a:r>
              <a:rPr lang="ru-RU" sz="1600" dirty="0"/>
              <a:t>                                         </a:t>
            </a:r>
            <a:r>
              <a:rPr lang="ru-RU" sz="1600" dirty="0" err="1"/>
              <a:t>BigDecimal</a:t>
            </a:r>
            <a:r>
              <a:rPr lang="ru-RU" sz="1600" dirty="0"/>
              <a:t> </a:t>
            </a:r>
            <a:r>
              <a:rPr lang="ru-RU" sz="1600" dirty="0" err="1"/>
              <a:t>amount</a:t>
            </a:r>
            <a:r>
              <a:rPr lang="ru-RU" sz="1600" dirty="0"/>
              <a:t>, </a:t>
            </a:r>
            <a:r>
              <a:rPr lang="ru-RU" sz="1600" dirty="0" err="1"/>
              <a:t>String</a:t>
            </a:r>
            <a:r>
              <a:rPr lang="ru-RU" sz="1600" dirty="0"/>
              <a:t> </a:t>
            </a:r>
            <a:r>
              <a:rPr lang="ru-RU" sz="1600" dirty="0" err="1"/>
              <a:t>description</a:t>
            </a:r>
            <a:r>
              <a:rPr lang="ru-RU" sz="1600" dirty="0"/>
              <a:t>) {</a:t>
            </a:r>
          </a:p>
          <a:p>
            <a:r>
              <a:rPr lang="ru-RU" sz="1600" dirty="0"/>
              <a:t>    </a:t>
            </a:r>
            <a:r>
              <a:rPr lang="ru-RU" sz="1600" dirty="0" err="1"/>
              <a:t>TransferTransaction</a:t>
            </a:r>
            <a:r>
              <a:rPr lang="ru-RU" sz="1600" dirty="0"/>
              <a:t>[] </a:t>
            </a:r>
            <a:r>
              <a:rPr lang="ru-RU" sz="1600" dirty="0" err="1"/>
              <a:t>completed</a:t>
            </a:r>
            <a:r>
              <a:rPr lang="ru-RU" sz="1600" dirty="0"/>
              <a:t> = </a:t>
            </a:r>
            <a:r>
              <a:rPr lang="ru-RU" sz="1600" dirty="0" err="1"/>
              <a:t>new</a:t>
            </a:r>
            <a:r>
              <a:rPr lang="ru-RU" sz="1600" dirty="0"/>
              <a:t> </a:t>
            </a:r>
            <a:r>
              <a:rPr lang="ru-RU" sz="1600" dirty="0" err="1"/>
              <a:t>TransferTransaction</a:t>
            </a:r>
            <a:r>
              <a:rPr lang="ru-RU" sz="1600" dirty="0"/>
              <a:t>[1];</a:t>
            </a:r>
          </a:p>
          <a:p>
            <a:r>
              <a:rPr lang="ru-RU" sz="1600" dirty="0"/>
              <a:t>    </a:t>
            </a:r>
            <a:r>
              <a:rPr lang="ru-RU" sz="1600" dirty="0" err="1"/>
              <a:t>transactionBroker.inTransaction</a:t>
            </a:r>
            <a:r>
              <a:rPr lang="ru-RU" sz="1600" dirty="0"/>
              <a:t>(() -&gt; {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Account</a:t>
            </a:r>
            <a:r>
              <a:rPr lang="ru-RU" sz="1600" dirty="0"/>
              <a:t> </a:t>
            </a:r>
            <a:r>
              <a:rPr lang="ru-RU" sz="1600" dirty="0" err="1"/>
              <a:t>fromAccount</a:t>
            </a:r>
            <a:r>
              <a:rPr lang="ru-RU" sz="1600" dirty="0"/>
              <a:t> = </a:t>
            </a:r>
            <a:r>
              <a:rPr lang="ru-RU" sz="1600" dirty="0" err="1"/>
              <a:t>findRequiredAccount</a:t>
            </a:r>
            <a:r>
              <a:rPr lang="ru-RU" sz="1600" dirty="0"/>
              <a:t>(</a:t>
            </a:r>
            <a:r>
              <a:rPr lang="ru-RU" sz="1600" dirty="0" err="1"/>
              <a:t>from</a:t>
            </a:r>
            <a:r>
              <a:rPr lang="ru-RU" sz="1600" dirty="0"/>
              <a:t>);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Account</a:t>
            </a:r>
            <a:r>
              <a:rPr lang="ru-RU" sz="1600" dirty="0"/>
              <a:t> </a:t>
            </a:r>
            <a:r>
              <a:rPr lang="ru-RU" sz="1600" dirty="0" err="1"/>
              <a:t>toAccount</a:t>
            </a:r>
            <a:r>
              <a:rPr lang="ru-RU" sz="1600" dirty="0"/>
              <a:t>   = </a:t>
            </a:r>
            <a:r>
              <a:rPr lang="ru-RU" sz="1600" dirty="0" err="1"/>
              <a:t>findRequiredAccount</a:t>
            </a:r>
            <a:r>
              <a:rPr lang="ru-RU" sz="1600" dirty="0"/>
              <a:t>(</a:t>
            </a:r>
            <a:r>
              <a:rPr lang="ru-RU" sz="1600" dirty="0" err="1"/>
              <a:t>to</a:t>
            </a:r>
            <a:r>
              <a:rPr lang="ru-RU" sz="1600" dirty="0"/>
              <a:t>);</a:t>
            </a:r>
          </a:p>
          <a:p>
            <a:endParaRPr lang="ru-RU" sz="1600" dirty="0"/>
          </a:p>
          <a:p>
            <a:r>
              <a:rPr lang="ru-RU" sz="1600" dirty="0"/>
              <a:t>        </a:t>
            </a:r>
            <a:r>
              <a:rPr lang="ru-RU" sz="1600" dirty="0" err="1"/>
              <a:t>TransferTransaction</a:t>
            </a:r>
            <a:r>
              <a:rPr lang="ru-RU" sz="1600" dirty="0"/>
              <a:t> </a:t>
            </a:r>
            <a:r>
              <a:rPr lang="ru-RU" sz="1600" dirty="0" err="1"/>
              <a:t>tx</a:t>
            </a:r>
            <a:r>
              <a:rPr lang="ru-RU" sz="1600" dirty="0"/>
              <a:t> = </a:t>
            </a:r>
            <a:r>
              <a:rPr lang="ru-RU" sz="1600" dirty="0" err="1"/>
              <a:t>new</a:t>
            </a:r>
            <a:r>
              <a:rPr lang="ru-RU" sz="1600" dirty="0"/>
              <a:t> </a:t>
            </a:r>
            <a:r>
              <a:rPr lang="ru-RU" sz="1600" dirty="0" err="1"/>
              <a:t>TransferTransaction</a:t>
            </a:r>
            <a:r>
              <a:rPr lang="ru-RU" sz="1600" dirty="0"/>
              <a:t>(</a:t>
            </a:r>
          </a:p>
          <a:p>
            <a:r>
              <a:rPr lang="ru-RU" sz="1600" dirty="0"/>
              <a:t>                </a:t>
            </a:r>
            <a:r>
              <a:rPr lang="ru-RU" sz="1600" dirty="0" err="1"/>
              <a:t>UUID.randomUUID</a:t>
            </a:r>
            <a:r>
              <a:rPr lang="ru-RU" sz="1600" dirty="0"/>
              <a:t>().</a:t>
            </a:r>
            <a:r>
              <a:rPr lang="ru-RU" sz="1600" dirty="0" err="1"/>
              <a:t>toString</a:t>
            </a:r>
            <a:r>
              <a:rPr lang="ru-RU" sz="1600" dirty="0"/>
              <a:t>(), </a:t>
            </a:r>
            <a:r>
              <a:rPr lang="ru-RU" sz="1600" dirty="0" err="1"/>
              <a:t>amount</a:t>
            </a:r>
            <a:r>
              <a:rPr lang="ru-RU" sz="1600" dirty="0"/>
              <a:t>, </a:t>
            </a:r>
            <a:r>
              <a:rPr lang="ru-RU" sz="1600" dirty="0" err="1"/>
              <a:t>Instant.now</a:t>
            </a:r>
            <a:r>
              <a:rPr lang="ru-RU" sz="1600" dirty="0"/>
              <a:t>(),</a:t>
            </a:r>
          </a:p>
          <a:p>
            <a:r>
              <a:rPr lang="ru-RU" sz="1600" dirty="0"/>
              <a:t>                </a:t>
            </a:r>
            <a:r>
              <a:rPr lang="ru-RU" sz="1600" dirty="0" err="1"/>
              <a:t>description</a:t>
            </a:r>
            <a:r>
              <a:rPr lang="ru-RU" sz="1600" dirty="0"/>
              <a:t>, </a:t>
            </a:r>
            <a:r>
              <a:rPr lang="ru-RU" sz="1600" dirty="0" err="1"/>
              <a:t>fromAccount</a:t>
            </a:r>
            <a:r>
              <a:rPr lang="ru-RU" sz="1600" dirty="0"/>
              <a:t>, </a:t>
            </a:r>
            <a:r>
              <a:rPr lang="ru-RU" sz="1600" dirty="0" err="1"/>
              <a:t>toAccount</a:t>
            </a:r>
            <a:r>
              <a:rPr lang="ru-RU" sz="1600" dirty="0"/>
              <a:t>);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tx.execute</a:t>
            </a:r>
            <a:r>
              <a:rPr lang="ru-RU" sz="1600" dirty="0"/>
              <a:t>();</a:t>
            </a:r>
          </a:p>
          <a:p>
            <a:endParaRPr lang="ru-RU" sz="1600" dirty="0"/>
          </a:p>
          <a:p>
            <a:r>
              <a:rPr lang="ru-RU" sz="1600" dirty="0"/>
              <a:t>        </a:t>
            </a:r>
            <a:r>
              <a:rPr lang="ru-RU" sz="1600" dirty="0" err="1"/>
              <a:t>transactionRepository.save</a:t>
            </a:r>
            <a:r>
              <a:rPr lang="ru-RU" sz="1600" dirty="0"/>
              <a:t>(</a:t>
            </a:r>
            <a:r>
              <a:rPr lang="ru-RU" sz="1600" dirty="0" err="1"/>
              <a:t>tx</a:t>
            </a:r>
            <a:r>
              <a:rPr lang="ru-RU" sz="1600" dirty="0"/>
              <a:t>);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accountRepository.save</a:t>
            </a:r>
            <a:r>
              <a:rPr lang="ru-RU" sz="1600" dirty="0"/>
              <a:t>(</a:t>
            </a:r>
            <a:r>
              <a:rPr lang="ru-RU" sz="1600" dirty="0" err="1"/>
              <a:t>fromAccount</a:t>
            </a:r>
            <a:r>
              <a:rPr lang="ru-RU" sz="1600" dirty="0"/>
              <a:t>);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accountRepository.save</a:t>
            </a:r>
            <a:r>
              <a:rPr lang="ru-RU" sz="1600" dirty="0"/>
              <a:t>(</a:t>
            </a:r>
            <a:r>
              <a:rPr lang="ru-RU" sz="1600" dirty="0" err="1"/>
              <a:t>toAccount</a:t>
            </a:r>
            <a:r>
              <a:rPr lang="ru-RU" sz="1600" dirty="0"/>
              <a:t>);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completed</a:t>
            </a:r>
            <a:r>
              <a:rPr lang="ru-RU" sz="1600" dirty="0"/>
              <a:t>[0] = </a:t>
            </a:r>
            <a:r>
              <a:rPr lang="ru-RU" sz="1600" dirty="0" err="1"/>
              <a:t>tx</a:t>
            </a:r>
            <a:r>
              <a:rPr lang="ru-RU" sz="1600" dirty="0"/>
              <a:t>;</a:t>
            </a:r>
          </a:p>
          <a:p>
            <a:r>
              <a:rPr lang="ru-RU" sz="1600" dirty="0"/>
              <a:t>    });</a:t>
            </a:r>
          </a:p>
          <a:p>
            <a:r>
              <a:rPr lang="ru-RU" sz="1600" dirty="0"/>
              <a:t>    </a:t>
            </a:r>
            <a:r>
              <a:rPr lang="ru-RU" sz="1600" dirty="0" err="1"/>
              <a:t>return</a:t>
            </a:r>
            <a:r>
              <a:rPr lang="ru-RU" sz="1600" dirty="0"/>
              <a:t> </a:t>
            </a:r>
            <a:r>
              <a:rPr lang="ru-RU" sz="1600" dirty="0" err="1"/>
              <a:t>completed</a:t>
            </a:r>
            <a:r>
              <a:rPr lang="ru-RU" sz="1600" dirty="0"/>
              <a:t>[0];</a:t>
            </a:r>
          </a:p>
          <a:p>
            <a:r>
              <a:rPr lang="ru-RU" sz="16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86573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8337BC-E5D7-BE70-0B67-571A7BECA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Паттерны: </a:t>
            </a:r>
            <a:r>
              <a:rPr lang="en" dirty="0"/>
              <a:t>Factory Method</a:t>
            </a:r>
            <a:endParaRPr lang="ru-RU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056B4350-8608-77BD-829D-2DB20FB5FAD0}"/>
              </a:ext>
            </a:extLst>
          </p:cNvPr>
          <p:cNvSpPr/>
          <p:nvPr/>
        </p:nvSpPr>
        <p:spPr>
          <a:xfrm>
            <a:off x="559572" y="1251543"/>
            <a:ext cx="7510072" cy="4801314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ECC8A6-C9DF-CCF3-0A7E-BE4178CB406D}"/>
              </a:ext>
            </a:extLst>
          </p:cNvPr>
          <p:cNvSpPr txBox="1"/>
          <p:nvPr/>
        </p:nvSpPr>
        <p:spPr>
          <a:xfrm>
            <a:off x="914399" y="1482141"/>
            <a:ext cx="7270232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err="1"/>
              <a:t>public</a:t>
            </a:r>
            <a:r>
              <a:rPr lang="ru-RU" sz="1600" dirty="0"/>
              <a:t> </a:t>
            </a:r>
            <a:r>
              <a:rPr lang="ru-RU" sz="1600" dirty="0" err="1"/>
              <a:t>static</a:t>
            </a:r>
            <a:r>
              <a:rPr lang="ru-RU" sz="1600" dirty="0"/>
              <a:t> </a:t>
            </a:r>
            <a:r>
              <a:rPr lang="ru-RU" sz="1600" dirty="0" err="1"/>
              <a:t>Account</a:t>
            </a:r>
            <a:r>
              <a:rPr lang="ru-RU" sz="1600" dirty="0"/>
              <a:t> </a:t>
            </a:r>
            <a:r>
              <a:rPr lang="ru-RU" sz="1600" dirty="0" err="1"/>
              <a:t>createAccount</a:t>
            </a:r>
            <a:r>
              <a:rPr lang="ru-RU" sz="1600" dirty="0"/>
              <a:t>(</a:t>
            </a:r>
            <a:r>
              <a:rPr lang="ru-RU" sz="1600" dirty="0" err="1"/>
              <a:t>String</a:t>
            </a:r>
            <a:r>
              <a:rPr lang="ru-RU" sz="1600" dirty="0"/>
              <a:t> </a:t>
            </a:r>
            <a:r>
              <a:rPr lang="ru-RU" sz="1600" dirty="0" err="1"/>
              <a:t>accountKind</a:t>
            </a:r>
            <a:r>
              <a:rPr lang="ru-RU" sz="1600" dirty="0"/>
              <a:t>, </a:t>
            </a:r>
            <a:r>
              <a:rPr lang="ru-RU" sz="1600" dirty="0" err="1"/>
              <a:t>AccountSpec</a:t>
            </a:r>
            <a:r>
              <a:rPr lang="ru-RU" sz="1600" dirty="0"/>
              <a:t> </a:t>
            </a:r>
            <a:r>
              <a:rPr lang="ru-RU" sz="1600" dirty="0" err="1"/>
              <a:t>spec</a:t>
            </a:r>
            <a:r>
              <a:rPr lang="ru-RU" sz="1600" dirty="0"/>
              <a:t>) {</a:t>
            </a:r>
          </a:p>
          <a:p>
            <a:r>
              <a:rPr lang="ru-RU" sz="1600" dirty="0"/>
              <a:t>    </a:t>
            </a:r>
            <a:r>
              <a:rPr lang="ru-RU" sz="1600" dirty="0" err="1"/>
              <a:t>String</a:t>
            </a:r>
            <a:r>
              <a:rPr lang="ru-RU" sz="1600" dirty="0"/>
              <a:t> </a:t>
            </a:r>
            <a:r>
              <a:rPr lang="ru-RU" sz="1600" dirty="0" err="1"/>
              <a:t>kind</a:t>
            </a:r>
            <a:r>
              <a:rPr lang="ru-RU" sz="1600" dirty="0"/>
              <a:t> = </a:t>
            </a:r>
            <a:r>
              <a:rPr lang="ru-RU" sz="1600" dirty="0" err="1"/>
              <a:t>accountKind.trim</a:t>
            </a:r>
            <a:r>
              <a:rPr lang="ru-RU" sz="1600" dirty="0"/>
              <a:t>().</a:t>
            </a:r>
            <a:r>
              <a:rPr lang="ru-RU" sz="1600" dirty="0" err="1"/>
              <a:t>toUpperCase</a:t>
            </a:r>
            <a:r>
              <a:rPr lang="ru-RU" sz="1600" dirty="0"/>
              <a:t>(</a:t>
            </a:r>
            <a:r>
              <a:rPr lang="ru-RU" sz="1600" dirty="0" err="1"/>
              <a:t>Locale.ROOT</a:t>
            </a:r>
            <a:r>
              <a:rPr lang="ru-RU" sz="1600" dirty="0"/>
              <a:t>);</a:t>
            </a:r>
          </a:p>
          <a:p>
            <a:r>
              <a:rPr lang="ru-RU" sz="1600" dirty="0"/>
              <a:t>    </a:t>
            </a:r>
            <a:r>
              <a:rPr lang="ru-RU" sz="1600" dirty="0" err="1"/>
              <a:t>return</a:t>
            </a:r>
            <a:r>
              <a:rPr lang="ru-RU" sz="1600" dirty="0"/>
              <a:t> </a:t>
            </a:r>
            <a:r>
              <a:rPr lang="ru-RU" sz="1600" dirty="0" err="1"/>
              <a:t>switch</a:t>
            </a:r>
            <a:r>
              <a:rPr lang="ru-RU" sz="1600" dirty="0"/>
              <a:t> (</a:t>
            </a:r>
            <a:r>
              <a:rPr lang="ru-RU" sz="1600" dirty="0" err="1"/>
              <a:t>kind</a:t>
            </a:r>
            <a:r>
              <a:rPr lang="ru-RU" sz="1600" dirty="0"/>
              <a:t>) {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case</a:t>
            </a:r>
            <a:r>
              <a:rPr lang="ru-RU" sz="1600" dirty="0"/>
              <a:t> "DEBIT"   -&gt; </a:t>
            </a:r>
            <a:r>
              <a:rPr lang="ru-RU" sz="1600" dirty="0" err="1"/>
              <a:t>new</a:t>
            </a:r>
            <a:r>
              <a:rPr lang="ru-RU" sz="1600" dirty="0"/>
              <a:t> </a:t>
            </a:r>
            <a:r>
              <a:rPr lang="ru-RU" sz="1600" dirty="0" err="1"/>
              <a:t>DebitAccount</a:t>
            </a:r>
            <a:r>
              <a:rPr lang="ru-RU" sz="1600" dirty="0"/>
              <a:t>(</a:t>
            </a:r>
            <a:r>
              <a:rPr lang="ru-RU" sz="1600" dirty="0" err="1"/>
              <a:t>spec.accountId</a:t>
            </a:r>
            <a:r>
              <a:rPr lang="ru-RU" sz="1600" dirty="0"/>
              <a:t>(), </a:t>
            </a:r>
            <a:r>
              <a:rPr lang="ru-RU" sz="1600" dirty="0" err="1"/>
              <a:t>spec.number</a:t>
            </a:r>
            <a:r>
              <a:rPr lang="ru-RU" sz="1600" dirty="0"/>
              <a:t>(),</a:t>
            </a:r>
          </a:p>
          <a:p>
            <a:r>
              <a:rPr lang="ru-RU" sz="1600" dirty="0"/>
              <a:t>                                            </a:t>
            </a:r>
            <a:r>
              <a:rPr lang="ru-RU" sz="1600" dirty="0" err="1"/>
              <a:t>spec.balance</a:t>
            </a:r>
            <a:r>
              <a:rPr lang="ru-RU" sz="1600" dirty="0"/>
              <a:t>(), </a:t>
            </a:r>
            <a:r>
              <a:rPr lang="ru-RU" sz="1600" dirty="0" err="1"/>
              <a:t>spec.currency</a:t>
            </a:r>
            <a:r>
              <a:rPr lang="ru-RU" sz="1600" dirty="0"/>
              <a:t>(),</a:t>
            </a:r>
          </a:p>
          <a:p>
            <a:r>
              <a:rPr lang="ru-RU" sz="1600" dirty="0"/>
              <a:t>                                            </a:t>
            </a:r>
            <a:r>
              <a:rPr lang="ru-RU" sz="1600" dirty="0" err="1"/>
              <a:t>spec.status</a:t>
            </a:r>
            <a:r>
              <a:rPr lang="ru-RU" sz="1600" dirty="0"/>
              <a:t>(), </a:t>
            </a:r>
            <a:r>
              <a:rPr lang="ru-RU" sz="1600" dirty="0" err="1"/>
              <a:t>spec.owner</a:t>
            </a:r>
            <a:r>
              <a:rPr lang="ru-RU" sz="1600" dirty="0"/>
              <a:t>());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case</a:t>
            </a:r>
            <a:r>
              <a:rPr lang="ru-RU" sz="1600" dirty="0"/>
              <a:t> "SAVINGS" -&gt; </a:t>
            </a:r>
            <a:r>
              <a:rPr lang="ru-RU" sz="1600" dirty="0" err="1"/>
              <a:t>new</a:t>
            </a:r>
            <a:r>
              <a:rPr lang="ru-RU" sz="1600" dirty="0"/>
              <a:t> </a:t>
            </a:r>
            <a:r>
              <a:rPr lang="ru-RU" sz="1600" dirty="0" err="1"/>
              <a:t>SavingsAccount</a:t>
            </a:r>
            <a:r>
              <a:rPr lang="ru-RU" sz="1600" dirty="0"/>
              <a:t>(</a:t>
            </a:r>
            <a:r>
              <a:rPr lang="ru-RU" sz="1600" dirty="0" err="1"/>
              <a:t>spec.accountId</a:t>
            </a:r>
            <a:r>
              <a:rPr lang="ru-RU" sz="1600" dirty="0"/>
              <a:t>(), </a:t>
            </a:r>
            <a:r>
              <a:rPr lang="ru-RU" sz="1600" dirty="0" err="1"/>
              <a:t>spec.number</a:t>
            </a:r>
            <a:r>
              <a:rPr lang="ru-RU" sz="1600" dirty="0"/>
              <a:t>(),</a:t>
            </a:r>
          </a:p>
          <a:p>
            <a:r>
              <a:rPr lang="ru-RU" sz="1600" dirty="0"/>
              <a:t>                                              </a:t>
            </a:r>
            <a:r>
              <a:rPr lang="ru-RU" sz="1600" dirty="0" err="1"/>
              <a:t>spec.balance</a:t>
            </a:r>
            <a:r>
              <a:rPr lang="ru-RU" sz="1600" dirty="0"/>
              <a:t>(), </a:t>
            </a:r>
            <a:r>
              <a:rPr lang="ru-RU" sz="1600" dirty="0" err="1"/>
              <a:t>spec.currency</a:t>
            </a:r>
            <a:r>
              <a:rPr lang="ru-RU" sz="1600" dirty="0"/>
              <a:t>(),</a:t>
            </a:r>
          </a:p>
          <a:p>
            <a:r>
              <a:rPr lang="ru-RU" sz="1600" dirty="0"/>
              <a:t>                                              </a:t>
            </a:r>
            <a:r>
              <a:rPr lang="ru-RU" sz="1600" dirty="0" err="1"/>
              <a:t>spec.status</a:t>
            </a:r>
            <a:r>
              <a:rPr lang="ru-RU" sz="1600" dirty="0"/>
              <a:t>(), </a:t>
            </a:r>
            <a:r>
              <a:rPr lang="ru-RU" sz="1600" dirty="0" err="1"/>
              <a:t>spec.owner</a:t>
            </a:r>
            <a:r>
              <a:rPr lang="ru-RU" sz="1600" dirty="0"/>
              <a:t>(),</a:t>
            </a:r>
          </a:p>
          <a:p>
            <a:r>
              <a:rPr lang="ru-RU" sz="1600" dirty="0"/>
              <a:t>                                              </a:t>
            </a:r>
            <a:r>
              <a:rPr lang="ru-RU" sz="1600" dirty="0" err="1"/>
              <a:t>spec.interestRate</a:t>
            </a:r>
            <a:r>
              <a:rPr lang="ru-RU" sz="1600" dirty="0"/>
              <a:t>(),</a:t>
            </a:r>
          </a:p>
          <a:p>
            <a:r>
              <a:rPr lang="ru-RU" sz="1600" dirty="0"/>
              <a:t>                                              </a:t>
            </a:r>
            <a:r>
              <a:rPr lang="ru-RU" sz="1600" dirty="0" err="1"/>
              <a:t>spec.lastInterestAccrualAt</a:t>
            </a:r>
            <a:r>
              <a:rPr lang="ru-RU" sz="1600" dirty="0"/>
              <a:t>());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case</a:t>
            </a:r>
            <a:r>
              <a:rPr lang="ru-RU" sz="1600" dirty="0"/>
              <a:t> "CREDIT"  -&gt; </a:t>
            </a:r>
            <a:r>
              <a:rPr lang="ru-RU" sz="1600" dirty="0" err="1"/>
              <a:t>new</a:t>
            </a:r>
            <a:r>
              <a:rPr lang="ru-RU" sz="1600" dirty="0"/>
              <a:t> </a:t>
            </a:r>
            <a:r>
              <a:rPr lang="ru-RU" sz="1600" dirty="0" err="1"/>
              <a:t>CreditAccount</a:t>
            </a:r>
            <a:r>
              <a:rPr lang="ru-RU" sz="1600" dirty="0"/>
              <a:t>(</a:t>
            </a:r>
            <a:r>
              <a:rPr lang="ru-RU" sz="1600" dirty="0" err="1"/>
              <a:t>spec.accountId</a:t>
            </a:r>
            <a:r>
              <a:rPr lang="ru-RU" sz="1600" dirty="0"/>
              <a:t>(), </a:t>
            </a:r>
            <a:r>
              <a:rPr lang="ru-RU" sz="1600" dirty="0" err="1"/>
              <a:t>spec.number</a:t>
            </a:r>
            <a:r>
              <a:rPr lang="ru-RU" sz="1600" dirty="0"/>
              <a:t>(),</a:t>
            </a:r>
          </a:p>
          <a:p>
            <a:r>
              <a:rPr lang="ru-RU" sz="1600" dirty="0"/>
              <a:t>                                             </a:t>
            </a:r>
            <a:r>
              <a:rPr lang="ru-RU" sz="1600" dirty="0" err="1"/>
              <a:t>spec.balance</a:t>
            </a:r>
            <a:r>
              <a:rPr lang="ru-RU" sz="1600" dirty="0"/>
              <a:t>(), </a:t>
            </a:r>
            <a:r>
              <a:rPr lang="ru-RU" sz="1600" dirty="0" err="1"/>
              <a:t>spec.currency</a:t>
            </a:r>
            <a:r>
              <a:rPr lang="ru-RU" sz="1600" dirty="0"/>
              <a:t>(),</a:t>
            </a:r>
          </a:p>
          <a:p>
            <a:r>
              <a:rPr lang="ru-RU" sz="1600" dirty="0"/>
              <a:t>                                             </a:t>
            </a:r>
            <a:r>
              <a:rPr lang="ru-RU" sz="1600" dirty="0" err="1"/>
              <a:t>spec.status</a:t>
            </a:r>
            <a:r>
              <a:rPr lang="ru-RU" sz="1600" dirty="0"/>
              <a:t>(), </a:t>
            </a:r>
            <a:r>
              <a:rPr lang="ru-RU" sz="1600" dirty="0" err="1"/>
              <a:t>spec.owner</a:t>
            </a:r>
            <a:r>
              <a:rPr lang="ru-RU" sz="1600" dirty="0"/>
              <a:t>(),</a:t>
            </a:r>
          </a:p>
          <a:p>
            <a:r>
              <a:rPr lang="ru-RU" sz="1600" dirty="0"/>
              <a:t>                                             </a:t>
            </a:r>
            <a:r>
              <a:rPr lang="ru-RU" sz="1600" dirty="0" err="1"/>
              <a:t>spec.creditLimit</a:t>
            </a:r>
            <a:r>
              <a:rPr lang="ru-RU" sz="1600" dirty="0"/>
              <a:t>(), </a:t>
            </a:r>
            <a:r>
              <a:rPr lang="ru-RU" sz="1600" dirty="0" err="1"/>
              <a:t>spec.currentDebt</a:t>
            </a:r>
            <a:r>
              <a:rPr lang="ru-RU" sz="1600" dirty="0"/>
              <a:t>());</a:t>
            </a:r>
          </a:p>
          <a:p>
            <a:r>
              <a:rPr lang="ru-RU" sz="1600" dirty="0"/>
              <a:t>        </a:t>
            </a:r>
            <a:r>
              <a:rPr lang="ru-RU" sz="1600" dirty="0" err="1"/>
              <a:t>default</a:t>
            </a:r>
            <a:r>
              <a:rPr lang="ru-RU" sz="1600" dirty="0"/>
              <a:t> -&gt; </a:t>
            </a:r>
            <a:r>
              <a:rPr lang="ru-RU" sz="1600" dirty="0" err="1"/>
              <a:t>throw</a:t>
            </a:r>
            <a:r>
              <a:rPr lang="ru-RU" sz="1600" dirty="0"/>
              <a:t> </a:t>
            </a:r>
            <a:r>
              <a:rPr lang="ru-RU" sz="1600" dirty="0" err="1"/>
              <a:t>new</a:t>
            </a:r>
            <a:r>
              <a:rPr lang="ru-RU" sz="1600" dirty="0"/>
              <a:t> </a:t>
            </a:r>
            <a:r>
              <a:rPr lang="ru-RU" sz="1600" dirty="0" err="1"/>
              <a:t>IllegalArgumentException</a:t>
            </a:r>
            <a:r>
              <a:rPr lang="ru-RU" sz="1600" dirty="0"/>
              <a:t>("</a:t>
            </a:r>
            <a:r>
              <a:rPr lang="ru-RU" sz="1600" dirty="0" err="1"/>
              <a:t>Unsupported</a:t>
            </a:r>
            <a:r>
              <a:rPr lang="ru-RU" sz="1600" dirty="0"/>
              <a:t>: " + </a:t>
            </a:r>
            <a:r>
              <a:rPr lang="ru-RU" sz="1600" dirty="0" err="1"/>
              <a:t>accountKind</a:t>
            </a:r>
            <a:r>
              <a:rPr lang="ru-RU" sz="1600" dirty="0"/>
              <a:t>);</a:t>
            </a:r>
          </a:p>
          <a:p>
            <a:r>
              <a:rPr lang="ru-RU" sz="1600" dirty="0"/>
              <a:t>    };</a:t>
            </a:r>
          </a:p>
          <a:p>
            <a:r>
              <a:rPr lang="ru-RU" sz="1600" dirty="0"/>
              <a:t>}</a:t>
            </a:r>
          </a:p>
          <a:p>
            <a:endParaRPr lang="ru-RU" sz="24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EE89C6-983A-64DF-95A7-609621A64B88}"/>
              </a:ext>
            </a:extLst>
          </p:cNvPr>
          <p:cNvSpPr txBox="1"/>
          <p:nvPr/>
        </p:nvSpPr>
        <p:spPr>
          <a:xfrm>
            <a:off x="8184631" y="1251542"/>
            <a:ext cx="3788229" cy="4801314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b="1" dirty="0"/>
              <a:t>Зачем нужен:</a:t>
            </a:r>
            <a:r>
              <a:rPr lang="ru-RU" dirty="0"/>
              <a:t> В системе три типа счетов с разными конструкторами. Без фабрики </a:t>
            </a:r>
            <a:r>
              <a:rPr lang="ru-RU" dirty="0" err="1"/>
              <a:t>if</a:t>
            </a:r>
            <a:r>
              <a:rPr lang="ru-RU" dirty="0"/>
              <a:t>/</a:t>
            </a:r>
            <a:r>
              <a:rPr lang="ru-RU" dirty="0" err="1"/>
              <a:t>switch</a:t>
            </a:r>
            <a:r>
              <a:rPr lang="ru-RU" dirty="0"/>
              <a:t> по типу счёта дублировался бы и в </a:t>
            </a:r>
            <a:r>
              <a:rPr lang="ru-RU" dirty="0" err="1"/>
              <a:t>SqlAccountRepository</a:t>
            </a:r>
            <a:r>
              <a:rPr lang="ru-RU" dirty="0"/>
              <a:t>, и в </a:t>
            </a:r>
            <a:r>
              <a:rPr lang="ru-RU" dirty="0" err="1"/>
              <a:t>CustomerPortalService</a:t>
            </a:r>
            <a:r>
              <a:rPr lang="ru-RU" dirty="0"/>
              <a:t>, и в любом месте, которое создаёт счёт.</a:t>
            </a:r>
          </a:p>
          <a:p>
            <a:endParaRPr lang="ru-RU" dirty="0"/>
          </a:p>
          <a:p>
            <a:r>
              <a:rPr lang="ru-RU" b="1" dirty="0"/>
              <a:t>Что упростил: </a:t>
            </a:r>
            <a:r>
              <a:rPr lang="ru-RU" dirty="0"/>
              <a:t>логика создания собрана в одном </a:t>
            </a:r>
            <a:r>
              <a:rPr lang="ru-RU" dirty="0" err="1"/>
              <a:t>switch</a:t>
            </a:r>
            <a:r>
              <a:rPr lang="ru-RU" dirty="0"/>
              <a:t> — нет дублирования; репозиторий и сервис не знают про конкретные классы счетов, только про </a:t>
            </a:r>
            <a:r>
              <a:rPr lang="ru-RU" dirty="0" err="1"/>
              <a:t>Account</a:t>
            </a:r>
            <a:r>
              <a:rPr lang="ru-RU" dirty="0"/>
              <a:t>;</a:t>
            </a:r>
          </a:p>
          <a:p>
            <a:r>
              <a:rPr lang="ru-RU" dirty="0"/>
              <a:t>новый тип счёта (например, </a:t>
            </a:r>
            <a:r>
              <a:rPr lang="ru-RU" dirty="0" err="1"/>
              <a:t>BusinessAccount</a:t>
            </a:r>
            <a:r>
              <a:rPr lang="ru-RU" dirty="0"/>
              <a:t>) = один наследник + одна ветка в фабрике, остальной код не меняется.</a:t>
            </a:r>
          </a:p>
        </p:txBody>
      </p:sp>
    </p:spTree>
    <p:extLst>
      <p:ext uri="{BB962C8B-B14F-4D97-AF65-F5344CB8AC3E}">
        <p14:creationId xmlns:p14="http://schemas.microsoft.com/office/powerpoint/2010/main" val="13751565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EFCC35-8B63-0872-94B2-DA5D3AB81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374091"/>
            <a:ext cx="9199890" cy="523220"/>
          </a:xfrm>
        </p:spPr>
        <p:txBody>
          <a:bodyPr/>
          <a:lstStyle/>
          <a:p>
            <a:r>
              <a:rPr lang="ru-RU" dirty="0"/>
              <a:t>Паттерны: </a:t>
            </a:r>
            <a:r>
              <a:rPr lang="en-US" dirty="0"/>
              <a:t>Command</a:t>
            </a:r>
            <a:endParaRPr lang="ru-RU" dirty="0"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6600E864-8124-60D0-CEE5-38B42D083AEE}"/>
              </a:ext>
            </a:extLst>
          </p:cNvPr>
          <p:cNvSpPr/>
          <p:nvPr/>
        </p:nvSpPr>
        <p:spPr>
          <a:xfrm>
            <a:off x="379690" y="1143587"/>
            <a:ext cx="6350894" cy="5632310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561910-8BF1-720A-F322-853B8A477FDC}"/>
              </a:ext>
            </a:extLst>
          </p:cNvPr>
          <p:cNvSpPr txBox="1"/>
          <p:nvPr/>
        </p:nvSpPr>
        <p:spPr>
          <a:xfrm>
            <a:off x="899409" y="1420585"/>
            <a:ext cx="583117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/>
              <a:t>public</a:t>
            </a:r>
            <a:r>
              <a:rPr lang="ru-RU" sz="1400" dirty="0"/>
              <a:t> </a:t>
            </a:r>
            <a:r>
              <a:rPr lang="ru-RU" sz="1400" dirty="0" err="1"/>
              <a:t>interface</a:t>
            </a:r>
            <a:r>
              <a:rPr lang="ru-RU" sz="1400" dirty="0"/>
              <a:t> Command {</a:t>
            </a:r>
          </a:p>
          <a:p>
            <a:r>
              <a:rPr lang="ru-RU" sz="1400" dirty="0"/>
              <a:t>    </a:t>
            </a:r>
            <a:r>
              <a:rPr lang="ru-RU" sz="1400" dirty="0" err="1"/>
              <a:t>void</a:t>
            </a:r>
            <a:r>
              <a:rPr lang="ru-RU" sz="1400" dirty="0"/>
              <a:t> </a:t>
            </a:r>
            <a:r>
              <a:rPr lang="ru-RU" sz="1400" dirty="0" err="1"/>
              <a:t>execute</a:t>
            </a:r>
            <a:r>
              <a:rPr lang="ru-RU" sz="1400" dirty="0"/>
              <a:t>();</a:t>
            </a:r>
          </a:p>
          <a:p>
            <a:r>
              <a:rPr lang="ru-RU" sz="1400" dirty="0"/>
              <a:t>    </a:t>
            </a:r>
            <a:r>
              <a:rPr lang="ru-RU" sz="1400" dirty="0" err="1"/>
              <a:t>void</a:t>
            </a:r>
            <a:r>
              <a:rPr lang="ru-RU" sz="1400" dirty="0"/>
              <a:t> </a:t>
            </a:r>
            <a:r>
              <a:rPr lang="ru-RU" sz="1400" dirty="0" err="1"/>
              <a:t>rollback</a:t>
            </a:r>
            <a:r>
              <a:rPr lang="ru-RU" sz="1400" dirty="0"/>
              <a:t>();</a:t>
            </a:r>
          </a:p>
          <a:p>
            <a:r>
              <a:rPr lang="ru-RU" sz="1400" dirty="0"/>
              <a:t>}</a:t>
            </a:r>
          </a:p>
          <a:p>
            <a:r>
              <a:rPr lang="ru-RU" sz="1400" dirty="0" err="1"/>
              <a:t>public</a:t>
            </a:r>
            <a:r>
              <a:rPr lang="ru-RU" sz="1400" dirty="0"/>
              <a:t> </a:t>
            </a:r>
            <a:r>
              <a:rPr lang="ru-RU" sz="1400" dirty="0" err="1"/>
              <a:t>abstract</a:t>
            </a:r>
            <a:r>
              <a:rPr lang="ru-RU" sz="1400" dirty="0"/>
              <a:t> </a:t>
            </a:r>
            <a:r>
              <a:rPr lang="ru-RU" sz="1400" dirty="0" err="1"/>
              <a:t>class</a:t>
            </a:r>
            <a:r>
              <a:rPr lang="ru-RU" sz="1400" dirty="0"/>
              <a:t> </a:t>
            </a:r>
            <a:r>
              <a:rPr lang="ru-RU" sz="1400" dirty="0" err="1"/>
              <a:t>Transaction</a:t>
            </a:r>
            <a:r>
              <a:rPr lang="ru-RU" sz="1400" dirty="0"/>
              <a:t> </a:t>
            </a:r>
            <a:r>
              <a:rPr lang="ru-RU" sz="1400" dirty="0" err="1"/>
              <a:t>implements</a:t>
            </a:r>
            <a:r>
              <a:rPr lang="ru-RU" sz="1400" dirty="0"/>
              <a:t> Command {</a:t>
            </a:r>
          </a:p>
          <a:p>
            <a:r>
              <a:rPr lang="ru-RU" sz="1400" dirty="0"/>
              <a:t>    </a:t>
            </a:r>
            <a:r>
              <a:rPr lang="ru-RU" sz="1400" dirty="0" err="1"/>
              <a:t>public</a:t>
            </a:r>
            <a:r>
              <a:rPr lang="ru-RU" sz="1400" dirty="0"/>
              <a:t> </a:t>
            </a:r>
            <a:r>
              <a:rPr lang="ru-RU" sz="1400" dirty="0" err="1"/>
              <a:t>abstract</a:t>
            </a:r>
            <a:r>
              <a:rPr lang="ru-RU" sz="1400" dirty="0"/>
              <a:t> </a:t>
            </a:r>
            <a:r>
              <a:rPr lang="ru-RU" sz="1400" dirty="0" err="1"/>
              <a:t>boolean</a:t>
            </a:r>
            <a:r>
              <a:rPr lang="ru-RU" sz="1400" dirty="0"/>
              <a:t> </a:t>
            </a:r>
            <a:r>
              <a:rPr lang="ru-RU" sz="1400" dirty="0" err="1"/>
              <a:t>validate</a:t>
            </a:r>
            <a:r>
              <a:rPr lang="ru-RU" sz="1400" dirty="0"/>
              <a:t>();</a:t>
            </a:r>
          </a:p>
          <a:p>
            <a:r>
              <a:rPr lang="ru-RU" sz="1400" dirty="0"/>
              <a:t>    @</a:t>
            </a:r>
            <a:r>
              <a:rPr lang="ru-RU" sz="1400" dirty="0" err="1"/>
              <a:t>Override</a:t>
            </a:r>
            <a:r>
              <a:rPr lang="ru-RU" sz="1400" dirty="0"/>
              <a:t> </a:t>
            </a:r>
            <a:r>
              <a:rPr lang="ru-RU" sz="1400" dirty="0" err="1"/>
              <a:t>public</a:t>
            </a:r>
            <a:r>
              <a:rPr lang="ru-RU" sz="1400" dirty="0"/>
              <a:t> </a:t>
            </a:r>
            <a:r>
              <a:rPr lang="ru-RU" sz="1400" dirty="0" err="1"/>
              <a:t>abstract</a:t>
            </a:r>
            <a:r>
              <a:rPr lang="ru-RU" sz="1400" dirty="0"/>
              <a:t> </a:t>
            </a:r>
            <a:r>
              <a:rPr lang="ru-RU" sz="1400" dirty="0" err="1"/>
              <a:t>void</a:t>
            </a:r>
            <a:r>
              <a:rPr lang="ru-RU" sz="1400" dirty="0"/>
              <a:t> </a:t>
            </a:r>
            <a:r>
              <a:rPr lang="ru-RU" sz="1400" dirty="0" err="1"/>
              <a:t>execute</a:t>
            </a:r>
            <a:r>
              <a:rPr lang="ru-RU" sz="1400" dirty="0"/>
              <a:t>();</a:t>
            </a:r>
          </a:p>
          <a:p>
            <a:r>
              <a:rPr lang="ru-RU" sz="1400" dirty="0"/>
              <a:t>    @</a:t>
            </a:r>
            <a:r>
              <a:rPr lang="ru-RU" sz="1400" dirty="0" err="1"/>
              <a:t>Override</a:t>
            </a:r>
            <a:r>
              <a:rPr lang="ru-RU" sz="1400" dirty="0"/>
              <a:t> </a:t>
            </a:r>
            <a:r>
              <a:rPr lang="ru-RU" sz="1400" dirty="0" err="1"/>
              <a:t>public</a:t>
            </a:r>
            <a:r>
              <a:rPr lang="ru-RU" sz="1400" dirty="0"/>
              <a:t> </a:t>
            </a:r>
            <a:r>
              <a:rPr lang="ru-RU" sz="1400" dirty="0" err="1"/>
              <a:t>abstract</a:t>
            </a:r>
            <a:r>
              <a:rPr lang="ru-RU" sz="1400" dirty="0"/>
              <a:t> </a:t>
            </a:r>
            <a:r>
              <a:rPr lang="ru-RU" sz="1400" dirty="0" err="1"/>
              <a:t>void</a:t>
            </a:r>
            <a:r>
              <a:rPr lang="ru-RU" sz="1400" dirty="0"/>
              <a:t> </a:t>
            </a:r>
            <a:r>
              <a:rPr lang="ru-RU" sz="1400" dirty="0" err="1"/>
              <a:t>rollback</a:t>
            </a:r>
            <a:r>
              <a:rPr lang="ru-RU" sz="1400" dirty="0"/>
              <a:t>();</a:t>
            </a:r>
          </a:p>
          <a:p>
            <a:r>
              <a:rPr lang="ru-RU" sz="1400" dirty="0"/>
              <a:t>}</a:t>
            </a:r>
          </a:p>
          <a:p>
            <a:r>
              <a:rPr lang="ru-RU" sz="1400" dirty="0"/>
              <a:t>// </a:t>
            </a:r>
            <a:r>
              <a:rPr lang="ru-RU" sz="1400" dirty="0" err="1"/>
              <a:t>TransferTransaction</a:t>
            </a:r>
            <a:r>
              <a:rPr lang="ru-RU" sz="1400" dirty="0"/>
              <a:t> — симметричные </a:t>
            </a:r>
            <a:r>
              <a:rPr lang="ru-RU" sz="1400" dirty="0" err="1"/>
              <a:t>execute</a:t>
            </a:r>
            <a:r>
              <a:rPr lang="ru-RU" sz="1400" dirty="0"/>
              <a:t> / </a:t>
            </a:r>
            <a:r>
              <a:rPr lang="ru-RU" sz="1400" dirty="0" err="1"/>
              <a:t>rollback</a:t>
            </a:r>
            <a:endParaRPr lang="ru-RU" sz="1400" dirty="0"/>
          </a:p>
          <a:p>
            <a:r>
              <a:rPr lang="ru-RU" sz="1400" dirty="0"/>
              <a:t>@</a:t>
            </a:r>
            <a:r>
              <a:rPr lang="ru-RU" sz="1400" dirty="0" err="1"/>
              <a:t>Override</a:t>
            </a:r>
            <a:endParaRPr lang="ru-RU" sz="1400" dirty="0"/>
          </a:p>
          <a:p>
            <a:r>
              <a:rPr lang="ru-RU" sz="1400" dirty="0" err="1"/>
              <a:t>public</a:t>
            </a:r>
            <a:r>
              <a:rPr lang="ru-RU" sz="1400" dirty="0"/>
              <a:t> </a:t>
            </a:r>
            <a:r>
              <a:rPr lang="ru-RU" sz="1400" dirty="0" err="1"/>
              <a:t>void</a:t>
            </a:r>
            <a:r>
              <a:rPr lang="ru-RU" sz="1400" dirty="0"/>
              <a:t> </a:t>
            </a:r>
            <a:r>
              <a:rPr lang="ru-RU" sz="1400" dirty="0" err="1"/>
              <a:t>execute</a:t>
            </a:r>
            <a:r>
              <a:rPr lang="ru-RU" sz="1400" dirty="0"/>
              <a:t>() {</a:t>
            </a:r>
          </a:p>
          <a:p>
            <a:r>
              <a:rPr lang="ru-RU" sz="1400" dirty="0"/>
              <a:t>    </a:t>
            </a:r>
            <a:r>
              <a:rPr lang="ru-RU" sz="1400" dirty="0" err="1"/>
              <a:t>if</a:t>
            </a:r>
            <a:r>
              <a:rPr lang="ru-RU" sz="1400" dirty="0"/>
              <a:t> (!</a:t>
            </a:r>
            <a:r>
              <a:rPr lang="ru-RU" sz="1400" dirty="0" err="1"/>
              <a:t>validate</a:t>
            </a:r>
            <a:r>
              <a:rPr lang="ru-RU" sz="1400" dirty="0"/>
              <a:t>()) { </a:t>
            </a:r>
            <a:r>
              <a:rPr lang="ru-RU" sz="1400" dirty="0" err="1"/>
              <a:t>markFailed</a:t>
            </a:r>
            <a:r>
              <a:rPr lang="ru-RU" sz="1400" dirty="0"/>
              <a:t>(); </a:t>
            </a:r>
            <a:r>
              <a:rPr lang="ru-RU" sz="1400" dirty="0" err="1"/>
              <a:t>throw</a:t>
            </a:r>
            <a:r>
              <a:rPr lang="ru-RU" sz="1400" dirty="0"/>
              <a:t> </a:t>
            </a:r>
            <a:r>
              <a:rPr lang="ru-RU" sz="1400" dirty="0" err="1"/>
              <a:t>new</a:t>
            </a:r>
            <a:r>
              <a:rPr lang="ru-RU" sz="1400" dirty="0"/>
              <a:t> </a:t>
            </a:r>
            <a:r>
              <a:rPr lang="ru-RU" sz="1400" dirty="0" err="1"/>
              <a:t>IllegalStateException</a:t>
            </a:r>
            <a:r>
              <a:rPr lang="ru-RU" sz="1400" dirty="0"/>
              <a:t>("..."); }</a:t>
            </a:r>
          </a:p>
          <a:p>
            <a:r>
              <a:rPr lang="ru-RU" sz="1400" dirty="0"/>
              <a:t>    </a:t>
            </a:r>
            <a:r>
              <a:rPr lang="ru-RU" sz="1400" dirty="0" err="1"/>
              <a:t>fromAccount.withdraw</a:t>
            </a:r>
            <a:r>
              <a:rPr lang="ru-RU" sz="1400" dirty="0"/>
              <a:t>(</a:t>
            </a:r>
            <a:r>
              <a:rPr lang="ru-RU" sz="1400" dirty="0" err="1"/>
              <a:t>getAmount</a:t>
            </a:r>
            <a:r>
              <a:rPr lang="ru-RU" sz="1400" dirty="0"/>
              <a:t>());</a:t>
            </a:r>
          </a:p>
          <a:p>
            <a:r>
              <a:rPr lang="ru-RU" sz="1400" dirty="0"/>
              <a:t>    </a:t>
            </a:r>
            <a:r>
              <a:rPr lang="ru-RU" sz="1400" dirty="0" err="1"/>
              <a:t>toAccount.deposit</a:t>
            </a:r>
            <a:r>
              <a:rPr lang="ru-RU" sz="1400" dirty="0"/>
              <a:t>(</a:t>
            </a:r>
            <a:r>
              <a:rPr lang="ru-RU" sz="1400" dirty="0" err="1"/>
              <a:t>getAmount</a:t>
            </a:r>
            <a:r>
              <a:rPr lang="ru-RU" sz="1400" dirty="0"/>
              <a:t>());</a:t>
            </a:r>
          </a:p>
          <a:p>
            <a:r>
              <a:rPr lang="ru-RU" sz="1400" dirty="0"/>
              <a:t>    </a:t>
            </a:r>
            <a:r>
              <a:rPr lang="ru-RU" sz="1400" dirty="0" err="1"/>
              <a:t>markCompleted</a:t>
            </a:r>
            <a:r>
              <a:rPr lang="ru-RU" sz="1400" dirty="0"/>
              <a:t>();</a:t>
            </a:r>
          </a:p>
          <a:p>
            <a:r>
              <a:rPr lang="ru-RU" sz="1400" dirty="0"/>
              <a:t>}</a:t>
            </a:r>
          </a:p>
          <a:p>
            <a:r>
              <a:rPr lang="ru-RU" sz="1400" dirty="0"/>
              <a:t>@</a:t>
            </a:r>
            <a:r>
              <a:rPr lang="ru-RU" sz="1400" dirty="0" err="1"/>
              <a:t>Override</a:t>
            </a:r>
            <a:endParaRPr lang="ru-RU" sz="1400" dirty="0"/>
          </a:p>
          <a:p>
            <a:r>
              <a:rPr lang="ru-RU" sz="1400" dirty="0" err="1"/>
              <a:t>public</a:t>
            </a:r>
            <a:r>
              <a:rPr lang="ru-RU" sz="1400" dirty="0"/>
              <a:t> </a:t>
            </a:r>
            <a:r>
              <a:rPr lang="ru-RU" sz="1400" dirty="0" err="1"/>
              <a:t>void</a:t>
            </a:r>
            <a:r>
              <a:rPr lang="ru-RU" sz="1400" dirty="0"/>
              <a:t> </a:t>
            </a:r>
            <a:r>
              <a:rPr lang="ru-RU" sz="1400" dirty="0" err="1"/>
              <a:t>rollback</a:t>
            </a:r>
            <a:r>
              <a:rPr lang="ru-RU" sz="1400" dirty="0"/>
              <a:t>() {</a:t>
            </a:r>
          </a:p>
          <a:p>
            <a:r>
              <a:rPr lang="ru-RU" sz="1400" dirty="0"/>
              <a:t>    </a:t>
            </a:r>
            <a:r>
              <a:rPr lang="ru-RU" sz="1400" dirty="0" err="1"/>
              <a:t>toAccount.rollbackDeposit</a:t>
            </a:r>
            <a:r>
              <a:rPr lang="ru-RU" sz="1400" dirty="0"/>
              <a:t>(</a:t>
            </a:r>
            <a:r>
              <a:rPr lang="ru-RU" sz="1400" dirty="0" err="1"/>
              <a:t>getAmount</a:t>
            </a:r>
            <a:r>
              <a:rPr lang="ru-RU" sz="1400" dirty="0"/>
              <a:t>());</a:t>
            </a:r>
          </a:p>
          <a:p>
            <a:r>
              <a:rPr lang="ru-RU" sz="1400" dirty="0"/>
              <a:t>    </a:t>
            </a:r>
            <a:r>
              <a:rPr lang="ru-RU" sz="1400" dirty="0" err="1"/>
              <a:t>fromAccount.rollbackWithdraw</a:t>
            </a:r>
            <a:r>
              <a:rPr lang="ru-RU" sz="1400" dirty="0"/>
              <a:t>(</a:t>
            </a:r>
            <a:r>
              <a:rPr lang="ru-RU" sz="1400" dirty="0" err="1"/>
              <a:t>getAmount</a:t>
            </a:r>
            <a:r>
              <a:rPr lang="ru-RU" sz="1400" dirty="0"/>
              <a:t>());</a:t>
            </a:r>
          </a:p>
          <a:p>
            <a:r>
              <a:rPr lang="ru-RU" sz="1400" dirty="0"/>
              <a:t>    </a:t>
            </a:r>
            <a:r>
              <a:rPr lang="ru-RU" sz="1400" dirty="0" err="1"/>
              <a:t>markFailed</a:t>
            </a:r>
            <a:r>
              <a:rPr lang="ru-RU" sz="1400" dirty="0"/>
              <a:t>();</a:t>
            </a:r>
          </a:p>
          <a:p>
            <a:r>
              <a:rPr lang="ru-RU" sz="1400" dirty="0"/>
              <a:t>}</a:t>
            </a:r>
          </a:p>
          <a:p>
            <a:endParaRPr lang="ru-RU" sz="20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78BD8F-A5C4-7D0E-CEBC-5C0112639DC8}"/>
              </a:ext>
            </a:extLst>
          </p:cNvPr>
          <p:cNvSpPr txBox="1"/>
          <p:nvPr/>
        </p:nvSpPr>
        <p:spPr>
          <a:xfrm>
            <a:off x="7105340" y="1143586"/>
            <a:ext cx="4601978" cy="5632311"/>
          </a:xfrm>
          <a:prstGeom prst="rect">
            <a:avLst/>
          </a:prstGeom>
          <a:noFill/>
          <a:ln w="19050">
            <a:solidFill>
              <a:srgbClr val="01BBEE"/>
            </a:solidFill>
          </a:ln>
        </p:spPr>
        <p:txBody>
          <a:bodyPr wrap="square" rtlCol="0">
            <a:spAutoFit/>
          </a:bodyPr>
          <a:lstStyle/>
          <a:p>
            <a:r>
              <a:rPr lang="ru-RU" b="1" dirty="0"/>
              <a:t>Зачем нужен:</a:t>
            </a:r>
            <a:r>
              <a:rPr lang="ru-RU" dirty="0"/>
              <a:t> Банковская операция — это действие, которое нужно выполнить, при сбое откатить и записать в журнал. Без Command для каждого типа операции пришлось бы писать отдельную процедуру и руками повторять цикл «проверь → выполни → если упало, отмени → сохрани».</a:t>
            </a:r>
          </a:p>
          <a:p>
            <a:endParaRPr lang="ru-RU" dirty="0"/>
          </a:p>
          <a:p>
            <a:r>
              <a:rPr lang="ru-RU" b="1" dirty="0"/>
              <a:t>Что упростил: </a:t>
            </a:r>
            <a:r>
              <a:rPr lang="ru-RU" dirty="0"/>
              <a:t>общая абстракция: </a:t>
            </a:r>
            <a:r>
              <a:rPr lang="ru-RU" dirty="0" err="1"/>
              <a:t>BankService</a:t>
            </a:r>
            <a:r>
              <a:rPr lang="ru-RU" dirty="0"/>
              <a:t> работает с любой операцией одинаково — </a:t>
            </a:r>
            <a:r>
              <a:rPr lang="ru-RU" dirty="0" err="1"/>
              <a:t>tx.execute</a:t>
            </a:r>
            <a:r>
              <a:rPr lang="ru-RU" dirty="0"/>
              <a:t>() + </a:t>
            </a:r>
            <a:r>
              <a:rPr lang="ru-RU" dirty="0" err="1"/>
              <a:t>transactionRepository.save</a:t>
            </a:r>
            <a:r>
              <a:rPr lang="ru-RU" dirty="0"/>
              <a:t>(</a:t>
            </a:r>
            <a:r>
              <a:rPr lang="ru-RU" dirty="0" err="1"/>
              <a:t>tx</a:t>
            </a:r>
            <a:r>
              <a:rPr lang="ru-RU" dirty="0"/>
              <a:t>);</a:t>
            </a:r>
          </a:p>
          <a:p>
            <a:r>
              <a:rPr lang="ru-RU" dirty="0"/>
              <a:t>симметричный </a:t>
            </a:r>
            <a:r>
              <a:rPr lang="ru-RU" dirty="0" err="1"/>
              <a:t>rollback</a:t>
            </a:r>
            <a:r>
              <a:rPr lang="ru-RU" dirty="0"/>
              <a:t> внутри самой команды — не нужен отдельный «менеджер откатов»; журнал операций единообразный — все четыре типа сохраняются и читаются через один </a:t>
            </a:r>
            <a:r>
              <a:rPr lang="ru-RU" dirty="0" err="1"/>
              <a:t>Transaction</a:t>
            </a:r>
            <a:r>
              <a:rPr lang="ru-RU" dirty="0"/>
              <a:t>; новая операция (например, автоплатёж) = новый наследник </a:t>
            </a:r>
            <a:r>
              <a:rPr lang="ru-RU" dirty="0" err="1"/>
              <a:t>Transaction</a:t>
            </a:r>
            <a:r>
              <a:rPr lang="ru-RU" dirty="0"/>
              <a:t>, остальной код работает без изменений.</a:t>
            </a:r>
          </a:p>
        </p:txBody>
      </p:sp>
    </p:spTree>
    <p:extLst>
      <p:ext uri="{BB962C8B-B14F-4D97-AF65-F5344CB8AC3E}">
        <p14:creationId xmlns:p14="http://schemas.microsoft.com/office/powerpoint/2010/main" val="24979607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3D2FA5-6CF1-6AF0-6E4B-C80BF8A18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– </a:t>
            </a:r>
            <a:r>
              <a:rPr lang="ru-RU" dirty="0"/>
              <a:t>тест (пример)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C0466F1-0E7D-A87A-A7B7-4BB59E6A72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3087" y="1103057"/>
            <a:ext cx="6090623" cy="2121796"/>
          </a:xfrm>
          <a:prstGeom prst="rect">
            <a:avLst/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D2DA3BE1-987F-6CF1-C7D5-EF588A867B75}"/>
              </a:ext>
            </a:extLst>
          </p:cNvPr>
          <p:cNvSpPr/>
          <p:nvPr/>
        </p:nvSpPr>
        <p:spPr>
          <a:xfrm>
            <a:off x="559572" y="3902971"/>
            <a:ext cx="10922894" cy="2165732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162BBC-CA2C-F8CC-5A49-28EA541A8A9D}"/>
              </a:ext>
            </a:extLst>
          </p:cNvPr>
          <p:cNvSpPr txBox="1"/>
          <p:nvPr/>
        </p:nvSpPr>
        <p:spPr>
          <a:xfrm>
            <a:off x="914400" y="3942413"/>
            <a:ext cx="10238282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Покрыто:</a:t>
            </a:r>
            <a:endParaRPr lang="ru-RU" sz="2000" dirty="0"/>
          </a:p>
          <a:p>
            <a:r>
              <a:rPr lang="ru-RU" sz="2000" dirty="0" err="1"/>
              <a:t>AccountTest</a:t>
            </a:r>
            <a:r>
              <a:rPr lang="ru-RU" sz="2000" dirty="0"/>
              <a:t> — </a:t>
            </a:r>
            <a:r>
              <a:rPr lang="ru-RU" sz="2000" dirty="0" err="1"/>
              <a:t>withdraw</a:t>
            </a:r>
            <a:r>
              <a:rPr lang="ru-RU" sz="2000" dirty="0"/>
              <a:t> при нехватке, </a:t>
            </a:r>
            <a:r>
              <a:rPr lang="ru-RU" sz="2000" dirty="0" err="1"/>
              <a:t>close</a:t>
            </a:r>
            <a:r>
              <a:rPr lang="ru-RU" sz="2000" dirty="0"/>
              <a:t> при ненулевом балансе, операции на FROZEN</a:t>
            </a:r>
          </a:p>
          <a:p>
            <a:r>
              <a:rPr lang="ru-RU" sz="2000" dirty="0" err="1"/>
              <a:t>CreditAccountTest</a:t>
            </a:r>
            <a:r>
              <a:rPr lang="ru-RU" sz="2000" dirty="0"/>
              <a:t> — снятие в долг, </a:t>
            </a:r>
            <a:r>
              <a:rPr lang="ru-RU" sz="2000" dirty="0" err="1"/>
              <a:t>repayDebt</a:t>
            </a:r>
            <a:r>
              <a:rPr lang="ru-RU" sz="2000" dirty="0"/>
              <a:t>, </a:t>
            </a:r>
            <a:r>
              <a:rPr lang="ru-RU" sz="2000" dirty="0" err="1"/>
              <a:t>rollback</a:t>
            </a:r>
            <a:endParaRPr lang="ru-RU" sz="2000" dirty="0"/>
          </a:p>
          <a:p>
            <a:r>
              <a:rPr lang="ru-RU" sz="2000" dirty="0" err="1"/>
              <a:t>SavingsAccountTest</a:t>
            </a:r>
            <a:r>
              <a:rPr lang="ru-RU" sz="2000" dirty="0"/>
              <a:t> — расчёт процентов, интервал 30 дней</a:t>
            </a:r>
          </a:p>
          <a:p>
            <a:r>
              <a:rPr lang="ru-RU" sz="2000" dirty="0" err="1"/>
              <a:t>TransferTransactionTest</a:t>
            </a:r>
            <a:r>
              <a:rPr lang="ru-RU" sz="2000" dirty="0"/>
              <a:t> — </a:t>
            </a:r>
            <a:r>
              <a:rPr lang="ru-RU" sz="2000" dirty="0" err="1"/>
              <a:t>same-account</a:t>
            </a:r>
            <a:r>
              <a:rPr lang="ru-RU" sz="2000" dirty="0"/>
              <a:t>, разные валюты, </a:t>
            </a:r>
            <a:r>
              <a:rPr lang="ru-RU" sz="2000" dirty="0" err="1"/>
              <a:t>rollback</a:t>
            </a:r>
            <a:endParaRPr lang="ru-RU" sz="2000" dirty="0"/>
          </a:p>
          <a:p>
            <a:r>
              <a:rPr lang="ru-RU" sz="2000" dirty="0" err="1"/>
              <a:t>AuthCredentialsValidatorTest</a:t>
            </a:r>
            <a:r>
              <a:rPr lang="ru-RU" sz="2000" dirty="0"/>
              <a:t> — нормализация телефона, длина пароля</a:t>
            </a:r>
          </a:p>
          <a:p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1798145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85F30F-C1D0-04D4-EA46-AC4C0F459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– </a:t>
            </a:r>
            <a:r>
              <a:rPr lang="ru-RU" dirty="0"/>
              <a:t>тест (пример)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F87D3E2-1BFC-C22A-6C1D-602615CA89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422" y="1060005"/>
            <a:ext cx="11595145" cy="3298934"/>
          </a:xfrm>
          <a:prstGeom prst="rect">
            <a:avLst/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A453A392-FC2A-FEF8-C323-11677EFD6084}"/>
              </a:ext>
            </a:extLst>
          </p:cNvPr>
          <p:cNvSpPr/>
          <p:nvPr/>
        </p:nvSpPr>
        <p:spPr>
          <a:xfrm>
            <a:off x="479547" y="4536624"/>
            <a:ext cx="11259020" cy="1962275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E90FA-B593-D039-A8BC-9592AC65DC4E}"/>
              </a:ext>
            </a:extLst>
          </p:cNvPr>
          <p:cNvSpPr txBox="1"/>
          <p:nvPr/>
        </p:nvSpPr>
        <p:spPr>
          <a:xfrm>
            <a:off x="688418" y="4734343"/>
            <a:ext cx="878214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/>
              <a:t>Покрыто:</a:t>
            </a:r>
            <a:endParaRPr lang="ru-RU" sz="2000" dirty="0"/>
          </a:p>
          <a:p>
            <a:r>
              <a:rPr lang="ru-RU" sz="2000" dirty="0" err="1"/>
              <a:t>BankServiceIT</a:t>
            </a:r>
            <a:r>
              <a:rPr lang="ru-RU" sz="2000" dirty="0"/>
              <a:t> — успешный перевод (оба счёта обновлены + запись в журнале)</a:t>
            </a:r>
          </a:p>
          <a:p>
            <a:r>
              <a:rPr lang="ru-RU" sz="2000" dirty="0" err="1"/>
              <a:t>BankServiceIT</a:t>
            </a:r>
            <a:r>
              <a:rPr lang="ru-RU" sz="2000" dirty="0"/>
              <a:t> — откат при ошибке (балансы не изменились, журнал пуст)</a:t>
            </a:r>
          </a:p>
          <a:p>
            <a:r>
              <a:rPr lang="ru-RU" sz="2000" dirty="0" err="1"/>
              <a:t>AuthFlowIT</a:t>
            </a:r>
            <a:r>
              <a:rPr lang="ru-RU" sz="2000" dirty="0"/>
              <a:t> — </a:t>
            </a:r>
            <a:r>
              <a:rPr lang="ru-RU" sz="2000" dirty="0" err="1"/>
              <a:t>register</a:t>
            </a:r>
            <a:r>
              <a:rPr lang="ru-RU" sz="2000" dirty="0"/>
              <a:t> → </a:t>
            </a:r>
            <a:r>
              <a:rPr lang="ru-RU" sz="2000" dirty="0" err="1"/>
              <a:t>login</a:t>
            </a:r>
            <a:r>
              <a:rPr lang="ru-RU" sz="2000" dirty="0"/>
              <a:t> → </a:t>
            </a:r>
            <a:r>
              <a:rPr lang="ru-RU" sz="2000" dirty="0" err="1"/>
              <a:t>dashboard</a:t>
            </a:r>
            <a:endParaRPr lang="ru-RU" sz="2000" dirty="0"/>
          </a:p>
          <a:p>
            <a:r>
              <a:rPr lang="ru-RU" sz="2000" dirty="0" err="1"/>
              <a:t>InterestAccrualIT</a:t>
            </a:r>
            <a:r>
              <a:rPr lang="ru-RU" sz="2000" dirty="0"/>
              <a:t> — повторное начисление в течение 30 дней блокируется</a:t>
            </a:r>
          </a:p>
          <a:p>
            <a:endParaRPr lang="ru-RU" sz="32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5744347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0A4B93-BB07-ED8D-7B4B-30B72C5AE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Функциональные – тесты (пример)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56E29217-9D49-EB55-7907-8976E763580D}"/>
              </a:ext>
            </a:extLst>
          </p:cNvPr>
          <p:cNvSpPr/>
          <p:nvPr/>
        </p:nvSpPr>
        <p:spPr>
          <a:xfrm>
            <a:off x="1683864" y="3605797"/>
            <a:ext cx="8824271" cy="2893102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C7ABCB-9065-30F5-40D3-FA940001E870}"/>
              </a:ext>
            </a:extLst>
          </p:cNvPr>
          <p:cNvSpPr txBox="1"/>
          <p:nvPr/>
        </p:nvSpPr>
        <p:spPr>
          <a:xfrm>
            <a:off x="2038692" y="3725719"/>
            <a:ext cx="917398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// Поднимаем реальный сервер на случайном порту</a:t>
            </a:r>
          </a:p>
          <a:p>
            <a:r>
              <a:rPr lang="ru-RU" dirty="0" err="1"/>
              <a:t>apiServer</a:t>
            </a:r>
            <a:r>
              <a:rPr lang="ru-RU" dirty="0"/>
              <a:t> = </a:t>
            </a:r>
            <a:r>
              <a:rPr lang="ru-RU" dirty="0" err="1"/>
              <a:t>new</a:t>
            </a:r>
            <a:r>
              <a:rPr lang="ru-RU" dirty="0"/>
              <a:t> </a:t>
            </a:r>
            <a:r>
              <a:rPr lang="ru-RU" dirty="0" err="1"/>
              <a:t>ApiServer</a:t>
            </a:r>
            <a:r>
              <a:rPr lang="ru-RU" dirty="0"/>
              <a:t>(</a:t>
            </a:r>
            <a:r>
              <a:rPr lang="ru-RU" dirty="0" err="1"/>
              <a:t>portalService</a:t>
            </a:r>
            <a:r>
              <a:rPr lang="ru-RU" dirty="0"/>
              <a:t>, </a:t>
            </a:r>
            <a:r>
              <a:rPr lang="ru-RU" dirty="0" err="1"/>
              <a:t>port</a:t>
            </a:r>
            <a:r>
              <a:rPr lang="ru-RU" dirty="0"/>
              <a:t>);</a:t>
            </a:r>
          </a:p>
          <a:p>
            <a:r>
              <a:rPr lang="ru-RU" dirty="0" err="1"/>
              <a:t>apiServer.start</a:t>
            </a:r>
            <a:r>
              <a:rPr lang="ru-RU" dirty="0"/>
              <a:t>();</a:t>
            </a:r>
          </a:p>
          <a:p>
            <a:r>
              <a:rPr lang="ru-RU" dirty="0"/>
              <a:t>// Делаем настоящий HTTP-запрос</a:t>
            </a:r>
          </a:p>
          <a:p>
            <a:r>
              <a:rPr lang="ru-RU" dirty="0" err="1"/>
              <a:t>var</a:t>
            </a:r>
            <a:r>
              <a:rPr lang="ru-RU" dirty="0"/>
              <a:t> </a:t>
            </a:r>
            <a:r>
              <a:rPr lang="ru-RU" dirty="0" err="1"/>
              <a:t>resp</a:t>
            </a:r>
            <a:r>
              <a:rPr lang="ru-RU" dirty="0"/>
              <a:t> = </a:t>
            </a:r>
            <a:r>
              <a:rPr lang="ru-RU" dirty="0" err="1"/>
              <a:t>post</a:t>
            </a:r>
            <a:r>
              <a:rPr lang="ru-RU" dirty="0"/>
              <a:t>("/</a:t>
            </a:r>
            <a:r>
              <a:rPr lang="ru-RU" dirty="0" err="1"/>
              <a:t>api</a:t>
            </a:r>
            <a:r>
              <a:rPr lang="ru-RU" dirty="0"/>
              <a:t>/</a:t>
            </a:r>
            <a:r>
              <a:rPr lang="ru-RU" dirty="0" err="1"/>
              <a:t>auth</a:t>
            </a:r>
            <a:r>
              <a:rPr lang="ru-RU" dirty="0"/>
              <a:t>/</a:t>
            </a:r>
            <a:r>
              <a:rPr lang="ru-RU" dirty="0" err="1"/>
              <a:t>register</a:t>
            </a:r>
            <a:r>
              <a:rPr lang="ru-RU" dirty="0"/>
              <a:t>",</a:t>
            </a:r>
          </a:p>
          <a:p>
            <a:r>
              <a:rPr lang="ru-RU" dirty="0"/>
              <a:t>    """{"</a:t>
            </a:r>
            <a:r>
              <a:rPr lang="ru-RU" dirty="0" err="1"/>
              <a:t>fullName</a:t>
            </a:r>
            <a:r>
              <a:rPr lang="ru-RU" dirty="0"/>
              <a:t>":"Иван Иванов","</a:t>
            </a:r>
            <a:r>
              <a:rPr lang="ru-RU" dirty="0" err="1"/>
              <a:t>phone</a:t>
            </a:r>
            <a:r>
              <a:rPr lang="ru-RU" dirty="0"/>
              <a:t>":"+79001234000","password":"pass123"}""");</a:t>
            </a:r>
          </a:p>
          <a:p>
            <a:r>
              <a:rPr lang="ru-RU" dirty="0"/>
              <a:t>// Проверяем как внешний клиент — статус + поля в JSON</a:t>
            </a:r>
          </a:p>
          <a:p>
            <a:r>
              <a:rPr lang="ru-RU" dirty="0" err="1"/>
              <a:t>assertEquals</a:t>
            </a:r>
            <a:r>
              <a:rPr lang="ru-RU" dirty="0"/>
              <a:t>(201, </a:t>
            </a:r>
            <a:r>
              <a:rPr lang="ru-RU" dirty="0" err="1"/>
              <a:t>resp.statusCode</a:t>
            </a:r>
            <a:r>
              <a:rPr lang="ru-RU" dirty="0"/>
              <a:t>());</a:t>
            </a:r>
          </a:p>
          <a:p>
            <a:r>
              <a:rPr lang="ru-RU" dirty="0" err="1"/>
              <a:t>assertTrue</a:t>
            </a:r>
            <a:r>
              <a:rPr lang="ru-RU" dirty="0"/>
              <a:t>(</a:t>
            </a:r>
            <a:r>
              <a:rPr lang="ru-RU" dirty="0" err="1"/>
              <a:t>contains</a:t>
            </a:r>
            <a:r>
              <a:rPr lang="ru-RU" dirty="0"/>
              <a:t>(</a:t>
            </a:r>
            <a:r>
              <a:rPr lang="ru-RU" dirty="0" err="1"/>
              <a:t>resp.body</a:t>
            </a:r>
            <a:r>
              <a:rPr lang="ru-RU" dirty="0"/>
              <a:t>(), "</a:t>
            </a:r>
            <a:r>
              <a:rPr lang="ru-RU" dirty="0" err="1"/>
              <a:t>customerId</a:t>
            </a:r>
            <a:r>
              <a:rPr lang="ru-RU" dirty="0"/>
              <a:t>"));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4156C09-5184-5442-8F70-18606498F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799" y="1153416"/>
            <a:ext cx="7772400" cy="2181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7385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E37919-F4D4-0CED-9C6F-30F51AE72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359101"/>
            <a:ext cx="9199890" cy="523220"/>
          </a:xfrm>
        </p:spPr>
        <p:txBody>
          <a:bodyPr/>
          <a:lstStyle/>
          <a:p>
            <a:r>
              <a:rPr lang="ru-RU" dirty="0"/>
              <a:t>Результаты тестов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3EEF2CC-2EF8-112C-38F7-516B44E22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572" y="2408662"/>
            <a:ext cx="10844159" cy="166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885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CC0FA1-ACF5-698C-447E-190779C85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 и результаты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A3F0714F-1A90-A64E-D218-AC38706BCC7B}"/>
              </a:ext>
            </a:extLst>
          </p:cNvPr>
          <p:cNvSpPr/>
          <p:nvPr/>
        </p:nvSpPr>
        <p:spPr>
          <a:xfrm>
            <a:off x="559572" y="1921700"/>
            <a:ext cx="5046571" cy="2689536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0D5098-CC95-DA42-2092-6C3824FFD35E}"/>
              </a:ext>
            </a:extLst>
          </p:cNvPr>
          <p:cNvSpPr txBox="1"/>
          <p:nvPr/>
        </p:nvSpPr>
        <p:spPr>
          <a:xfrm>
            <a:off x="752006" y="2261499"/>
            <a:ext cx="46617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b="1" dirty="0">
                <a:latin typeface="Montserrat" panose="00000500000000000000" pitchFamily="2" charset="-52"/>
              </a:rPr>
              <a:t>- Полная банковская система с 3 типами счетов</a:t>
            </a:r>
          </a:p>
          <a:p>
            <a:endParaRPr lang="ru-RU" sz="1200" b="1" dirty="0">
              <a:latin typeface="Montserrat" panose="00000500000000000000" pitchFamily="2" charset="-52"/>
            </a:endParaRPr>
          </a:p>
          <a:p>
            <a:r>
              <a:rPr lang="ru-RU" sz="1200" b="1" dirty="0">
                <a:latin typeface="Montserrat" panose="00000500000000000000" pitchFamily="2" charset="-52"/>
              </a:rPr>
              <a:t>- Регистрация, вход, история, переводы</a:t>
            </a:r>
          </a:p>
          <a:p>
            <a:endParaRPr lang="ru-RU" sz="1200" b="1" dirty="0">
              <a:latin typeface="Montserrat" panose="00000500000000000000" pitchFamily="2" charset="-52"/>
            </a:endParaRPr>
          </a:p>
          <a:p>
            <a:r>
              <a:rPr lang="ru-RU" sz="1200" b="1" dirty="0">
                <a:latin typeface="Montserrat" panose="00000500000000000000" pitchFamily="2" charset="-52"/>
              </a:rPr>
              <a:t>- Сохранение данных в </a:t>
            </a:r>
            <a:r>
              <a:rPr lang="en-US" sz="1200" b="1" dirty="0">
                <a:latin typeface="Montserrat" panose="00000500000000000000" pitchFamily="2" charset="-52"/>
              </a:rPr>
              <a:t>SQLite</a:t>
            </a:r>
          </a:p>
          <a:p>
            <a:endParaRPr lang="en-US" sz="1200" b="1" dirty="0">
              <a:latin typeface="Montserrat" panose="00000500000000000000" pitchFamily="2" charset="-52"/>
            </a:endParaRPr>
          </a:p>
          <a:p>
            <a:pPr marL="171450" indent="-171450">
              <a:buFontTx/>
              <a:buChar char="-"/>
            </a:pPr>
            <a:r>
              <a:rPr lang="en-US" sz="1200" b="1" dirty="0">
                <a:latin typeface="Montserrat" panose="00000500000000000000" pitchFamily="2" charset="-52"/>
              </a:rPr>
              <a:t>REST API</a:t>
            </a:r>
            <a:endParaRPr lang="ru-RU" sz="1200" b="1" dirty="0">
              <a:latin typeface="Montserrat" panose="00000500000000000000" pitchFamily="2" charset="-52"/>
            </a:endParaRPr>
          </a:p>
          <a:p>
            <a:pPr marL="171450" indent="-171450">
              <a:buFontTx/>
              <a:buChar char="-"/>
            </a:pPr>
            <a:endParaRPr lang="ru-RU" sz="1200" b="1" dirty="0">
              <a:latin typeface="Montserrat" panose="00000500000000000000" pitchFamily="2" charset="-52"/>
            </a:endParaRPr>
          </a:p>
          <a:p>
            <a:r>
              <a:rPr lang="en-US" sz="1200" b="1" dirty="0">
                <a:latin typeface="Montserrat" panose="00000500000000000000" pitchFamily="2" charset="-52"/>
              </a:rPr>
              <a:t>- </a:t>
            </a:r>
            <a:r>
              <a:rPr lang="ru-RU" sz="1200" b="1" dirty="0">
                <a:latin typeface="Montserrat" panose="00000500000000000000" pitchFamily="2" charset="-52"/>
              </a:rPr>
              <a:t>Веб-интерфейс на </a:t>
            </a:r>
            <a:r>
              <a:rPr lang="en-US" sz="1200" b="1" dirty="0">
                <a:latin typeface="Montserrat" panose="00000500000000000000" pitchFamily="2" charset="-52"/>
              </a:rPr>
              <a:t>React + TypeScript</a:t>
            </a:r>
          </a:p>
          <a:p>
            <a:pPr marL="171450" indent="-171450">
              <a:buFontTx/>
              <a:buChar char="-"/>
            </a:pPr>
            <a:endParaRPr lang="en-US" sz="1200" b="1" dirty="0">
              <a:latin typeface="Montserrat" panose="00000500000000000000" pitchFamily="2" charset="-52"/>
            </a:endParaRPr>
          </a:p>
          <a:p>
            <a:r>
              <a:rPr lang="en-US" sz="1200" b="1" dirty="0">
                <a:latin typeface="Montserrat" panose="00000500000000000000" pitchFamily="2" charset="-52"/>
              </a:rPr>
              <a:t>- </a:t>
            </a:r>
            <a:r>
              <a:rPr lang="ru-RU" sz="1200" b="1" dirty="0">
                <a:latin typeface="Montserrat" panose="00000500000000000000" pitchFamily="2" charset="-52"/>
              </a:rPr>
              <a:t>Развертывание через </a:t>
            </a:r>
            <a:r>
              <a:rPr lang="en-US" sz="1200" b="1" dirty="0">
                <a:latin typeface="Montserrat" panose="00000500000000000000" pitchFamily="2" charset="-52"/>
              </a:rPr>
              <a:t>Docker Compose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156A64-2C55-D4F5-4272-365C13FD2065}"/>
              </a:ext>
            </a:extLst>
          </p:cNvPr>
          <p:cNvSpPr txBox="1"/>
          <p:nvPr/>
        </p:nvSpPr>
        <p:spPr>
          <a:xfrm>
            <a:off x="1777017" y="1371855"/>
            <a:ext cx="2611679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Что реализовано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C61E2E37-7C2E-2AAF-08F5-FED9891FC1FE}"/>
              </a:ext>
            </a:extLst>
          </p:cNvPr>
          <p:cNvSpPr/>
          <p:nvPr/>
        </p:nvSpPr>
        <p:spPr>
          <a:xfrm>
            <a:off x="5930338" y="1921700"/>
            <a:ext cx="5046571" cy="908586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BF2492-5135-703D-63B5-C1A2BDD0508E}"/>
              </a:ext>
            </a:extLst>
          </p:cNvPr>
          <p:cNvSpPr txBox="1"/>
          <p:nvPr/>
        </p:nvSpPr>
        <p:spPr>
          <a:xfrm>
            <a:off x="6122772" y="2030666"/>
            <a:ext cx="4661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b="1" dirty="0">
                <a:latin typeface="Montserrat" panose="00000500000000000000" pitchFamily="2" charset="-52"/>
              </a:rPr>
              <a:t>- Все 5 принципов </a:t>
            </a:r>
            <a:r>
              <a:rPr lang="en" sz="1200" b="1" dirty="0">
                <a:latin typeface="Montserrat" panose="00000500000000000000" pitchFamily="2" charset="-52"/>
              </a:rPr>
              <a:t>SOLID </a:t>
            </a:r>
            <a:r>
              <a:rPr lang="ru-RU" sz="1200" b="1" dirty="0">
                <a:latin typeface="Montserrat" panose="00000500000000000000" pitchFamily="2" charset="-52"/>
              </a:rPr>
              <a:t>в конкретном коде</a:t>
            </a:r>
          </a:p>
          <a:p>
            <a:endParaRPr lang="ru-RU" sz="1200" b="1" dirty="0">
              <a:latin typeface="Montserrat" panose="00000500000000000000" pitchFamily="2" charset="-52"/>
            </a:endParaRPr>
          </a:p>
          <a:p>
            <a:r>
              <a:rPr lang="ru-RU" sz="1200" b="1" dirty="0">
                <a:latin typeface="Montserrat" panose="00000500000000000000" pitchFamily="2" charset="-52"/>
              </a:rPr>
              <a:t>- 3 паттерна: </a:t>
            </a:r>
            <a:r>
              <a:rPr lang="en" sz="1200" b="1" dirty="0">
                <a:latin typeface="Montserrat" panose="00000500000000000000" pitchFamily="2" charset="-52"/>
              </a:rPr>
              <a:t>Facade, Factory Method, Command</a:t>
            </a:r>
            <a:endParaRPr lang="en-US" sz="1200" b="1" dirty="0">
              <a:latin typeface="Montserrat" panose="00000500000000000000" pitchFamily="2" charset="-5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07497E-2DB2-B738-8BDA-A3509FB06392}"/>
              </a:ext>
            </a:extLst>
          </p:cNvPr>
          <p:cNvSpPr txBox="1"/>
          <p:nvPr/>
        </p:nvSpPr>
        <p:spPr>
          <a:xfrm>
            <a:off x="7147783" y="1371855"/>
            <a:ext cx="2611679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Принципы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D3778A10-9AAC-A5D0-268F-BE1AA36BBE22}"/>
              </a:ext>
            </a:extLst>
          </p:cNvPr>
          <p:cNvSpPr/>
          <p:nvPr/>
        </p:nvSpPr>
        <p:spPr>
          <a:xfrm>
            <a:off x="5930338" y="3529865"/>
            <a:ext cx="5046571" cy="1081371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2A4B7E-DE0F-B9BA-85DA-829DB926B3D8}"/>
              </a:ext>
            </a:extLst>
          </p:cNvPr>
          <p:cNvSpPr txBox="1"/>
          <p:nvPr/>
        </p:nvSpPr>
        <p:spPr>
          <a:xfrm>
            <a:off x="7147783" y="2980021"/>
            <a:ext cx="2611679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Архитектура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474A8D-FEC6-8FDC-B8ED-B8B3F0C133DB}"/>
              </a:ext>
            </a:extLst>
          </p:cNvPr>
          <p:cNvSpPr txBox="1"/>
          <p:nvPr/>
        </p:nvSpPr>
        <p:spPr>
          <a:xfrm>
            <a:off x="6122772" y="3595574"/>
            <a:ext cx="4661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b="1" dirty="0">
                <a:latin typeface="Montserrat" panose="00000500000000000000" pitchFamily="2" charset="-52"/>
              </a:rPr>
              <a:t>- 4 слоя с четкими границами ответственности</a:t>
            </a:r>
          </a:p>
          <a:p>
            <a:endParaRPr lang="ru-RU" sz="1200" b="1" dirty="0">
              <a:latin typeface="Montserrat" panose="00000500000000000000" pitchFamily="2" charset="-52"/>
            </a:endParaRPr>
          </a:p>
          <a:p>
            <a:r>
              <a:rPr lang="ru-RU" sz="1200" b="1" dirty="0">
                <a:latin typeface="Montserrat" panose="00000500000000000000" pitchFamily="2" charset="-52"/>
              </a:rPr>
              <a:t>- </a:t>
            </a:r>
            <a:r>
              <a:rPr lang="en" sz="1200" b="1" dirty="0">
                <a:latin typeface="Montserrat" panose="00000500000000000000" pitchFamily="2" charset="-52"/>
              </a:rPr>
              <a:t>Domain </a:t>
            </a:r>
            <a:r>
              <a:rPr lang="ru-RU" sz="1200" b="1" dirty="0">
                <a:latin typeface="Montserrat" panose="00000500000000000000" pitchFamily="2" charset="-52"/>
              </a:rPr>
              <a:t>не зависит от </a:t>
            </a:r>
            <a:r>
              <a:rPr lang="en" sz="1200" b="1" dirty="0">
                <a:latin typeface="Montserrat" panose="00000500000000000000" pitchFamily="2" charset="-52"/>
              </a:rPr>
              <a:t>SQL</a:t>
            </a:r>
          </a:p>
          <a:p>
            <a:endParaRPr lang="en" sz="1200" b="1" dirty="0">
              <a:latin typeface="Montserrat" panose="00000500000000000000" pitchFamily="2" charset="-52"/>
            </a:endParaRPr>
          </a:p>
          <a:p>
            <a:r>
              <a:rPr lang="en" sz="1200" b="1" dirty="0">
                <a:latin typeface="Montserrat" panose="00000500000000000000" pitchFamily="2" charset="-52"/>
              </a:rPr>
              <a:t>- Application </a:t>
            </a:r>
            <a:r>
              <a:rPr lang="ru-RU" sz="1200" b="1" dirty="0">
                <a:latin typeface="Montserrat" panose="00000500000000000000" pitchFamily="2" charset="-52"/>
              </a:rPr>
              <a:t>не зависит от </a:t>
            </a:r>
            <a:r>
              <a:rPr lang="en" sz="1200" b="1" dirty="0">
                <a:latin typeface="Montserrat" panose="00000500000000000000" pitchFamily="2" charset="-52"/>
              </a:rPr>
              <a:t>HTTP </a:t>
            </a:r>
            <a:r>
              <a:rPr lang="ru-RU" sz="1200" b="1" dirty="0">
                <a:latin typeface="Montserrat" panose="00000500000000000000" pitchFamily="2" charset="-52"/>
              </a:rPr>
              <a:t>или </a:t>
            </a:r>
            <a:r>
              <a:rPr lang="en" sz="1200" b="1" dirty="0">
                <a:latin typeface="Montserrat" panose="00000500000000000000" pitchFamily="2" charset="-52"/>
              </a:rPr>
              <a:t>JDBC</a:t>
            </a:r>
            <a:endParaRPr lang="en-US" sz="1200" b="1" dirty="0">
              <a:latin typeface="Montserrat" panose="00000500000000000000" pitchFamily="2" charset="-52"/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35A1E173-4B65-3515-501B-A5E9057FE3C4}"/>
              </a:ext>
            </a:extLst>
          </p:cNvPr>
          <p:cNvSpPr/>
          <p:nvPr/>
        </p:nvSpPr>
        <p:spPr>
          <a:xfrm>
            <a:off x="559572" y="5317956"/>
            <a:ext cx="10417337" cy="1180943"/>
          </a:xfrm>
          <a:prstGeom prst="roundRect">
            <a:avLst/>
          </a:prstGeom>
          <a:noFill/>
          <a:ln w="38100">
            <a:solidFill>
              <a:srgbClr val="01BB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D346B6-3834-016F-357E-023C36DDB8BE}"/>
              </a:ext>
            </a:extLst>
          </p:cNvPr>
          <p:cNvSpPr txBox="1"/>
          <p:nvPr/>
        </p:nvSpPr>
        <p:spPr>
          <a:xfrm>
            <a:off x="752007" y="5426923"/>
            <a:ext cx="100324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dirty="0"/>
              <a:t>Банковская система — сложная предметная область. Но правильная архитектура делает её управляемой: каждый класс знает своё место, каждое решение продиктовано принципом, каждое расширение добавляется без правки существующего кода.</a:t>
            </a:r>
            <a:endParaRPr lang="ru-RU" dirty="0"/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5DDCD7-592F-8F94-8D0B-A02D7926A538}"/>
              </a:ext>
            </a:extLst>
          </p:cNvPr>
          <p:cNvSpPr txBox="1"/>
          <p:nvPr/>
        </p:nvSpPr>
        <p:spPr>
          <a:xfrm>
            <a:off x="4388696" y="4768112"/>
            <a:ext cx="2611679" cy="400110"/>
          </a:xfrm>
          <a:prstGeom prst="rect">
            <a:avLst/>
          </a:prstGeom>
          <a:solidFill>
            <a:srgbClr val="01BBEE"/>
          </a:solidFill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/>
                </a:solidFill>
                <a:latin typeface="Montserrat" panose="00000500000000000000" pitchFamily="2" charset="-52"/>
              </a:rPr>
              <a:t>Вывод</a:t>
            </a:r>
            <a:endParaRPr lang="ru-RU" sz="2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991728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0626791A-29D2-474E-D071-8814FA3255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4" y="3105834"/>
            <a:ext cx="7255749" cy="1754326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058944537"/>
      </p:ext>
    </p:extLst>
  </p:cSld>
  <p:clrMapOvr>
    <a:masterClrMapping/>
  </p:clrMapOvr>
</p:sld>
</file>

<file path=ppt/theme/theme1.xml><?xml version="1.0" encoding="utf-8"?>
<a:theme xmlns:a="http://schemas.openxmlformats.org/drawingml/2006/main" name="Шаблон МИФИ">
  <a:themeElements>
    <a:clrScheme name="Другая 7">
      <a:dk1>
        <a:srgbClr val="171616"/>
      </a:dk1>
      <a:lt1>
        <a:srgbClr val="FFFFFF"/>
      </a:lt1>
      <a:dk2>
        <a:srgbClr val="0055BB"/>
      </a:dk2>
      <a:lt2>
        <a:srgbClr val="E2E2E2"/>
      </a:lt2>
      <a:accent1>
        <a:srgbClr val="0055BB"/>
      </a:accent1>
      <a:accent2>
        <a:srgbClr val="00BBEE"/>
      </a:accent2>
      <a:accent3>
        <a:srgbClr val="FF5000"/>
      </a:accent3>
      <a:accent4>
        <a:srgbClr val="00B050"/>
      </a:accent4>
      <a:accent5>
        <a:srgbClr val="00FFCC"/>
      </a:accent5>
      <a:accent6>
        <a:srgbClr val="FF66CC"/>
      </a:accent6>
      <a:hlink>
        <a:srgbClr val="00BBEE"/>
      </a:hlink>
      <a:folHlink>
        <a:srgbClr val="FFAE89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2800" b="1" dirty="0" smtClean="0">
            <a:solidFill>
              <a:schemeClr val="bg1"/>
            </a:solidFill>
            <a:latin typeface="Montserrat" panose="00000500000000000000" pitchFamily="2" charset="-5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</TotalTime>
  <Words>2290</Words>
  <Application>Microsoft Macintosh PowerPoint</Application>
  <PresentationFormat>Широкоэкранный</PresentationFormat>
  <Paragraphs>406</Paragraphs>
  <Slides>33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33</vt:i4>
      </vt:variant>
    </vt:vector>
  </HeadingPairs>
  <TitlesOfParts>
    <vt:vector size="37" baseType="lpstr">
      <vt:lpstr>Montserrat</vt:lpstr>
      <vt:lpstr>Arial</vt:lpstr>
      <vt:lpstr>Calibri</vt:lpstr>
      <vt:lpstr>Шаблон МИФИ</vt:lpstr>
      <vt:lpstr>Презентация PowerPoint</vt:lpstr>
      <vt:lpstr>Цели и задачи проекта</vt:lpstr>
      <vt:lpstr>Функциональность системы</vt:lpstr>
      <vt:lpstr>Сценарий использования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Технологический стек</vt:lpstr>
      <vt:lpstr>Архитектура: слои системы</vt:lpstr>
      <vt:lpstr>UML-диаграмма</vt:lpstr>
      <vt:lpstr>Бэкенд: REST API</vt:lpstr>
      <vt:lpstr>Бэкенд: жизненный цикл перевода</vt:lpstr>
      <vt:lpstr>Фронтенд: технологии и структура</vt:lpstr>
      <vt:lpstr>Контейнеризация: Docker</vt:lpstr>
      <vt:lpstr>SOLID: S — Single Responsibility</vt:lpstr>
      <vt:lpstr>SOLID: O — Open/Closed</vt:lpstr>
      <vt:lpstr>SOLID: L — Подстановка Лисков</vt:lpstr>
      <vt:lpstr>SOLID: I — Разделение интерфейсов</vt:lpstr>
      <vt:lpstr>SOLID: D — Инверсия зависимостей</vt:lpstr>
      <vt:lpstr>Паттерны: Facade</vt:lpstr>
      <vt:lpstr>Паттерны: Factory Method</vt:lpstr>
      <vt:lpstr>Паттерны: Command</vt:lpstr>
      <vt:lpstr>Unit – тест (пример)</vt:lpstr>
      <vt:lpstr>Integration – тест (пример)</vt:lpstr>
      <vt:lpstr>Функциональные – тесты (пример)</vt:lpstr>
      <vt:lpstr>Результаты тестов</vt:lpstr>
      <vt:lpstr>Итоги и результаты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Влад Замахаев</dc:creator>
  <cp:lastModifiedBy>Влад Сидоров</cp:lastModifiedBy>
  <cp:revision>63</cp:revision>
  <dcterms:created xsi:type="dcterms:W3CDTF">2020-05-28T16:18:16Z</dcterms:created>
  <dcterms:modified xsi:type="dcterms:W3CDTF">2026-05-25T22:10:21Z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